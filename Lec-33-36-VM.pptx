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33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00FF00"/>
    <a:srgbClr val="EA3F26"/>
    <a:srgbClr val="FCD5B5"/>
    <a:srgbClr val="8EB4E3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88284" autoAdjust="0"/>
  </p:normalViewPr>
  <p:slideViewPr>
    <p:cSldViewPr>
      <p:cViewPr varScale="1">
        <p:scale>
          <a:sx n="88" d="100"/>
          <a:sy n="88" d="100"/>
        </p:scale>
        <p:origin x="100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4/15/2026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1" descr="Picture 7.png">
            <a:extLst>
              <a:ext uri="{FF2B5EF4-FFF2-40B4-BE49-F238E27FC236}">
                <a16:creationId xmlns:a16="http://schemas.microsoft.com/office/drawing/2014/main" id="{69F4A35B-A00F-8EED-48E9-204F141569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C9B9BC-953C-D5FF-84B2-8746933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814121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FCF747-434E-9F6C-30A6-9CFB599919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73151" y="781998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BC8947D-B27D-863E-0CE6-7D2DCA6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420597"/>
            <a:ext cx="2057400" cy="365125"/>
          </a:xfrm>
        </p:spPr>
        <p:txBody>
          <a:bodyPr/>
          <a:lstStyle/>
          <a:p>
            <a:fld id="{07E0464C-7207-4298-A27C-0CEAF85D3DD1}" type="datetime3">
              <a:rPr lang="en-US" smtClean="0"/>
              <a:t>15 April 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8284EFB-2AB5-88D2-5273-CFE54A24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0597"/>
            <a:ext cx="3086100" cy="365125"/>
          </a:xfrm>
        </p:spPr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081971-637C-596A-30C6-0FCC711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2025" y="6420597"/>
            <a:ext cx="2057400" cy="365125"/>
          </a:xfrm>
        </p:spPr>
        <p:txBody>
          <a:bodyPr/>
          <a:lstStyle/>
          <a:p>
            <a:fld id="{98AC3541-01C1-4CA5-B68F-FEE868C7D1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75F4B2-8EEA-F0D1-8F92-07F8868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6" y="136526"/>
            <a:ext cx="8972550" cy="54451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355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C9B9BC-953C-D5FF-84B2-8746933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814121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FCF747-434E-9F6C-30A6-9CFB599919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73151" y="781998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BC8947D-B27D-863E-0CE6-7D2DCA6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420597"/>
            <a:ext cx="2057400" cy="365125"/>
          </a:xfrm>
        </p:spPr>
        <p:txBody>
          <a:bodyPr/>
          <a:lstStyle/>
          <a:p>
            <a:fld id="{07E0464C-7207-4298-A27C-0CEAF85D3DD1}" type="datetime3">
              <a:rPr lang="en-US" smtClean="0"/>
              <a:t>15 April 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8284EFB-2AB5-88D2-5273-CFE54A24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0597"/>
            <a:ext cx="3086100" cy="365125"/>
          </a:xfrm>
        </p:spPr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081971-637C-596A-30C6-0FCC711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2025" y="6420597"/>
            <a:ext cx="2057400" cy="365125"/>
          </a:xfrm>
        </p:spPr>
        <p:txBody>
          <a:bodyPr/>
          <a:lstStyle/>
          <a:p>
            <a:fld id="{98AC3541-01C1-4CA5-B68F-FEE868C7D1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75F4B2-8EEA-F0D1-8F92-07F8868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6" y="136526"/>
            <a:ext cx="8972550" cy="54451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7554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C9B9BC-953C-D5FF-84B2-8746933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814121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FCF747-434E-9F6C-30A6-9CFB599919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73151" y="781998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BC8947D-B27D-863E-0CE6-7D2DCA6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420597"/>
            <a:ext cx="2057400" cy="365125"/>
          </a:xfrm>
        </p:spPr>
        <p:txBody>
          <a:bodyPr/>
          <a:lstStyle/>
          <a:p>
            <a:fld id="{07E0464C-7207-4298-A27C-0CEAF85D3DD1}" type="datetime3">
              <a:rPr lang="en-US" smtClean="0"/>
              <a:t>15 April 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8284EFB-2AB5-88D2-5273-CFE54A24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0597"/>
            <a:ext cx="3086100" cy="365125"/>
          </a:xfrm>
        </p:spPr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081971-637C-596A-30C6-0FCC711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2025" y="6420597"/>
            <a:ext cx="2057400" cy="365125"/>
          </a:xfrm>
        </p:spPr>
        <p:txBody>
          <a:bodyPr/>
          <a:lstStyle/>
          <a:p>
            <a:fld id="{98AC3541-01C1-4CA5-B68F-FEE868C7D1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75F4B2-8EEA-F0D1-8F92-07F8868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6" y="136526"/>
            <a:ext cx="8972550" cy="54451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3732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C9B9BC-953C-D5FF-84B2-8746933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814121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FCF747-434E-9F6C-30A6-9CFB599919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73151" y="781998"/>
            <a:ext cx="4393976" cy="547339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BC8947D-B27D-863E-0CE6-7D2DCA6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420597"/>
            <a:ext cx="2057400" cy="365125"/>
          </a:xfrm>
        </p:spPr>
        <p:txBody>
          <a:bodyPr/>
          <a:lstStyle/>
          <a:p>
            <a:fld id="{07E0464C-7207-4298-A27C-0CEAF85D3DD1}" type="datetime3">
              <a:rPr lang="en-US" smtClean="0"/>
              <a:t>15 April 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8284EFB-2AB5-88D2-5273-CFE54A24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20597"/>
            <a:ext cx="3086100" cy="365125"/>
          </a:xfrm>
        </p:spPr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081971-637C-596A-30C6-0FCC711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2025" y="6420597"/>
            <a:ext cx="2057400" cy="365125"/>
          </a:xfrm>
        </p:spPr>
        <p:txBody>
          <a:bodyPr/>
          <a:lstStyle/>
          <a:p>
            <a:fld id="{98AC3541-01C1-4CA5-B68F-FEE868C7D1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75F4B2-8EEA-F0D1-8F92-07F8868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76" y="136526"/>
            <a:ext cx="8972550" cy="54451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1673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44" r:id="rId2"/>
    <p:sldLayoutId id="2147484834" r:id="rId3"/>
    <p:sldLayoutId id="2147484835" r:id="rId4"/>
    <p:sldLayoutId id="2147484836" r:id="rId5"/>
    <p:sldLayoutId id="2147484837" r:id="rId6"/>
    <p:sldLayoutId id="2147484838" r:id="rId7"/>
    <p:sldLayoutId id="2147484839" r:id="rId8"/>
    <p:sldLayoutId id="2147484840" r:id="rId9"/>
    <p:sldLayoutId id="2147484841" r:id="rId10"/>
    <p:sldLayoutId id="2147484842" r:id="rId11"/>
    <p:sldLayoutId id="2147484843" r:id="rId12"/>
    <p:sldLayoutId id="2147484845" r:id="rId13"/>
    <p:sldLayoutId id="2147484846" r:id="rId14"/>
    <p:sldLayoutId id="2147484847" r:id="rId15"/>
    <p:sldLayoutId id="2147484848" r:id="rId16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3E9ED4-6173-20F5-9B7F-137F5560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computer start up?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C7E129-BD03-BBDB-2094-F979F6E01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9809"/>
            <a:ext cx="8972549" cy="40838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What happens when you power on the system?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801E7-ECF5-C4F4-1185-D74BC76E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22E8-26ED-463F-B679-BA0BC002EC33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8109A-E1FB-C079-4843-BA10CE6D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System bus - Wikipedia">
            <a:extLst>
              <a:ext uri="{FF2B5EF4-FFF2-40B4-BE49-F238E27FC236}">
                <a16:creationId xmlns:a16="http://schemas.microsoft.com/office/drawing/2014/main" id="{14E0AD9F-3045-D569-368C-16110222D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3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159" y="1669547"/>
            <a:ext cx="3880948" cy="2842607"/>
          </a:xfrm>
          <a:prstGeom prst="rect">
            <a:avLst/>
          </a:prstGeom>
          <a:noFill/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D48156E-1A8B-B70F-31B7-CE6C5738F42B}"/>
              </a:ext>
            </a:extLst>
          </p:cNvPr>
          <p:cNvSpPr txBox="1">
            <a:spLocks/>
          </p:cNvSpPr>
          <p:nvPr/>
        </p:nvSpPr>
        <p:spPr>
          <a:xfrm>
            <a:off x="94576" y="2259972"/>
            <a:ext cx="8972549" cy="4140828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CPU puts an address on the address bus;</a:t>
            </a:r>
            <a:br>
              <a:rPr lang="en-US" sz="1800" dirty="0"/>
            </a:br>
            <a:r>
              <a:rPr lang="en-US" sz="1800" dirty="0"/>
              <a:t>gets some instruction on the data bus and executes it</a:t>
            </a:r>
          </a:p>
          <a:p>
            <a:endParaRPr lang="en-US" sz="1800" dirty="0"/>
          </a:p>
          <a:p>
            <a:r>
              <a:rPr lang="en-US" sz="1800" dirty="0"/>
              <a:t>Start with some pre-determined address to </a:t>
            </a:r>
            <a:br>
              <a:rPr lang="en-US" sz="1800" dirty="0"/>
            </a:br>
            <a:r>
              <a:rPr lang="en-US" sz="1800" dirty="0"/>
              <a:t>start executing instructions</a:t>
            </a:r>
          </a:p>
          <a:p>
            <a:endParaRPr lang="en-US" sz="1800" dirty="0"/>
          </a:p>
          <a:p>
            <a:r>
              <a:rPr lang="en-US" sz="1800" dirty="0"/>
              <a:t>Where does that address point to?</a:t>
            </a:r>
          </a:p>
          <a:p>
            <a:endParaRPr lang="en-US" sz="1800" dirty="0"/>
          </a:p>
          <a:p>
            <a:r>
              <a:rPr lang="en-US" sz="1800" dirty="0"/>
              <a:t>RAM is empty when the computer is powered up…</a:t>
            </a:r>
          </a:p>
          <a:p>
            <a:endParaRPr lang="en-US" sz="1800" dirty="0"/>
          </a:p>
          <a:p>
            <a:r>
              <a:rPr lang="en-US" sz="1800" dirty="0"/>
              <a:t>“Bootloader” in ROM (BIOS): Copies programs from secondary memory into RAM</a:t>
            </a:r>
          </a:p>
          <a:p>
            <a:endParaRPr lang="en-US" sz="1800" dirty="0"/>
          </a:p>
          <a:p>
            <a:r>
              <a:rPr lang="en-US" sz="1800" dirty="0"/>
              <a:t>But our computers are running multiple programs… how? Operating systems!</a:t>
            </a:r>
          </a:p>
        </p:txBody>
      </p:sp>
    </p:spTree>
    <p:extLst>
      <p:ext uri="{BB962C8B-B14F-4D97-AF65-F5344CB8AC3E}">
        <p14:creationId xmlns:p14="http://schemas.microsoft.com/office/powerpoint/2010/main" val="362994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BCEE-F614-A686-99EB-F82C327E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operating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57EA-C195-EE88-4150-A928F4D82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3810943"/>
            <a:ext cx="8972549" cy="2589857"/>
          </a:xfrm>
        </p:spPr>
        <p:txBody>
          <a:bodyPr>
            <a:normAutofit fontScale="92500"/>
          </a:bodyPr>
          <a:lstStyle/>
          <a:p>
            <a:r>
              <a:rPr lang="en-US" dirty="0"/>
              <a:t>Operating systems control how software applications access and use hardware on your computer</a:t>
            </a:r>
          </a:p>
          <a:p>
            <a:r>
              <a:rPr lang="en-US" dirty="0"/>
              <a:t>They provide a general interface for common actions (ex. reading/writing disk) and allow software to run without knowledge of the machine it lives 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D8676-9B34-3188-F984-55FD4ABE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86918-6E4E-DF00-F6A1-AEC55B47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5AA483-FC58-FBC8-72EB-A69C8FB7E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04" y="1679316"/>
            <a:ext cx="4772691" cy="196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1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CF93-EBA1-558C-5A72-9AFC3671D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OS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826CD-1BAE-BA00-5C19-1B6DC4FD5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of the first things that runs when your computer starts (right after firmware/bootloader)</a:t>
            </a:r>
          </a:p>
          <a:p>
            <a:r>
              <a:rPr lang="en-US" dirty="0"/>
              <a:t>Loads, runs and manages programs:</a:t>
            </a:r>
          </a:p>
          <a:p>
            <a:pPr lvl="1"/>
            <a:r>
              <a:rPr lang="en-US" dirty="0"/>
              <a:t>Multiple programs at the same time (time-sharing)</a:t>
            </a:r>
          </a:p>
          <a:p>
            <a:pPr lvl="1"/>
            <a:r>
              <a:rPr lang="en-US" dirty="0"/>
              <a:t>Isolate programs from each other (isolation)</a:t>
            </a:r>
          </a:p>
          <a:p>
            <a:pPr lvl="1"/>
            <a:r>
              <a:rPr lang="en-US" dirty="0"/>
              <a:t>Multiplex resources between applications (e.g., devices)</a:t>
            </a:r>
          </a:p>
          <a:p>
            <a:r>
              <a:rPr lang="en-US" dirty="0"/>
              <a:t>Services: File System, Network stack, etc.</a:t>
            </a:r>
          </a:p>
          <a:p>
            <a:r>
              <a:rPr lang="en-US" dirty="0"/>
              <a:t>Finds and controls all the devices in the machine in a general way (using “device drivers”)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0336F-B645-6D71-273E-401AA3CE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9866-CFD8-9EA9-25DA-FD07DB2B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9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F954-8422-9364-5BE2-15F89B1C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how a computer starts running programs…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3B8BF-9280-3AB1-1730-4A0E3917E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" y="4648200"/>
            <a:ext cx="8972550" cy="1905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Applications are called “processes” in most OSes</a:t>
            </a:r>
          </a:p>
          <a:p>
            <a:r>
              <a:rPr lang="en-US" dirty="0"/>
              <a:t>Created by another process calling into an OS routine (using a “</a:t>
            </a:r>
            <a:r>
              <a:rPr lang="en-US" dirty="0" err="1"/>
              <a:t>syscall</a:t>
            </a:r>
            <a:r>
              <a:rPr lang="en-US" dirty="0"/>
              <a:t>”, more details later</a:t>
            </a:r>
          </a:p>
          <a:p>
            <a:r>
              <a:rPr lang="en-US" dirty="0"/>
              <a:t>Loads executable file from disk (using the file system service) and puts instructions &amp; data into memory (.text, .data sections), prepare stack and heap</a:t>
            </a:r>
          </a:p>
          <a:p>
            <a:r>
              <a:rPr lang="en-US" dirty="0"/>
              <a:t>Set </a:t>
            </a:r>
            <a:r>
              <a:rPr lang="en-US" dirty="0" err="1"/>
              <a:t>argc</a:t>
            </a:r>
            <a:r>
              <a:rPr lang="en-US" dirty="0"/>
              <a:t> and </a:t>
            </a:r>
            <a:r>
              <a:rPr lang="en-US" dirty="0" err="1"/>
              <a:t>argv</a:t>
            </a:r>
            <a:r>
              <a:rPr lang="en-US" dirty="0"/>
              <a:t>, jump into the main function.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BABF6-C427-7847-939A-A710DCA1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2257B-1C6E-E144-D32C-D8738DB2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3B6405-34FA-FE33-C808-86418F1F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32" y="1368320"/>
            <a:ext cx="7456335" cy="318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3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9CD9-47C5-97A7-EF7F-E433944B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OSes are special – Supervisor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3FE5-4C4B-D266-E4F7-BBEA51838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0"/>
            <a:ext cx="8839200" cy="541178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If something goes wrong in an application, it can crash the entire machine. What about malware, etc.?</a:t>
            </a:r>
          </a:p>
          <a:p>
            <a:r>
              <a:rPr lang="en-US" dirty="0"/>
              <a:t>The OS may need to enforce resource constraints to applications (e.g., access to devices)</a:t>
            </a:r>
          </a:p>
          <a:p>
            <a:r>
              <a:rPr lang="en-US" dirty="0"/>
              <a:t>To protect the OS from the application, CPUs have a supervisor mode bit (also need isolation, more later)</a:t>
            </a:r>
          </a:p>
          <a:p>
            <a:pPr lvl="1"/>
            <a:r>
              <a:rPr lang="en-US" dirty="0"/>
              <a:t>You can only access a subset of instructions and (physical) memory when not in supervisor mode (user mode)</a:t>
            </a:r>
          </a:p>
          <a:p>
            <a:pPr lvl="1"/>
            <a:r>
              <a:rPr lang="en-US" dirty="0"/>
              <a:t>You can change out of supervisor mode using a special instruction, but not into it (unless there is an interrupt).</a:t>
            </a:r>
          </a:p>
          <a:p>
            <a:r>
              <a:rPr lang="en-US" dirty="0"/>
              <a:t>How to switch back to OS? OS sets timer interrupt, when interrupts trigger, drop into supervisor mode</a:t>
            </a:r>
          </a:p>
          <a:p>
            <a:r>
              <a:rPr lang="en-US" dirty="0"/>
              <a:t>What if we want to call into an OS routine? (e.g., to read a file, launch a new process, send data, etc.)</a:t>
            </a:r>
          </a:p>
          <a:p>
            <a:pPr lvl="1"/>
            <a:r>
              <a:rPr lang="en-US" dirty="0"/>
              <a:t>Need to perform a </a:t>
            </a:r>
            <a:r>
              <a:rPr lang="en-US" dirty="0" err="1"/>
              <a:t>syscall</a:t>
            </a:r>
            <a:r>
              <a:rPr lang="en-US" dirty="0"/>
              <a:t>: set up function arguments in registers, and then raise software interrupt</a:t>
            </a:r>
          </a:p>
          <a:p>
            <a:pPr lvl="1"/>
            <a:r>
              <a:rPr lang="en-US" dirty="0"/>
              <a:t>OS will perform the operation and return to user mode</a:t>
            </a:r>
          </a:p>
          <a:p>
            <a:r>
              <a:rPr lang="en-US" dirty="0"/>
              <a:t>This way, the OS can mediate access to all resources, including devices, the CPU itself,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8DD59-FA30-FB02-8A9A-F32E002C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1E1BD-C8E1-6457-427D-29D7D9EC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E600-033E-A740-3328-0B34DFAE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BFA90-B942-0D6A-A4FC-9D8B0F8C3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OS runs multiple applications at the same time</a:t>
            </a:r>
          </a:p>
          <a:p>
            <a:r>
              <a:rPr lang="en-US" dirty="0"/>
              <a:t>But not really (unless have a core per process)</a:t>
            </a:r>
          </a:p>
          <a:p>
            <a:r>
              <a:rPr lang="en-US" dirty="0"/>
              <a:t>Switches between processes very quickly. This is called a “context switch”</a:t>
            </a:r>
          </a:p>
          <a:p>
            <a:r>
              <a:rPr lang="en-US" dirty="0"/>
              <a:t>Deciding what process to run is called scheduling</a:t>
            </a:r>
          </a:p>
          <a:p>
            <a:pPr lvl="1"/>
            <a:r>
              <a:rPr lang="en-US" dirty="0"/>
              <a:t>Programs can be scheduled in a variety of ways!</a:t>
            </a:r>
          </a:p>
          <a:p>
            <a:pPr lvl="1"/>
            <a:r>
              <a:rPr lang="en-US" dirty="0"/>
              <a:t>Most/least resources needed, “fastest” to run, most important, etc.</a:t>
            </a:r>
          </a:p>
          <a:p>
            <a:r>
              <a:rPr lang="en-US" dirty="0"/>
              <a:t>Where in the main memory does each program reside?</a:t>
            </a:r>
          </a:p>
          <a:p>
            <a:r>
              <a:rPr lang="en-US" dirty="0"/>
              <a:t>For jump, call, branch instructions, how does the PC jump to the right address?</a:t>
            </a:r>
          </a:p>
          <a:p>
            <a:r>
              <a:rPr lang="en-US" dirty="0"/>
              <a:t>How does the context switch happen when multiple programs are running together?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4BF8F-66E7-FA58-8A8B-9E42CC47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2C12-29D7-CF16-26C8-9EC8246A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14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3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36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BA5DD-F6E9-92E5-290C-F03966D37CD3}"/>
              </a:ext>
            </a:extLst>
          </p:cNvPr>
          <p:cNvSpPr/>
          <p:nvPr/>
        </p:nvSpPr>
        <p:spPr>
          <a:xfrm>
            <a:off x="6586396" y="2622676"/>
            <a:ext cx="706171" cy="6111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A2EBBC-DF60-92CE-5697-24268E1AFAC5}"/>
              </a:ext>
            </a:extLst>
          </p:cNvPr>
          <p:cNvSpPr/>
          <p:nvPr/>
        </p:nvSpPr>
        <p:spPr>
          <a:xfrm>
            <a:off x="3429000" y="2603699"/>
            <a:ext cx="869133" cy="6111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6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7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C0BA8-6B3C-9180-3104-1589273824A9}"/>
              </a:ext>
            </a:extLst>
          </p:cNvPr>
          <p:cNvSpPr/>
          <p:nvPr/>
        </p:nvSpPr>
        <p:spPr>
          <a:xfrm>
            <a:off x="1798890" y="4286250"/>
            <a:ext cx="1507889" cy="6111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8F79D6-BB1D-C574-3773-880851DF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20" y="2426678"/>
            <a:ext cx="1454105" cy="5608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0E920C-07ED-09E5-885C-A4F43865C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341" y="2773318"/>
            <a:ext cx="1599843" cy="217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0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41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87A2-C4B9-28C3-298C-9412F42D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picture for multiple applications </a:t>
            </a:r>
            <a:r>
              <a:rPr lang="en-US"/>
              <a:t>in user </a:t>
            </a:r>
            <a:r>
              <a:rPr lang="en-US" dirty="0"/>
              <a:t>mode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39589D-CCDD-83BA-177A-E336A8236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10" y="1766038"/>
            <a:ext cx="8502249" cy="36509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47902-6F05-5B05-E200-EC445F2F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1B74-7DBB-C6F3-C29A-69E1EA57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7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D9C2-4E49-9471-38E3-F39199FD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858000" cy="1195386"/>
          </a:xfrm>
        </p:spPr>
        <p:txBody>
          <a:bodyPr/>
          <a:lstStyle/>
          <a:p>
            <a:r>
              <a:rPr lang="en-US" dirty="0"/>
              <a:t>Multiprogramming requires protection, translation and paging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9C93D-9978-6DFC-347E-3D29B833F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447800"/>
            <a:ext cx="8972549" cy="51054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Supervisor mode does not fully isolate applications from each other or from OS</a:t>
            </a:r>
          </a:p>
          <a:p>
            <a:pPr lvl="1"/>
            <a:r>
              <a:rPr lang="en-US" dirty="0"/>
              <a:t>Application could overwrite another application’s memory</a:t>
            </a:r>
          </a:p>
          <a:p>
            <a:pPr lvl="1"/>
            <a:r>
              <a:rPr lang="en-US" dirty="0"/>
              <a:t>Remember the linker in CALL: application assumes that code is in certain location. How to prevent overlaps?</a:t>
            </a:r>
          </a:p>
          <a:p>
            <a:pPr lvl="1"/>
            <a:r>
              <a:rPr lang="en-US" dirty="0"/>
              <a:t>May want to address more memory than we actually have</a:t>
            </a:r>
          </a:p>
          <a:p>
            <a:r>
              <a:rPr lang="en-US" dirty="0"/>
              <a:t>Solution: Virtual Memory</a:t>
            </a:r>
          </a:p>
          <a:p>
            <a:pPr lvl="1"/>
            <a:r>
              <a:rPr lang="en-US" dirty="0"/>
              <a:t>Give each process the illusion of a full memory address space that it has completely to itself</a:t>
            </a:r>
          </a:p>
          <a:p>
            <a:r>
              <a:rPr lang="en-US" dirty="0"/>
              <a:t>From here on out, we’ll be working with two different memory spaces:</a:t>
            </a:r>
          </a:p>
          <a:p>
            <a:pPr lvl="1"/>
            <a:r>
              <a:rPr lang="en-US" dirty="0"/>
              <a:t>Virtual Memory (VM): A large (~infinite) space that a process believes it, and only it, has access to</a:t>
            </a:r>
          </a:p>
          <a:p>
            <a:pPr lvl="1"/>
            <a:r>
              <a:rPr lang="en-US" dirty="0"/>
              <a:t>Physical Memory (PM): The limited RAM space your computer must share among all processes and processors</a:t>
            </a:r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Process/program isolation (protection)</a:t>
            </a:r>
          </a:p>
          <a:p>
            <a:pPr lvl="1"/>
            <a:r>
              <a:rPr lang="en-US" dirty="0"/>
              <a:t>Make transition from infinite to finite seamless, or not noticeable to the program</a:t>
            </a:r>
          </a:p>
          <a:p>
            <a:pPr lvl="1"/>
            <a:r>
              <a:rPr lang="en-US" dirty="0"/>
              <a:t>Translate between VM, PM addresses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4D15-C28A-1286-15EF-51A87522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0EC8-9DDB-8D4A-842C-4FC29BD0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7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515B-CE8A-B649-C42E-ED0DB472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– how it appears to the process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24941F-715C-2D8F-D0CC-05C5B23D2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789" y="1780327"/>
            <a:ext cx="8445091" cy="362238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4910-BAFA-1CB3-907F-460EA555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3E76-983F-378D-D886-B3E69297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79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515B-CE8A-B649-C42E-ED0DB472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– what it is actually like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24941F-715C-2D8F-D0CC-05C5B23D2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789" y="1780327"/>
            <a:ext cx="8445091" cy="362238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4910-BAFA-1CB3-907F-460EA555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3E76-983F-378D-D886-B3E69297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02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515B-CE8A-B649-C42E-ED0DB472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connects SM to MM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94910-BAFA-1CB3-907F-460EA555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3E76-983F-378D-D886-B3E69297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2303E-8C08-11D8-647C-DA5258523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66" y="1463078"/>
            <a:ext cx="6033347" cy="39318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826461-1972-D705-622A-5B4A2300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657" y="3581400"/>
            <a:ext cx="4422599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55C1-D7B4-8F11-B8D6-1A71B6A2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AE645-08F6-4C16-B038-DE0307B7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419688"/>
            <a:ext cx="4644914" cy="23141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Divide RAM into segments with a “base” and “bound”</a:t>
            </a:r>
          </a:p>
          <a:p>
            <a:pPr lvl="1"/>
            <a:r>
              <a:rPr lang="en-US" dirty="0"/>
              <a:t>Each program has access to its segment only!</a:t>
            </a:r>
          </a:p>
          <a:p>
            <a:r>
              <a:rPr lang="en-US" dirty="0"/>
              <a:t>Program has a virtual address range 0x0...0 - 0xF...FE</a:t>
            </a:r>
          </a:p>
          <a:p>
            <a:pPr lvl="1"/>
            <a:r>
              <a:rPr lang="en-US" dirty="0"/>
              <a:t>To get location of data in segment (physical address), add to base value!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7C5A-9AB1-14DD-BA6E-C614E041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75" y="6584156"/>
            <a:ext cx="2057400" cy="273844"/>
          </a:xfrm>
        </p:spPr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5C715-6CDD-FC58-AE40-BEA34FC9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EDB71-D732-B63E-1C14-74631567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63" y="1480456"/>
            <a:ext cx="3850542" cy="23903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0CAE79-449A-63E3-9DC2-94A792D40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89" y="3919182"/>
            <a:ext cx="4132716" cy="24284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FF89DF-B139-DE57-AB38-40D6E5AA4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20" y="4409478"/>
            <a:ext cx="4322736" cy="16581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7553D4-1761-BE78-DFDA-A7BD26BD3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" y="3860689"/>
            <a:ext cx="4595387" cy="25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7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BFC3-7EB8-3FA1-0234-BFE44510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base and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A6D42-9646-5C67-89BF-4E62A7D1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0"/>
            <a:ext cx="8839200" cy="515302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What if we need more space than our segment allows? </a:t>
            </a:r>
          </a:p>
          <a:p>
            <a:pPr lvl="1"/>
            <a:r>
              <a:rPr lang="en-US" dirty="0"/>
              <a:t>Increase segment? What if no more RAM?</a:t>
            </a:r>
          </a:p>
          <a:p>
            <a:pPr lvl="1"/>
            <a:r>
              <a:rPr lang="en-US" dirty="0"/>
              <a:t>Use disk? How do we decide what data to move in or out? How much data?</a:t>
            </a:r>
          </a:p>
          <a:p>
            <a:r>
              <a:rPr lang="en-US" dirty="0"/>
              <a:t>What if we require 500MB of space, but RAM is fragmented, so there isn’t a contiguous chunk available?</a:t>
            </a:r>
          </a:p>
          <a:p>
            <a:pPr lvl="1"/>
            <a:r>
              <a:rPr lang="en-US" dirty="0"/>
              <a:t>How can we fix this?</a:t>
            </a:r>
          </a:p>
          <a:p>
            <a:r>
              <a:rPr lang="en-US" dirty="0"/>
              <a:t>Must provide protection b/t processes</a:t>
            </a:r>
          </a:p>
          <a:p>
            <a:pPr lvl="1"/>
            <a:r>
              <a:rPr lang="en-US" dirty="0"/>
              <a:t>Programs can only find/access their own data</a:t>
            </a:r>
          </a:p>
          <a:p>
            <a:r>
              <a:rPr lang="en-US" dirty="0"/>
              <a:t>Must be able to work with more data than RAM can hold</a:t>
            </a:r>
          </a:p>
          <a:p>
            <a:pPr lvl="1"/>
            <a:r>
              <a:rPr lang="en-US" dirty="0"/>
              <a:t>Swap to and from disk</a:t>
            </a:r>
          </a:p>
          <a:p>
            <a:r>
              <a:rPr lang="en-US" dirty="0"/>
              <a:t>Must not fragment memory in an unusable way</a:t>
            </a:r>
          </a:p>
          <a:p>
            <a:pPr lvl="1"/>
            <a:r>
              <a:rPr lang="en-US" dirty="0"/>
              <a:t>If need 500MB, and have 500MB available overall, should be usable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43781-692B-87A1-C86F-52FA1261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FF3C1-B65B-1B67-CF6D-3906E62B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1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73A9-DAD8-E92E-F842-78191E28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4AB82-4068-E9B7-334C-714316DE4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609808"/>
            <a:ext cx="3674542" cy="48671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Instead of having segments of various sizes, let’s divide physical memory and virtual memory into equal units called pages!</a:t>
            </a:r>
          </a:p>
          <a:p>
            <a:pPr lvl="1"/>
            <a:r>
              <a:rPr lang="en-US" dirty="0"/>
              <a:t>Pages are all the same size, regardless of program, and RAM is an integer multiple of pages</a:t>
            </a:r>
          </a:p>
          <a:p>
            <a:pPr lvl="1"/>
            <a:r>
              <a:rPr lang="en-US" dirty="0"/>
              <a:t>Page size is the same in both virtual and physical memory</a:t>
            </a:r>
          </a:p>
          <a:p>
            <a:r>
              <a:rPr lang="en-US" dirty="0"/>
              <a:t>What does our memory layout look like now?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C65F0-DC4B-6A01-AAE6-95687491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FB7CE-3A33-80C6-F5C5-CAB5F00A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B33AF-1A90-4D8D-B801-499F7ECCD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792397"/>
            <a:ext cx="4267200" cy="30220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2C03F0-78F1-5F42-7266-F069A742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909996"/>
            <a:ext cx="4284142" cy="251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9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A05A-86A9-C05F-F022-493EA9A6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Paged memory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9F743-8DA7-09E9-6394-54594277E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Each program has access to one or more pages</a:t>
            </a:r>
          </a:p>
          <a:p>
            <a:r>
              <a:rPr lang="en-US" dirty="0"/>
              <a:t>Pages do not have to be contiguous, or next to each other</a:t>
            </a:r>
          </a:p>
          <a:p>
            <a:r>
              <a:rPr lang="en-US" dirty="0"/>
              <a:t>Pages are not organized by program</a:t>
            </a:r>
          </a:p>
          <a:p>
            <a:endParaRPr lang="en-US" dirty="0"/>
          </a:p>
          <a:p>
            <a:r>
              <a:rPr lang="en-US" dirty="0"/>
              <a:t>How do we continue to enforce protection?</a:t>
            </a:r>
          </a:p>
          <a:p>
            <a:r>
              <a:rPr lang="en-US" dirty="0"/>
              <a:t>How do we find a piece of data given our virtual address between 0x0..0 and 0xF...FE?</a:t>
            </a:r>
          </a:p>
          <a:p>
            <a:endParaRPr lang="en-US" dirty="0"/>
          </a:p>
          <a:p>
            <a:r>
              <a:rPr lang="en-US" dirty="0"/>
              <a:t>Per program, maintain a list (or table) of pages in physical memory that they own</a:t>
            </a:r>
          </a:p>
          <a:p>
            <a:pPr lvl="1"/>
            <a:r>
              <a:rPr lang="en-US" dirty="0"/>
              <a:t>For each page, note the data it contains</a:t>
            </a:r>
          </a:p>
          <a:p>
            <a:pPr lvl="1"/>
            <a:r>
              <a:rPr lang="en-US" dirty="0"/>
              <a:t>Sufficient to just note virtual page number! This will tell us the range of addresses!</a:t>
            </a:r>
          </a:p>
          <a:p>
            <a:r>
              <a:rPr lang="en-US" dirty="0"/>
              <a:t>Just like base and bound: use this table to translate addresses so programs cannot reach physical addresses outside of their assigned range!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627FE-3A6F-5FEB-426C-D2378E63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074D-A14F-AD40-4C6C-B14F0AA9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1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C58F-ABBE-E898-3993-D6294888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Paged memory working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4D8450-6A79-ABC8-40F7-00097B555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47" y="1600200"/>
            <a:ext cx="8740705" cy="463867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6EA51-D4AF-D265-4CF8-2D4BDE14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0450E-E1A6-2739-9B47-D669D236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62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C58F-ABBE-E898-3993-D6294888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Paged memory working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4D8450-6A79-ABC8-40F7-00097B555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465" y="1524000"/>
            <a:ext cx="8615069" cy="45720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6EA51-D4AF-D265-4CF8-2D4BDE14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0450E-E1A6-2739-9B47-D669D236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74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760A-606F-518E-5F01-41E4E365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virtual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DDF0E-4FBF-DFBC-792E-7F377488E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0"/>
            <a:ext cx="8839200" cy="510698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Protection: several programs, each with their private address space and one or more shared address spaces</a:t>
            </a:r>
          </a:p>
          <a:p>
            <a:r>
              <a:rPr lang="en-US" dirty="0"/>
              <a:t>Demand Paging:</a:t>
            </a:r>
            <a:br>
              <a:rPr lang="en-US" dirty="0"/>
            </a:br>
            <a:r>
              <a:rPr lang="en-US" dirty="0"/>
              <a:t>Provides the ability to run programs larger than the primary memory</a:t>
            </a:r>
            <a:br>
              <a:rPr lang="en-US" dirty="0"/>
            </a:br>
            <a:r>
              <a:rPr lang="en-US" dirty="0"/>
              <a:t>Hides differences in machine configurations</a:t>
            </a:r>
          </a:p>
          <a:p>
            <a:r>
              <a:rPr lang="en-US" dirty="0"/>
              <a:t>The price is address translation on each memory reference</a:t>
            </a:r>
          </a:p>
          <a:p>
            <a:r>
              <a:rPr lang="en-US" dirty="0"/>
              <a:t>Next level in the memory hierarchy:</a:t>
            </a:r>
          </a:p>
          <a:p>
            <a:pPr lvl="1"/>
            <a:r>
              <a:rPr lang="en-US" dirty="0"/>
              <a:t>Provides program with illusion of a very large main memory</a:t>
            </a:r>
          </a:p>
          <a:p>
            <a:pPr lvl="1"/>
            <a:r>
              <a:rPr lang="en-US" dirty="0"/>
              <a:t>Working set of “pages” reside in main memory while others reside on disk</a:t>
            </a:r>
          </a:p>
          <a:p>
            <a:r>
              <a:rPr lang="en-US" dirty="0"/>
              <a:t>Also allows OS to share memory, protect programs from each other</a:t>
            </a:r>
          </a:p>
          <a:p>
            <a:r>
              <a:rPr lang="en-US" dirty="0"/>
              <a:t>Today, more important for protection vs. just another level of memory hierarchy</a:t>
            </a:r>
          </a:p>
          <a:p>
            <a:r>
              <a:rPr lang="en-US" dirty="0"/>
              <a:t>Each process thinks it has all the memory to itself</a:t>
            </a:r>
          </a:p>
          <a:p>
            <a:r>
              <a:rPr lang="en-US" dirty="0"/>
              <a:t>(Historically, it predates caches)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BB9B9-8774-B058-A38F-0E25359B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5D0C6-0D68-799C-9464-994AD032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1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7476-799A-8B59-1C84-C803BB8D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DA537-8087-AE08-0705-B530E5A78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process of converting a virtual address to a physical address is called address translation</a:t>
            </a:r>
          </a:p>
          <a:p>
            <a:r>
              <a:rPr lang="en-US" dirty="0"/>
              <a:t>Virtual addresses can be broken into two parts (much like we broke them down for T/I/O): we’ll call the two parts the virtual page number and the offset: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determines the size of offset?</a:t>
            </a:r>
          </a:p>
          <a:p>
            <a:r>
              <a:rPr lang="en-US" dirty="0"/>
              <a:t>Size of VPN?</a:t>
            </a:r>
          </a:p>
          <a:p>
            <a:r>
              <a:rPr lang="en-US" dirty="0"/>
              <a:t>Similarly break down the physical address into physical page number and offset</a:t>
            </a:r>
          </a:p>
          <a:p>
            <a:r>
              <a:rPr lang="en-US" dirty="0"/>
              <a:t>How do we go from a VPN to a PPN?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8089E-D518-097D-A567-04DB5966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CF6B-1D8D-E8A6-7BDA-7661A284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7D2E8D-FF0E-196C-7AB0-6266D1184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200400"/>
            <a:ext cx="3124207" cy="78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1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A18F03-6AB4-55D2-D4B4-38CCC969A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159" y="1475579"/>
            <a:ext cx="4188458" cy="2126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BD9C8-9CFF-3C13-3138-D81FD113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3062-05B1-8231-80CA-4101953CC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1417936"/>
            <a:ext cx="4975405" cy="292546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Contains either PPN or indication not in main memory</a:t>
            </a:r>
          </a:p>
          <a:p>
            <a:r>
              <a:rPr lang="en-US" dirty="0"/>
              <a:t>Dirty = Page has been modified recently</a:t>
            </a:r>
          </a:p>
          <a:p>
            <a:r>
              <a:rPr lang="en-US" dirty="0"/>
              <a:t>Valid = Valid page table entry</a:t>
            </a:r>
          </a:p>
          <a:p>
            <a:pPr lvl="1"/>
            <a:r>
              <a:rPr lang="en-US" dirty="0"/>
              <a:t>1 → virtual page is in physical memory</a:t>
            </a:r>
          </a:p>
          <a:p>
            <a:pPr lvl="1"/>
            <a:r>
              <a:rPr lang="en-US" dirty="0"/>
              <a:t>0 → OS needs to fetch page from disk Page Fault!</a:t>
            </a:r>
          </a:p>
          <a:p>
            <a:r>
              <a:rPr lang="en-US" dirty="0"/>
              <a:t>Access Rights checked on every access to see if allowed (provides protection)</a:t>
            </a:r>
          </a:p>
          <a:p>
            <a:pPr lvl="1"/>
            <a:r>
              <a:rPr lang="en-US" dirty="0"/>
              <a:t>Read, Write, Executable:</a:t>
            </a:r>
            <a:br>
              <a:rPr lang="en-US" dirty="0"/>
            </a:br>
            <a:r>
              <a:rPr lang="en-US" dirty="0"/>
              <a:t>Can fetch instructions from page</a:t>
            </a:r>
          </a:p>
          <a:p>
            <a:pPr lvl="1"/>
            <a:r>
              <a:rPr lang="en-US" dirty="0"/>
              <a:t>Protection Fault! …How?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316BF-925F-142D-BBCE-31D73AA3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26B33-28F1-3619-29AB-0BA88DA7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22AAE6-CEE3-C835-2C17-0E9E64073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736860"/>
            <a:ext cx="3955017" cy="2809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194C06-1711-A06F-6DF8-A9A21545E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28" y="4191000"/>
            <a:ext cx="4901251" cy="235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7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92ED-0967-A2A9-9326-E0C6B445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the page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84BF6-6AA0-23BD-1075-FCA5112FD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609809"/>
            <a:ext cx="4169607" cy="235259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64 MiB RAM</a:t>
            </a:r>
          </a:p>
          <a:p>
            <a:r>
              <a:rPr lang="en-US" dirty="0"/>
              <a:t>32-bit virtual address space</a:t>
            </a:r>
          </a:p>
          <a:p>
            <a:r>
              <a:rPr lang="en-US" dirty="0"/>
              <a:t>1 KiB pages</a:t>
            </a:r>
          </a:p>
          <a:p>
            <a:endParaRPr lang="en-US" dirty="0"/>
          </a:p>
          <a:p>
            <a:pPr>
              <a:buAutoNum type="alphaUcParenBoth"/>
            </a:pPr>
            <a:r>
              <a:rPr lang="en-US" dirty="0"/>
              <a:t>Less than 1 Page</a:t>
            </a:r>
          </a:p>
          <a:p>
            <a:pPr>
              <a:buAutoNum type="alphaUcParenBoth"/>
            </a:pPr>
            <a:r>
              <a:rPr lang="en-US" dirty="0"/>
              <a:t>Less than 100 Pages</a:t>
            </a:r>
          </a:p>
          <a:p>
            <a:pPr>
              <a:buAutoNum type="alphaUcParenBoth"/>
            </a:pPr>
            <a:r>
              <a:rPr lang="en-US" dirty="0"/>
              <a:t>Less than 1000 Pages</a:t>
            </a:r>
          </a:p>
          <a:p>
            <a:pPr>
              <a:buAutoNum type="alphaUcParenBoth"/>
            </a:pPr>
            <a:r>
              <a:rPr lang="en-US" dirty="0"/>
              <a:t>More than 1000 Pages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A614E-174C-BE75-8631-125656DC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CF94D6-6C9A-A298-B141-B284B14543BB}"/>
              </a:ext>
            </a:extLst>
          </p:cNvPr>
          <p:cNvSpPr txBox="1">
            <a:spLocks/>
          </p:cNvSpPr>
          <p:nvPr/>
        </p:nvSpPr>
        <p:spPr>
          <a:xfrm>
            <a:off x="4800600" y="1609808"/>
            <a:ext cx="3828485" cy="4867191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How many offset bits?</a:t>
            </a:r>
          </a:p>
          <a:p>
            <a:pPr marL="0" indent="0">
              <a:buNone/>
            </a:pPr>
            <a:r>
              <a:rPr lang="en-US" sz="1800" dirty="0"/>
              <a:t>10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How many VPN bits?</a:t>
            </a:r>
          </a:p>
          <a:p>
            <a:pPr marL="0" indent="0">
              <a:buNone/>
            </a:pPr>
            <a:r>
              <a:rPr lang="en-US" sz="1800" dirty="0"/>
              <a:t>32-10 = 22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#physical page number bits?</a:t>
            </a:r>
          </a:p>
          <a:p>
            <a:pPr marL="0" indent="0">
              <a:buNone/>
            </a:pPr>
            <a:r>
              <a:rPr lang="en-US" sz="1800" dirty="0"/>
              <a:t>26-10 = 16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#bytes in page table?</a:t>
            </a:r>
          </a:p>
          <a:p>
            <a:pPr marL="0" indent="0">
              <a:buNone/>
            </a:pPr>
            <a:r>
              <a:rPr lang="en-US" sz="1800" dirty="0"/>
              <a:t>2</a:t>
            </a:r>
            <a:r>
              <a:rPr lang="en-US" sz="1800" baseline="30000" dirty="0"/>
              <a:t>22</a:t>
            </a:r>
            <a:r>
              <a:rPr lang="en-US" sz="1800" dirty="0"/>
              <a:t>*2 = 2</a:t>
            </a:r>
            <a:r>
              <a:rPr lang="en-US" sz="1800" baseline="30000" dirty="0"/>
              <a:t>23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Number of pages for page table itself?</a:t>
            </a:r>
          </a:p>
          <a:p>
            <a:pPr marL="0" indent="0">
              <a:buNone/>
            </a:pPr>
            <a:r>
              <a:rPr lang="en-US" sz="1800" dirty="0"/>
              <a:t>2</a:t>
            </a:r>
            <a:r>
              <a:rPr lang="en-US" sz="1800" baseline="30000" dirty="0"/>
              <a:t>13</a:t>
            </a:r>
            <a:r>
              <a:rPr lang="en-US" sz="1800" dirty="0"/>
              <a:t> pages!</a:t>
            </a:r>
          </a:p>
          <a:p>
            <a:pPr marL="0" indent="0">
              <a:buNone/>
            </a:pPr>
            <a:endParaRPr lang="en-US" sz="1800" baseline="30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E2F87-7D21-D4D4-1A80-BEF8BABA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31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4180D1-300E-F9DA-D268-0A49B83D6CE0}"/>
              </a:ext>
            </a:extLst>
          </p:cNvPr>
          <p:cNvSpPr txBox="1">
            <a:spLocks/>
          </p:cNvSpPr>
          <p:nvPr/>
        </p:nvSpPr>
        <p:spPr>
          <a:xfrm>
            <a:off x="94575" y="4055386"/>
            <a:ext cx="4169607" cy="242161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Page tables must be stored in main memory! …any problems with this?</a:t>
            </a:r>
          </a:p>
          <a:p>
            <a:r>
              <a:rPr lang="en-US" sz="1800" dirty="0"/>
              <a:t>To find anything in MM we need the page table (itself in MM)</a:t>
            </a:r>
          </a:p>
          <a:p>
            <a:r>
              <a:rPr lang="en-US" sz="1800" dirty="0">
                <a:solidFill>
                  <a:schemeClr val="accent4"/>
                </a:solidFill>
              </a:rPr>
              <a:t>PT Base Register</a:t>
            </a:r>
            <a:r>
              <a:rPr lang="en-US" sz="1800" dirty="0"/>
              <a:t>: Stores physical address of current page table</a:t>
            </a:r>
          </a:p>
        </p:txBody>
      </p:sp>
    </p:spTree>
    <p:extLst>
      <p:ext uri="{BB962C8B-B14F-4D97-AF65-F5344CB8AC3E}">
        <p14:creationId xmlns:p14="http://schemas.microsoft.com/office/powerpoint/2010/main" val="370235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  <p:bldP spid="8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AE16-15E1-3555-8AF3-148EB466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page tables leads to 2 PM accesses per VM access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40B028-6923-DD4A-0FDE-196870ACE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599" y="1609725"/>
            <a:ext cx="6249471" cy="396359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EF446-1F66-16AE-333A-08E469FA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0EB3B-D164-BCB2-A16A-59F2FE8C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12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1EE5-02BB-0D21-5708-B88A0B52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page tables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23A758-2197-CFE1-5014-37E096F5A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75" y="1523419"/>
            <a:ext cx="5222706" cy="322455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55574-4D23-B7E7-24D5-ADC040BF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1551C-01A3-4A72-B6D7-07100BC7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33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77D5D3E-DB19-CEA0-A2BB-B225D0ECAF5D}"/>
              </a:ext>
            </a:extLst>
          </p:cNvPr>
          <p:cNvSpPr txBox="1">
            <a:spLocks/>
          </p:cNvSpPr>
          <p:nvPr/>
        </p:nvSpPr>
        <p:spPr>
          <a:xfrm>
            <a:off x="5377759" y="1523420"/>
            <a:ext cx="3571592" cy="39630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Problems with linear page tables:</a:t>
            </a:r>
            <a:endParaRPr lang="en-US" sz="1800" baseline="30000" dirty="0"/>
          </a:p>
          <a:p>
            <a:r>
              <a:rPr lang="en-US" sz="1800" dirty="0"/>
              <a:t>Can be very large (depends on VM size)</a:t>
            </a:r>
          </a:p>
          <a:p>
            <a:endParaRPr lang="en-US" sz="1800" dirty="0"/>
          </a:p>
          <a:p>
            <a:r>
              <a:rPr lang="en-US" sz="1800" dirty="0"/>
              <a:t>Sparsely populated (what if a program uses only first and last page?</a:t>
            </a:r>
          </a:p>
          <a:p>
            <a:r>
              <a:rPr lang="en-US" sz="1800" dirty="0"/>
              <a:t>Entire page table must be loaded!</a:t>
            </a:r>
          </a:p>
          <a:p>
            <a:endParaRPr lang="en-US" sz="1800" dirty="0"/>
          </a:p>
          <a:p>
            <a:r>
              <a:rPr lang="en-US" sz="1800" dirty="0"/>
              <a:t>Can we load only small sections of a page table at a time?</a:t>
            </a:r>
          </a:p>
        </p:txBody>
      </p:sp>
    </p:spTree>
    <p:extLst>
      <p:ext uri="{BB962C8B-B14F-4D97-AF65-F5344CB8AC3E}">
        <p14:creationId xmlns:p14="http://schemas.microsoft.com/office/powerpoint/2010/main" val="411219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0824-62F6-7771-64DB-E53C98D4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page tables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63E091-44F5-E5A5-9DF8-FF91EB570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232" y="1630288"/>
            <a:ext cx="6180206" cy="392246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95B7-B871-389C-B485-55AC30E5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A333D-91A4-1368-2567-F1C6A4AE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2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0A83-7B55-39B8-70B7-711B13B5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May even have a multi-level hierarchy!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44D21CF-0E85-BB85-3D9A-2653872D9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513" y="1609725"/>
            <a:ext cx="5891643" cy="396359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B189C-F322-099B-5BF4-BFD074CA2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DABE2-065E-A0FD-CC02-E26E4141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47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E133-C425-1BB9-8395-6069A63A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means even more MM accesses per VM access!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AE7EC1-250E-9E74-CCFB-1509B55D8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225" y="1633860"/>
            <a:ext cx="6230219" cy="391532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F356A-44DD-4171-E6A8-5995067D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CA0F5-090A-E536-2F10-908FC51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0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74E7-2AEE-BBF1-87B4-81D44948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PM accesses per VM access – how can we make this faster?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083EE-F522-E7D2-54BB-E27694875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cache for the page tables!</a:t>
            </a:r>
          </a:p>
          <a:p>
            <a:r>
              <a:rPr lang="en-US" dirty="0"/>
              <a:t>Called a ‘</a:t>
            </a:r>
            <a:r>
              <a:rPr lang="en-US" dirty="0">
                <a:solidFill>
                  <a:schemeClr val="accent4"/>
                </a:solidFill>
              </a:rPr>
              <a:t>Translation Lookaside Buffer (TLB)</a:t>
            </a:r>
            <a:r>
              <a:rPr lang="en-US" dirty="0"/>
              <a:t>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TLBs usually small, typically 32–128 entries</a:t>
            </a:r>
          </a:p>
          <a:p>
            <a:r>
              <a:rPr lang="en-US" dirty="0"/>
              <a:t>TLB access time comparable to cache (much faster than accessing main memory)</a:t>
            </a:r>
          </a:p>
          <a:p>
            <a:r>
              <a:rPr lang="en-US" dirty="0"/>
              <a:t>TLBs usually are fully/highly associativity</a:t>
            </a:r>
          </a:p>
          <a:p>
            <a:r>
              <a:rPr lang="en-US" dirty="0"/>
              <a:t>When accessing data, where should we check first – cache or TLB?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29311-FBE1-E57F-6961-510C0D23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F1E16-4D70-9667-68B9-FA53EBDE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E95C8-7A1B-324A-E5EC-8A5906DDD4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8404" y="2391225"/>
            <a:ext cx="3727142" cy="1483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1A4631-5916-26B1-1471-EF271438D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442" y="2391224"/>
            <a:ext cx="3809270" cy="148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4EDCA-B3D4-D91E-4647-D84FA44B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data using TLBs and caches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4B38FD-4BBD-C086-786F-DCAB92CB8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694" y="1981200"/>
            <a:ext cx="4956227" cy="26999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69EF-CC0C-1834-894F-89DA4964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26769-70A2-D392-AE87-5FA2749E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38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F6DA6D-04E3-DD0A-8BAB-7EC4DC607433}"/>
              </a:ext>
            </a:extLst>
          </p:cNvPr>
          <p:cNvSpPr txBox="1">
            <a:spLocks/>
          </p:cNvSpPr>
          <p:nvPr/>
        </p:nvSpPr>
        <p:spPr>
          <a:xfrm>
            <a:off x="5046922" y="2020906"/>
            <a:ext cx="4020203" cy="35519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1800" dirty="0"/>
              <a:t>Check TLB (input VPN, output PPN)</a:t>
            </a:r>
          </a:p>
          <a:p>
            <a:pPr lvl="1"/>
            <a:r>
              <a:rPr lang="en-US" sz="1500" dirty="0">
                <a:solidFill>
                  <a:schemeClr val="accent4"/>
                </a:solidFill>
              </a:rPr>
              <a:t>TLB Hit</a:t>
            </a:r>
            <a:r>
              <a:rPr lang="en-US" sz="1500" dirty="0"/>
              <a:t>: Fetch translation, return PPN</a:t>
            </a:r>
          </a:p>
          <a:p>
            <a:pPr lvl="1"/>
            <a:r>
              <a:rPr lang="en-US" sz="1500" dirty="0">
                <a:solidFill>
                  <a:schemeClr val="accent4"/>
                </a:solidFill>
              </a:rPr>
              <a:t>TLB Miss</a:t>
            </a:r>
            <a:r>
              <a:rPr lang="en-US" sz="1500" dirty="0"/>
              <a:t>: Check PT in MM</a:t>
            </a:r>
          </a:p>
          <a:p>
            <a:pPr marL="1028700" lvl="2" indent="-342900">
              <a:buAutoNum type="arabicPeriod"/>
            </a:pPr>
            <a:r>
              <a:rPr lang="en-US" sz="1350" dirty="0">
                <a:solidFill>
                  <a:schemeClr val="accent4"/>
                </a:solidFill>
              </a:rPr>
              <a:t>PT Hit</a:t>
            </a:r>
            <a:r>
              <a:rPr lang="en-US" sz="1350" dirty="0"/>
              <a:t>: Copy PT entry to TLB, return PPN</a:t>
            </a:r>
          </a:p>
          <a:p>
            <a:pPr marL="1028700" lvl="2" indent="-342900">
              <a:buAutoNum type="arabicPeriod"/>
            </a:pPr>
            <a:r>
              <a:rPr lang="en-US" sz="1350" dirty="0">
                <a:solidFill>
                  <a:schemeClr val="accent4"/>
                </a:solidFill>
              </a:rPr>
              <a:t>PT Miss </a:t>
            </a:r>
            <a:r>
              <a:rPr lang="en-US" sz="1350" dirty="0"/>
              <a:t>(page fault):</a:t>
            </a:r>
          </a:p>
          <a:p>
            <a:pPr marL="1371600" lvl="3" indent="-342900">
              <a:buAutoNum type="arabicPeriod"/>
            </a:pPr>
            <a:r>
              <a:rPr lang="en-US" sz="1200" dirty="0"/>
              <a:t>Fetch page from disk to MM</a:t>
            </a:r>
          </a:p>
          <a:p>
            <a:pPr marL="1371600" lvl="3" indent="-342900">
              <a:buAutoNum type="arabicPeriod"/>
            </a:pPr>
            <a:r>
              <a:rPr lang="en-US" sz="1200" dirty="0"/>
              <a:t>Update PT entry for the page</a:t>
            </a:r>
          </a:p>
          <a:p>
            <a:pPr marL="1371600" lvl="3" indent="-342900">
              <a:buAutoNum type="arabicPeriod"/>
            </a:pPr>
            <a:r>
              <a:rPr lang="en-US" sz="1200" dirty="0"/>
              <a:t>Load entry into TLB</a:t>
            </a:r>
          </a:p>
          <a:p>
            <a:pPr marL="342900" indent="-342900">
              <a:buAutoNum type="arabicPeriod"/>
            </a:pPr>
            <a:r>
              <a:rPr lang="en-US" sz="1800" dirty="0"/>
              <a:t>Check cache (input PA output Data)</a:t>
            </a:r>
          </a:p>
          <a:p>
            <a:pPr lvl="1"/>
            <a:r>
              <a:rPr lang="en-US" sz="1500" dirty="0">
                <a:solidFill>
                  <a:schemeClr val="accent4"/>
                </a:solidFill>
              </a:rPr>
              <a:t>Cache hit</a:t>
            </a:r>
            <a:r>
              <a:rPr lang="en-US" sz="1500" dirty="0"/>
              <a:t>: Return data to processor</a:t>
            </a:r>
          </a:p>
          <a:p>
            <a:pPr lvl="1"/>
            <a:r>
              <a:rPr lang="en-US" sz="1500" dirty="0">
                <a:solidFill>
                  <a:schemeClr val="accent4"/>
                </a:solidFill>
              </a:rPr>
              <a:t>Cache miss</a:t>
            </a:r>
            <a:r>
              <a:rPr lang="en-US" sz="1500" dirty="0"/>
              <a:t>: Fetch data from memory, store in cache and return it to processor</a:t>
            </a:r>
          </a:p>
        </p:txBody>
      </p:sp>
    </p:spTree>
    <p:extLst>
      <p:ext uri="{BB962C8B-B14F-4D97-AF65-F5344CB8AC3E}">
        <p14:creationId xmlns:p14="http://schemas.microsoft.com/office/powerpoint/2010/main" val="90044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10E1-1D56-EBA9-B832-FF3CE0D0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TLB entry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D078F-73F2-30DB-C44A-B8DBE2606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2239261"/>
            <a:ext cx="8972549" cy="333362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Valid</a:t>
            </a:r>
            <a:r>
              <a:rPr lang="en-US" dirty="0"/>
              <a:t> whether that TLB ENTRY is valid (unrelated to PT)</a:t>
            </a:r>
          </a:p>
          <a:p>
            <a:r>
              <a:rPr lang="en-US" dirty="0">
                <a:solidFill>
                  <a:schemeClr val="accent4"/>
                </a:solidFill>
              </a:rPr>
              <a:t>Access Rights</a:t>
            </a:r>
            <a:r>
              <a:rPr lang="en-US" dirty="0"/>
              <a:t>: Data from the PT</a:t>
            </a:r>
          </a:p>
          <a:p>
            <a:r>
              <a:rPr lang="en-US" dirty="0">
                <a:solidFill>
                  <a:schemeClr val="accent4"/>
                </a:solidFill>
              </a:rPr>
              <a:t>Dirty</a:t>
            </a:r>
            <a:r>
              <a:rPr lang="en-US" dirty="0"/>
              <a:t>: Consistent with PT</a:t>
            </a:r>
          </a:p>
          <a:p>
            <a:r>
              <a:rPr lang="en-US" dirty="0">
                <a:solidFill>
                  <a:schemeClr val="accent4"/>
                </a:solidFill>
              </a:rPr>
              <a:t>Ref</a:t>
            </a:r>
            <a:r>
              <a:rPr lang="en-US" dirty="0"/>
              <a:t>: Used to implement LRU</a:t>
            </a:r>
          </a:p>
          <a:p>
            <a:pPr lvl="1"/>
            <a:r>
              <a:rPr lang="en-US" dirty="0"/>
              <a:t>Set when page is accessed, cleared periodically by OS</a:t>
            </a:r>
          </a:p>
          <a:p>
            <a:r>
              <a:rPr lang="en-US" dirty="0">
                <a:solidFill>
                  <a:schemeClr val="accent4"/>
                </a:solidFill>
              </a:rPr>
              <a:t>PPN</a:t>
            </a:r>
            <a:r>
              <a:rPr lang="en-US" dirty="0"/>
              <a:t>: Data from PT</a:t>
            </a:r>
          </a:p>
          <a:p>
            <a:r>
              <a:rPr lang="en-US" dirty="0">
                <a:solidFill>
                  <a:schemeClr val="accent4"/>
                </a:solidFill>
              </a:rPr>
              <a:t>VPN</a:t>
            </a:r>
            <a:r>
              <a:rPr lang="en-US" dirty="0"/>
              <a:t>: Data from 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D588D-23DB-E22B-5136-62CE56C8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CBB0B-8493-2FB0-BA99-76A892D5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39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B5B0F-1DE3-EE03-1050-30761D2BF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792" y="1467842"/>
            <a:ext cx="5894417" cy="6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0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AAAF-11C7-A843-7330-D4F1EABD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page faults (PT misses)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2144B-E0CB-9B9A-2F4A-3E2AF3AE9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Load the page off the disk into a free page of memory</a:t>
            </a:r>
          </a:p>
          <a:p>
            <a:pPr lvl="1"/>
            <a:r>
              <a:rPr lang="en-US" dirty="0"/>
              <a:t>Switch to some other process while we wait</a:t>
            </a:r>
          </a:p>
          <a:p>
            <a:pPr lvl="1"/>
            <a:r>
              <a:rPr lang="en-US" dirty="0"/>
              <a:t>What happens to TLBs when we switch processes?</a:t>
            </a:r>
          </a:p>
          <a:p>
            <a:pPr lvl="1"/>
            <a:r>
              <a:rPr lang="en-US" dirty="0"/>
              <a:t>All entries must be set to invalid!</a:t>
            </a:r>
          </a:p>
          <a:p>
            <a:r>
              <a:rPr lang="en-US" dirty="0"/>
              <a:t>Interrupt thrown when page loaded and the process’ page table is updated</a:t>
            </a:r>
          </a:p>
          <a:p>
            <a:pPr lvl="1"/>
            <a:r>
              <a:rPr lang="en-US" dirty="0"/>
              <a:t>When we switch back to the task, the desired data will be in memory</a:t>
            </a:r>
          </a:p>
          <a:p>
            <a:r>
              <a:rPr lang="en-US" dirty="0"/>
              <a:t>If memory full, replace page (LRU), writing back if necessary, and update both page table entries</a:t>
            </a:r>
          </a:p>
          <a:p>
            <a:pPr lvl="1"/>
            <a:r>
              <a:rPr lang="en-US" dirty="0"/>
              <a:t>Continuous swapping between disk and memory called “thrashing”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5C88-876E-AA78-5E42-4AE34895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3E3D9-133B-C109-0418-9C51D54AE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3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3EA0-9B10-65A3-AA02-51CF8F1B7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VM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BFA98-A154-BD47-96CF-8BEAEFFBA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TLB miss rate</a:t>
            </a:r>
          </a:p>
          <a:p>
            <a:r>
              <a:rPr lang="en-US" dirty="0"/>
              <a:t>PT miss rate</a:t>
            </a:r>
          </a:p>
          <a:p>
            <a:endParaRPr lang="en-US" dirty="0"/>
          </a:p>
          <a:p>
            <a:r>
              <a:rPr lang="en-US" dirty="0"/>
              <a:t>Same AMAT equations, now considering MM as another ‘cache’ level</a:t>
            </a:r>
          </a:p>
          <a:p>
            <a:endParaRPr lang="en-US" dirty="0"/>
          </a:p>
          <a:p>
            <a:r>
              <a:rPr lang="en-US" dirty="0"/>
              <a:t>If TLB hit, can we say it will be a cache hit?</a:t>
            </a:r>
          </a:p>
          <a:p>
            <a:r>
              <a:rPr lang="en-US" dirty="0"/>
              <a:t>If cache hit, will it be a TLB hit also?</a:t>
            </a:r>
          </a:p>
          <a:p>
            <a:r>
              <a:rPr lang="en-US" dirty="0"/>
              <a:t>If TLB miss, will it be a cache miss?</a:t>
            </a:r>
          </a:p>
          <a:p>
            <a:r>
              <a:rPr lang="en-US" dirty="0"/>
              <a:t>If cache miss, will it be a TLB miss also?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FAA0E-76B9-1060-327B-84C00E56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F009-C954-604F-A3D0-68882A78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815A-4E02-2E38-EDB7-97DDA4D3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vs paging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BA8DE8-16FF-5CC9-18D7-27267A48D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200399"/>
            <a:ext cx="8839200" cy="3260723"/>
          </a:xfrm>
        </p:spPr>
        <p:txBody>
          <a:bodyPr/>
          <a:lstStyle/>
          <a:p>
            <a:r>
              <a:rPr lang="en-US" sz="2400" dirty="0"/>
              <a:t>Cache entry</a:t>
            </a:r>
          </a:p>
          <a:p>
            <a:r>
              <a:rPr lang="en-US" sz="2400" dirty="0"/>
              <a:t>Cache block (≈32 bytes)</a:t>
            </a:r>
          </a:p>
          <a:p>
            <a:r>
              <a:rPr lang="en-US" sz="2400" dirty="0"/>
              <a:t>Cache miss rate (≈1% – 20%)</a:t>
            </a:r>
          </a:p>
          <a:p>
            <a:r>
              <a:rPr lang="en-US" sz="2400" dirty="0"/>
              <a:t>Cache hit time (≈1 cycle)</a:t>
            </a:r>
          </a:p>
          <a:p>
            <a:r>
              <a:rPr lang="en-US" sz="2400" dirty="0"/>
              <a:t>Cache miss penalty (≈100 cycles)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E6C3D-AB19-6EDB-3F74-3636E6D5E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AD8D6-E031-FD14-D89E-0175CDEB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42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3450A54-A8E4-0A9A-2659-36D240CC55E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81600" y="3219450"/>
            <a:ext cx="3497262" cy="2571750"/>
          </a:xfrm>
        </p:spPr>
        <p:txBody>
          <a:bodyPr/>
          <a:lstStyle/>
          <a:p>
            <a:r>
              <a:rPr lang="en-US" sz="2400" dirty="0"/>
              <a:t>Page frame</a:t>
            </a:r>
          </a:p>
          <a:p>
            <a:r>
              <a:rPr lang="en-US" sz="2400" dirty="0"/>
              <a:t>Page (≈4 Ki bytes)</a:t>
            </a:r>
          </a:p>
          <a:p>
            <a:r>
              <a:rPr lang="en-US" sz="2400" dirty="0"/>
              <a:t>Page miss rate (&lt;0.001%)</a:t>
            </a:r>
          </a:p>
          <a:p>
            <a:r>
              <a:rPr lang="en-US" sz="2400" dirty="0"/>
              <a:t>Page hit time (≈100 cycles)</a:t>
            </a:r>
          </a:p>
          <a:p>
            <a:r>
              <a:rPr lang="en-US" sz="2400" dirty="0"/>
              <a:t>Page fault (≈5M cycles)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C58D79-C7BA-84F4-7F45-3874B709E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09" y="1425404"/>
            <a:ext cx="6015877" cy="155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7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CAB29A-16DB-9F21-375D-6F7004833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AMAT with paging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1B8512-38FA-38D6-CFC0-2553AD2F2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5" y="1609808"/>
            <a:ext cx="4821457" cy="463859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Memory Parameters:</a:t>
            </a:r>
          </a:p>
          <a:p>
            <a:r>
              <a:rPr lang="en-US" dirty="0"/>
              <a:t>L1 cache hit = 1 clock cycles, hit 95% of accesses</a:t>
            </a:r>
          </a:p>
          <a:p>
            <a:r>
              <a:rPr lang="en-US" dirty="0"/>
              <a:t>L2 cache hit = 10 clock cycles, hit 60% of L1 misses</a:t>
            </a:r>
          </a:p>
          <a:p>
            <a:r>
              <a:rPr lang="en-US" dirty="0"/>
              <a:t>DRAM = 200 clock cycles (≈100 nanoseconds)</a:t>
            </a:r>
          </a:p>
          <a:p>
            <a:r>
              <a:rPr lang="en-US" dirty="0"/>
              <a:t>Disk = 20,000,000 clock cycles (≈10 milliseconds)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Average Memory Access Time (no paging):</a:t>
            </a:r>
          </a:p>
          <a:p>
            <a:r>
              <a:rPr lang="en-US" dirty="0"/>
              <a:t>1 + 5%×10 + 5%×40%×200 = 5.5 clock cycles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Average Memory Access Time (with paging):</a:t>
            </a:r>
          </a:p>
          <a:p>
            <a:r>
              <a:rPr lang="en-US" dirty="0"/>
              <a:t>5.5 (AMAT with no paging) + ?</a:t>
            </a:r>
          </a:p>
          <a:p>
            <a:r>
              <a:rPr lang="pt-BR" dirty="0"/>
              <a:t>5.5 + 5%×40%× (1-HR</a:t>
            </a:r>
            <a:r>
              <a:rPr lang="pt-BR" baseline="-25000" dirty="0"/>
              <a:t>Mem</a:t>
            </a:r>
            <a:r>
              <a:rPr lang="pt-BR" dirty="0"/>
              <a:t>)×20,000,000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76584-A565-CF95-354D-0C0C67E4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464C-7207-4298-A27C-0CEAF85D3DD1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4D56-E6CA-65D0-60DE-30B33866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43</a:t>
            </a:fld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3F691EE-74F3-241E-3750-5CF6CAD26D9E}"/>
              </a:ext>
            </a:extLst>
          </p:cNvPr>
          <p:cNvSpPr txBox="1">
            <a:spLocks/>
          </p:cNvSpPr>
          <p:nvPr/>
        </p:nvSpPr>
        <p:spPr>
          <a:xfrm>
            <a:off x="4953000" y="1609808"/>
            <a:ext cx="3870356" cy="4486191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dirty="0"/>
              <a:t>AMAT if </a:t>
            </a:r>
            <a:r>
              <a:rPr lang="en-US" sz="1650" dirty="0" err="1"/>
              <a:t>HR</a:t>
            </a:r>
            <a:r>
              <a:rPr lang="en-US" sz="1650" baseline="-25000" dirty="0" err="1"/>
              <a:t>Mem</a:t>
            </a:r>
            <a:r>
              <a:rPr lang="en-US" sz="1650" dirty="0"/>
              <a:t> = 99%? </a:t>
            </a:r>
          </a:p>
          <a:p>
            <a:r>
              <a:rPr lang="en-US" sz="1650" dirty="0"/>
              <a:t>5.5 + 0.02×0.01×20,000,000 = 4005.5 (≈728x slower)</a:t>
            </a:r>
          </a:p>
          <a:p>
            <a:r>
              <a:rPr lang="en-US" sz="1650" dirty="0"/>
              <a:t>1 in 20,000 memory accesses goes to disk: 10 sec program takes 2 hours!</a:t>
            </a:r>
          </a:p>
          <a:p>
            <a:endParaRPr lang="en-US" sz="1650" dirty="0"/>
          </a:p>
          <a:p>
            <a:pPr marL="0" indent="0">
              <a:buNone/>
            </a:pPr>
            <a:r>
              <a:rPr lang="en-US" sz="1650" dirty="0"/>
              <a:t>AMAT if </a:t>
            </a:r>
            <a:r>
              <a:rPr lang="en-US" sz="1650" dirty="0" err="1"/>
              <a:t>HR</a:t>
            </a:r>
            <a:r>
              <a:rPr lang="en-US" sz="1650" baseline="-25000" dirty="0" err="1"/>
              <a:t>Mem</a:t>
            </a:r>
            <a:r>
              <a:rPr lang="en-US" sz="1650" dirty="0"/>
              <a:t> = 99.9%?</a:t>
            </a:r>
          </a:p>
          <a:p>
            <a:r>
              <a:rPr lang="en-US" sz="1650" dirty="0"/>
              <a:t>5.5 + 0.02×0.001×20,000,000 = 405.5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/>
              <a:t>AMAT if </a:t>
            </a:r>
            <a:r>
              <a:rPr lang="en-US" sz="1650" dirty="0" err="1"/>
              <a:t>HR</a:t>
            </a:r>
            <a:r>
              <a:rPr lang="en-US" sz="1650" baseline="-25000" dirty="0" err="1"/>
              <a:t>Mem</a:t>
            </a:r>
            <a:r>
              <a:rPr lang="en-US" sz="1650" dirty="0"/>
              <a:t> = 99.9999%?</a:t>
            </a:r>
          </a:p>
          <a:p>
            <a:r>
              <a:rPr lang="en-US" sz="1650" dirty="0"/>
              <a:t>5.5 + 0.02×0.000001×20,000,000 = 5.9</a:t>
            </a:r>
          </a:p>
          <a:p>
            <a:endParaRPr lang="en-US" sz="1650" dirty="0"/>
          </a:p>
          <a:p>
            <a:pPr marL="0" indent="0">
              <a:buNone/>
            </a:pPr>
            <a:r>
              <a:rPr lang="en-US" sz="1650" dirty="0"/>
              <a:t>What if we also consider MM page table access times (without TLBs)?</a:t>
            </a:r>
          </a:p>
        </p:txBody>
      </p:sp>
    </p:spTree>
    <p:extLst>
      <p:ext uri="{BB962C8B-B14F-4D97-AF65-F5344CB8AC3E}">
        <p14:creationId xmlns:p14="http://schemas.microsoft.com/office/powerpoint/2010/main" val="129668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6E29DC-502A-249E-EB04-8771A1467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505200"/>
            <a:ext cx="5266853" cy="2809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97CC62-347D-72F2-187C-020F3956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TLBs 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BF09E-D011-575C-DA2D-8726416C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Each TLB miss to Page Table ~ L1 Cache miss</a:t>
            </a:r>
          </a:p>
          <a:p>
            <a:r>
              <a:rPr lang="en-US" sz="2400" dirty="0"/>
              <a:t>TLB Reach: Amount of virtual address space that can be simultaneously mapped by TLB:</a:t>
            </a:r>
          </a:p>
          <a:p>
            <a:pPr lvl="1"/>
            <a:r>
              <a:rPr lang="en-US" sz="2000" dirty="0"/>
              <a:t>TLB typically has 128 entries of page size 4-8 KiB</a:t>
            </a:r>
          </a:p>
          <a:p>
            <a:pPr lvl="1"/>
            <a:r>
              <a:rPr lang="en-US" sz="2000" dirty="0"/>
              <a:t>128 × 4 KiB = 512 KiB = just 0.5 MiB</a:t>
            </a:r>
          </a:p>
          <a:p>
            <a:r>
              <a:rPr lang="en-US" sz="2400" dirty="0"/>
              <a:t>What can you do to have better performance?</a:t>
            </a:r>
          </a:p>
          <a:p>
            <a:pPr lvl="1"/>
            <a:r>
              <a:rPr lang="en-US" sz="2000" dirty="0"/>
              <a:t>Multi-level TLBs</a:t>
            </a:r>
          </a:p>
          <a:p>
            <a:pPr lvl="1"/>
            <a:r>
              <a:rPr lang="en-US" sz="2000" dirty="0"/>
              <a:t>Variable page size (segments)</a:t>
            </a:r>
          </a:p>
          <a:p>
            <a:pPr lvl="1"/>
            <a:r>
              <a:rPr lang="en-US" sz="2000" dirty="0"/>
              <a:t>Special situationally-used “</a:t>
            </a:r>
            <a:r>
              <a:rPr lang="en-US" sz="2000" dirty="0" err="1"/>
              <a:t>superpages</a:t>
            </a:r>
            <a:r>
              <a:rPr lang="en-US" sz="2000" dirty="0"/>
              <a:t>”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C2E3-6369-FCC0-9FFD-57543E98E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7990-60CD-FE58-3B94-452ED756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4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0C09-54DB-F446-FC13-537170CA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address translation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FAF364-F37F-D37E-4D85-C78BC4983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113" y="1841058"/>
            <a:ext cx="5994443" cy="350092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618E-EB2F-C38A-9A1E-9AF1F7B9E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15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84217-63AC-86F2-F361-F6B56AC9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09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19801</TotalTime>
  <Words>2564</Words>
  <Application>Microsoft Office PowerPoint</Application>
  <PresentationFormat>On-screen Show (4:3)</PresentationFormat>
  <Paragraphs>368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Computer Architecture</vt:lpstr>
      <vt:lpstr>How does the computer start up?</vt:lpstr>
      <vt:lpstr>What is an operating system?</vt:lpstr>
      <vt:lpstr>What does the OS do?</vt:lpstr>
      <vt:lpstr>Back to how a computer starts running programs…</vt:lpstr>
      <vt:lpstr>OSes are special – Supervisor mode</vt:lpstr>
      <vt:lpstr>Multiprogramming</vt:lpstr>
      <vt:lpstr>A picture for multiple applications in user mode</vt:lpstr>
      <vt:lpstr>A picture for multiple applications in user mode</vt:lpstr>
      <vt:lpstr>A picture for multiple applications in user mode</vt:lpstr>
      <vt:lpstr>A picture for multiple applications in user mode</vt:lpstr>
      <vt:lpstr>A picture for multiple applications in user mode</vt:lpstr>
      <vt:lpstr>A picture for multiple applications in user mode</vt:lpstr>
      <vt:lpstr>A picture for multiple applications in user mode</vt:lpstr>
      <vt:lpstr>A picture for multiple applications in user mode</vt:lpstr>
      <vt:lpstr>A picture for multiple applications in user mode</vt:lpstr>
      <vt:lpstr>A picture for multiple applications in user mode</vt:lpstr>
      <vt:lpstr>Multiprogramming requires protection, translation and paging</vt:lpstr>
      <vt:lpstr>Virtual memory – how it appears to the process</vt:lpstr>
      <vt:lpstr>Virtual memory – what it is actually like</vt:lpstr>
      <vt:lpstr>VM connects SM to MM</vt:lpstr>
      <vt:lpstr>Segmentation</vt:lpstr>
      <vt:lpstr>Problems with base and bound</vt:lpstr>
      <vt:lpstr>Paged memory</vt:lpstr>
      <vt:lpstr>Paged memory details</vt:lpstr>
      <vt:lpstr>Paged memory working</vt:lpstr>
      <vt:lpstr>Paged memory working</vt:lpstr>
      <vt:lpstr>Summary of virtual memory</vt:lpstr>
      <vt:lpstr>Address translation</vt:lpstr>
      <vt:lpstr>Page Tables</vt:lpstr>
      <vt:lpstr>How big is the page table?</vt:lpstr>
      <vt:lpstr>Using page tables leads to 2 PM accesses per VM access</vt:lpstr>
      <vt:lpstr>Linear page tables</vt:lpstr>
      <vt:lpstr>Hierarchical page tables</vt:lpstr>
      <vt:lpstr>May even have a multi-level hierarchy!</vt:lpstr>
      <vt:lpstr>Hierarchy means even more MM accesses per VM access!</vt:lpstr>
      <vt:lpstr>3 PM accesses per VM access – how can we make this faster?</vt:lpstr>
      <vt:lpstr>Finding data using TLBs and caches</vt:lpstr>
      <vt:lpstr>Typical TLB entry format</vt:lpstr>
      <vt:lpstr>Handling page faults (PT misses)</vt:lpstr>
      <vt:lpstr>Measuring VM performance</vt:lpstr>
      <vt:lpstr>Caching vs paging</vt:lpstr>
      <vt:lpstr>AMAT with paging</vt:lpstr>
      <vt:lpstr>Impact of TLBs on performance</vt:lpstr>
      <vt:lpstr>Summary of address translation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761</cp:revision>
  <dcterms:created xsi:type="dcterms:W3CDTF">2010-01-15T20:22:21Z</dcterms:created>
  <dcterms:modified xsi:type="dcterms:W3CDTF">2026-04-15T09:30:31Z</dcterms:modified>
</cp:coreProperties>
</file>