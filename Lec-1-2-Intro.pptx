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337" r:id="rId2"/>
    <p:sldId id="339" r:id="rId3"/>
    <p:sldId id="338" r:id="rId4"/>
    <p:sldId id="340" r:id="rId5"/>
    <p:sldId id="341" r:id="rId6"/>
    <p:sldId id="342" r:id="rId7"/>
    <p:sldId id="343" r:id="rId8"/>
    <p:sldId id="344" r:id="rId9"/>
    <p:sldId id="345" r:id="rId10"/>
    <p:sldId id="347" r:id="rId11"/>
    <p:sldId id="346" r:id="rId12"/>
    <p:sldId id="348" r:id="rId13"/>
    <p:sldId id="349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1/7/2026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HNwq2Dsxo8RRLPPK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LuvopVjAWg?feature=oembed" TargetMode="External"/><Relationship Id="rId6" Type="http://schemas.openxmlformats.org/officeDocument/2006/relationships/hyperlink" Target="https://www.evilmadscientist.com/2011/a-video-introduction-to-the-digi-comp-ii/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88B3-3B06-4E95-AF9C-02FCB127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362075"/>
          </a:xfrm>
        </p:spPr>
        <p:txBody>
          <a:bodyPr/>
          <a:lstStyle/>
          <a:p>
            <a:r>
              <a:rPr lang="en-US" dirty="0">
                <a:solidFill>
                  <a:srgbClr val="72C3E8"/>
                </a:solidFill>
              </a:rPr>
              <a:t>Introduction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E09265-F63B-4728-9FDF-3DA93EF6C9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3429000"/>
            <a:ext cx="7772400" cy="25908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Administratrivia</a:t>
            </a:r>
            <a:endParaRPr lang="en-US" dirty="0"/>
          </a:p>
          <a:p>
            <a:r>
              <a:rPr lang="en-US" dirty="0"/>
              <a:t>What is computer architecture?</a:t>
            </a:r>
          </a:p>
          <a:p>
            <a:r>
              <a:rPr lang="en-US" dirty="0"/>
              <a:t>Historical look at CA</a:t>
            </a:r>
          </a:p>
          <a:p>
            <a:r>
              <a:rPr lang="en-US" dirty="0"/>
              <a:t>The design of a computer (levels of abstraction)</a:t>
            </a:r>
          </a:p>
        </p:txBody>
      </p:sp>
    </p:spTree>
    <p:extLst>
      <p:ext uri="{BB962C8B-B14F-4D97-AF65-F5344CB8AC3E}">
        <p14:creationId xmlns:p14="http://schemas.microsoft.com/office/powerpoint/2010/main" val="89826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01BF510-3683-48EE-B74F-B532D1806EC9}"/>
              </a:ext>
            </a:extLst>
          </p:cNvPr>
          <p:cNvSpPr txBox="1">
            <a:spLocks/>
          </p:cNvSpPr>
          <p:nvPr/>
        </p:nvSpPr>
        <p:spPr bwMode="auto">
          <a:xfrm>
            <a:off x="4953000" y="1295400"/>
            <a:ext cx="4038600" cy="5259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Course page (</a:t>
            </a:r>
            <a:r>
              <a:rPr lang="en-US" dirty="0" err="1">
                <a:solidFill>
                  <a:srgbClr val="FFC000"/>
                </a:solidFill>
              </a:rPr>
              <a:t>rbbibcri</a:t>
            </a:r>
            <a:r>
              <a:rPr lang="en-US" dirty="0">
                <a:solidFill>
                  <a:srgbClr val="FFC000"/>
                </a:solidFill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In-class quizzes!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Code: UMGUPO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 err="1"/>
              <a:t>Administratrivia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9687"/>
            <a:ext cx="5181600" cy="52451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Evaluation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Midsemester exam: 25%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Comprehensive exam: 35%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In-class quizzes and attendance: 15%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performance and reports: 15%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exam: 10%</a:t>
            </a:r>
          </a:p>
          <a:p>
            <a:pPr>
              <a:spcBef>
                <a:spcPts val="100"/>
              </a:spcBef>
              <a:buFontTx/>
              <a:buChar char="-"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Reference books</a:t>
            </a:r>
          </a:p>
          <a:p>
            <a:pPr>
              <a:buFontTx/>
              <a:buChar char="-"/>
            </a:pPr>
            <a:r>
              <a:rPr lang="en-US" sz="2000" dirty="0"/>
              <a:t>Patterson and Hennessy, Computer Organization &amp; Design (RISC V edition)</a:t>
            </a:r>
          </a:p>
          <a:p>
            <a:pPr>
              <a:buFontTx/>
              <a:buChar char="-"/>
            </a:pPr>
            <a:r>
              <a:rPr lang="en-US" sz="2000" dirty="0"/>
              <a:t>Harris and Harris, Digital Design and Computer Architecture RISC‑V Edition</a:t>
            </a:r>
          </a:p>
          <a:p>
            <a:pPr>
              <a:buFontTx/>
              <a:buChar char="-"/>
            </a:pPr>
            <a:r>
              <a:rPr lang="en-US" sz="2000" dirty="0"/>
              <a:t>The elements of computing systems: building a modern computer from first principles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5A8A9-BF2C-45F1-A631-FF2101431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 b="5882"/>
          <a:stretch/>
        </p:blipFill>
        <p:spPr>
          <a:xfrm>
            <a:off x="4895849" y="1807346"/>
            <a:ext cx="2171700" cy="1916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A15331-11EC-4569-B543-A0F54B465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b="7858"/>
          <a:stretch/>
        </p:blipFill>
        <p:spPr>
          <a:xfrm>
            <a:off x="4895849" y="4235498"/>
            <a:ext cx="2171701" cy="18303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1F1394-2A9D-49CF-BE87-22EBFEE6C365}"/>
              </a:ext>
            </a:extLst>
          </p:cNvPr>
          <p:cNvSpPr txBox="1"/>
          <p:nvPr/>
        </p:nvSpPr>
        <p:spPr>
          <a:xfrm>
            <a:off x="6943725" y="4172761"/>
            <a:ext cx="2171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https://classy-6cf89.web.app</a:t>
            </a:r>
          </a:p>
        </p:txBody>
      </p:sp>
    </p:spTree>
    <p:extLst>
      <p:ext uri="{BB962C8B-B14F-4D97-AF65-F5344CB8AC3E}">
        <p14:creationId xmlns:p14="http://schemas.microsoft.com/office/powerpoint/2010/main" val="259776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8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0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5" end="3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uiExpand="1" build="p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D55A-9819-4F7D-A665-B05BEC00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975"/>
            <a:ext cx="6324600" cy="1195386"/>
          </a:xfrm>
        </p:spPr>
        <p:txBody>
          <a:bodyPr/>
          <a:lstStyle/>
          <a:p>
            <a:r>
              <a:rPr lang="en-US" dirty="0" err="1"/>
              <a:t>Administratrivia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F8D-7ECF-4905-B3CF-FAF0DE73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9688"/>
            <a:ext cx="8686800" cy="52895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Course related communication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Email communication will not be considered valid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All communication through Google </a:t>
            </a:r>
            <a:r>
              <a:rPr lang="en-US" sz="2000" dirty="0"/>
              <a:t>form only</a:t>
            </a:r>
            <a:br>
              <a:rPr lang="en-US" sz="2000" dirty="0"/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https://forms.gle/HNwq2Dsxo8RRLPPKA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(available on course page)</a:t>
            </a:r>
          </a:p>
          <a:p>
            <a:pPr>
              <a:spcBef>
                <a:spcPts val="100"/>
              </a:spcBef>
              <a:buFontTx/>
              <a:buChar char="-"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Office hours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Immediately after class is the best time to meet me</a:t>
            </a:r>
          </a:p>
          <a:p>
            <a:pPr>
              <a:buFontTx/>
              <a:buChar char="-"/>
            </a:pPr>
            <a:r>
              <a:rPr lang="en-US" sz="2000" dirty="0"/>
              <a:t>Otherwise by appointment (use the form above!)</a:t>
            </a:r>
          </a:p>
          <a:p>
            <a:pPr>
              <a:buFontTx/>
              <a:buChar char="-"/>
            </a:pPr>
            <a:endParaRPr lang="en-US" sz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Make-up</a:t>
            </a:r>
          </a:p>
          <a:p>
            <a:pPr>
              <a:buFontTx/>
              <a:buChar char="-"/>
            </a:pPr>
            <a:r>
              <a:rPr lang="en-US" sz="2000" dirty="0" err="1"/>
              <a:t>Midsem</a:t>
            </a:r>
            <a:r>
              <a:rPr lang="en-US" sz="2000" dirty="0"/>
              <a:t> / comprehensive – as per institute rules (valid documentation required ahead of time, to be submitted via form above!)</a:t>
            </a:r>
          </a:p>
          <a:p>
            <a:pPr>
              <a:buFontTx/>
              <a:buChar char="-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Labs – cannot miss unless valid reason (max 1), in which case marks will be scaled</a:t>
            </a:r>
          </a:p>
          <a:p>
            <a:pPr>
              <a:buFontTx/>
              <a:buChar char="-"/>
            </a:pPr>
            <a:r>
              <a:rPr lang="en-US" sz="2000" dirty="0"/>
              <a:t>In-class – none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0131-6E57-4E31-B843-E7775EDA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FA6EB-CF38-418D-B7C1-DD19F1B2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98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C4B7-6EC4-406B-A0AD-AB9BDD27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 of this course…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4A71-E017-4039-9C0C-909AA958A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should be able to</a:t>
            </a:r>
          </a:p>
          <a:p>
            <a:pPr marL="0" indent="0">
              <a:buNone/>
            </a:pPr>
            <a:endParaRPr lang="en-US" sz="1200" dirty="0"/>
          </a:p>
          <a:p>
            <a:pPr marL="514350" indent="-514350">
              <a:buAutoNum type="arabicPeriod"/>
            </a:pPr>
            <a:r>
              <a:rPr lang="en-US" dirty="0"/>
              <a:t>Build your own computer!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Understand and explain how a general purpose computer works in terms of building blocks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Explain cool new technologies that make computers faster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46FC-8A31-46DB-8FEA-0A40D81F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EE813-0A46-466B-AB83-3D7DB36E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62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37BE-38F7-4762-949F-9CF88018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why should I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1B30B-45DC-4334-B1C1-7D753D7F9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 want to write UPSC. Why bother about CA?</a:t>
            </a:r>
          </a:p>
          <a:p>
            <a:pPr lvl="1"/>
            <a:r>
              <a:rPr lang="en-US" dirty="0"/>
              <a:t>It is </a:t>
            </a:r>
            <a:r>
              <a:rPr lang="en-US" dirty="0" err="1"/>
              <a:t>funnn</a:t>
            </a:r>
            <a:r>
              <a:rPr lang="en-US" dirty="0"/>
              <a:t>! 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🙃</a:t>
            </a:r>
            <a:endParaRPr lang="en-US" dirty="0"/>
          </a:p>
          <a:p>
            <a:pPr lvl="1"/>
            <a:r>
              <a:rPr lang="en-US" dirty="0"/>
              <a:t>If the PM’s computer crashes, you can tell them where the power button is… </a:t>
            </a:r>
            <a:r>
              <a:rPr lang="en-US" i="1" dirty="0"/>
              <a:t>with authority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😮</a:t>
            </a:r>
            <a:endParaRPr lang="en-US" dirty="0"/>
          </a:p>
          <a:p>
            <a:r>
              <a:rPr lang="en-US" dirty="0"/>
              <a:t>I want an SDE job. Why bother about CA?</a:t>
            </a:r>
          </a:p>
          <a:p>
            <a:pPr lvl="1"/>
            <a:r>
              <a:rPr lang="en-US" dirty="0"/>
              <a:t>Understanding CA will help you write much more efficient code</a:t>
            </a:r>
          </a:p>
          <a:p>
            <a:pPr lvl="1"/>
            <a:r>
              <a:rPr lang="en-US" dirty="0"/>
              <a:t>Depends on the kind of software you are building…</a:t>
            </a:r>
          </a:p>
          <a:p>
            <a:pPr lvl="1"/>
            <a:r>
              <a:rPr lang="en-US" dirty="0"/>
              <a:t>Cat accessory shopping website… back to the UPSC example 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😮‍💨</a:t>
            </a:r>
            <a:endParaRPr lang="en-US" dirty="0"/>
          </a:p>
          <a:p>
            <a:pPr lvl="1"/>
            <a:r>
              <a:rPr lang="en-US" dirty="0"/>
              <a:t>Data analytics / ML: surely improve your code performance!</a:t>
            </a:r>
          </a:p>
          <a:p>
            <a:pPr lvl="1"/>
            <a:r>
              <a:rPr lang="en-US" dirty="0"/>
              <a:t>OS, embedded, robotics, cloud, compiler development: extremely important</a:t>
            </a:r>
          </a:p>
          <a:p>
            <a:r>
              <a:rPr lang="en-US" dirty="0"/>
              <a:t>I am a hardcore </a:t>
            </a:r>
            <a:r>
              <a:rPr lang="en-US" i="1" dirty="0"/>
              <a:t>ELECTRICAL ENGINEER</a:t>
            </a:r>
            <a:endParaRPr lang="en-US" dirty="0"/>
          </a:p>
          <a:p>
            <a:pPr lvl="1"/>
            <a:r>
              <a:rPr lang="en-US" dirty="0"/>
              <a:t>Indispensable for VLSI design, semiconductor roles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E44BA-30B8-4B29-A944-0172F09E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51D65-5CD1-49F5-8B7F-1E4254B9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1594BB-430C-4A5B-BDEA-5761C0BAB931}"/>
              </a:ext>
            </a:extLst>
          </p:cNvPr>
          <p:cNvSpPr/>
          <p:nvPr/>
        </p:nvSpPr>
        <p:spPr>
          <a:xfrm>
            <a:off x="4191000" y="16191"/>
            <a:ext cx="4953000" cy="898209"/>
          </a:xfrm>
          <a:prstGeom prst="ellipse">
            <a:avLst/>
          </a:prstGeom>
          <a:solidFill>
            <a:srgbClr val="EA3F26"/>
          </a:solidFill>
          <a:ln>
            <a:solidFill>
              <a:srgbClr val="EA3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Friday 8 pm: Interact with a recent grad from industry to learn more!</a:t>
            </a:r>
          </a:p>
        </p:txBody>
      </p:sp>
    </p:spTree>
    <p:extLst>
      <p:ext uri="{BB962C8B-B14F-4D97-AF65-F5344CB8AC3E}">
        <p14:creationId xmlns:p14="http://schemas.microsoft.com/office/powerpoint/2010/main" val="378214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C85E-9183-4B65-B4C2-2B762772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computer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2CFCB-FF64-48B6-9984-D4E794D0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49361"/>
            <a:ext cx="8839200" cy="5211762"/>
          </a:xfrm>
        </p:spPr>
        <p:txBody>
          <a:bodyPr/>
          <a:lstStyle/>
          <a:p>
            <a:r>
              <a:rPr lang="en-US" dirty="0"/>
              <a:t>What is a computer?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 computer is an information manipulation system that operates on data according to a set of predefined, stored instructions (a program)</a:t>
            </a:r>
          </a:p>
          <a:p>
            <a:r>
              <a:rPr lang="en-US" dirty="0"/>
              <a:t>What is architecture?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Architecture is the conceptual framework or underlying structure that organizes complex systems, whether physical (buildings, cities) or digital (software, organizations), to create order, meaning, and functionality</a:t>
            </a:r>
            <a:endParaRPr lang="en-US" sz="1800" dirty="0"/>
          </a:p>
          <a:p>
            <a:r>
              <a:rPr lang="en-US" dirty="0"/>
              <a:t>So what is ‘computer architecture?</a:t>
            </a:r>
          </a:p>
          <a:p>
            <a:pPr marL="0" indent="0">
              <a:buNone/>
            </a:pPr>
            <a:r>
              <a:rPr lang="en-US" sz="2000" dirty="0"/>
              <a:t>Computer architecture is the functional design and structure of a computer system. It focuses on how a computer’s hardware components, like the CPU and memory, work together to execute instructions efficiently.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42A2-A25C-4D58-902F-1F84C040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21B86-FE92-4831-B3B4-5C0C7921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EF44D-1E42-4198-9ABA-32CF904A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25874"/>
            <a:ext cx="4419600" cy="1359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D9216A-00EF-41A3-B7FE-7B0E0442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89238"/>
            <a:ext cx="4495800" cy="127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0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EC95-6A3A-4D5A-8A6C-770C5B4E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through the 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8248-8DE1-422A-AF64-9584AD72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F4FDE-E3B2-48E5-9A7F-8EFF8B25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60F27C-5CCA-4336-A8DA-8C48A4650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333" b="94000"/>
          <a:stretch/>
        </p:blipFill>
        <p:spPr>
          <a:xfrm>
            <a:off x="0" y="1676400"/>
            <a:ext cx="2438400" cy="258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5B1ECF-ADCB-4CD2-BB5F-484C4365E6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" r="73333" b="57598"/>
          <a:stretch/>
        </p:blipFill>
        <p:spPr>
          <a:xfrm>
            <a:off x="0" y="1676400"/>
            <a:ext cx="2438400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78B407-ECE9-452A-BCC9-3C7EE87D64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" r="73333" b="1058"/>
          <a:stretch/>
        </p:blipFill>
        <p:spPr>
          <a:xfrm>
            <a:off x="0" y="1676400"/>
            <a:ext cx="2438400" cy="426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C1F80-5706-425A-AF49-11DE9E145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" r="-35" b="94702"/>
          <a:stretch/>
        </p:blipFill>
        <p:spPr>
          <a:xfrm>
            <a:off x="-3048" y="1676400"/>
            <a:ext cx="9147048" cy="228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B83F82-63FE-427A-BA61-DBBF85ED76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32" t="5296" r="32467" b="15189"/>
          <a:stretch/>
        </p:blipFill>
        <p:spPr>
          <a:xfrm>
            <a:off x="2514600" y="1904998"/>
            <a:ext cx="3657600" cy="3429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92149B-E27A-441D-868F-047FC4158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32" t="5296" r="-34" b="519"/>
          <a:stretch/>
        </p:blipFill>
        <p:spPr>
          <a:xfrm>
            <a:off x="2514600" y="1914144"/>
            <a:ext cx="6629400" cy="406162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2753A3-8D48-46E4-A6A6-23E34D790937}"/>
              </a:ext>
            </a:extLst>
          </p:cNvPr>
          <p:cNvGrpSpPr/>
          <p:nvPr/>
        </p:nvGrpSpPr>
        <p:grpSpPr>
          <a:xfrm>
            <a:off x="1219200" y="6086752"/>
            <a:ext cx="7086600" cy="369332"/>
            <a:chOff x="1219200" y="6086752"/>
            <a:chExt cx="708660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B38B1A-A07E-4DE7-A833-2C1530E4189F}"/>
                </a:ext>
              </a:extLst>
            </p:cNvPr>
            <p:cNvSpPr txBox="1"/>
            <p:nvPr/>
          </p:nvSpPr>
          <p:spPr>
            <a:xfrm>
              <a:off x="1219200" y="6086752"/>
              <a:ext cx="1447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Mechanical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C2B494-F688-41E5-A7D5-AF5BAC9D820F}"/>
                </a:ext>
              </a:extLst>
            </p:cNvPr>
            <p:cNvSpPr txBox="1"/>
            <p:nvPr/>
          </p:nvSpPr>
          <p:spPr>
            <a:xfrm>
              <a:off x="6858000" y="6086752"/>
              <a:ext cx="1447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Electronic</a:t>
              </a:r>
              <a:endParaRPr lang="en-US" dirty="0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10044AA1-E69C-4A05-A7B9-658DD4E48D60}"/>
                </a:ext>
              </a:extLst>
            </p:cNvPr>
            <p:cNvSpPr/>
            <p:nvPr/>
          </p:nvSpPr>
          <p:spPr>
            <a:xfrm>
              <a:off x="2667000" y="6244827"/>
              <a:ext cx="4114800" cy="53182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9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567B-0008-4D17-8028-C18728BA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mechanical binary computer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8A3AB4-776F-41A4-9A2A-FCEA96F5A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257" y="1416843"/>
            <a:ext cx="3264916" cy="50149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1DA9-65BA-407B-96EE-159F3130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A632B-9260-4077-9133-23197A43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2050" name="Picture 2" descr="Digi-Comp II - 01">
            <a:extLst>
              <a:ext uri="{FF2B5EF4-FFF2-40B4-BE49-F238E27FC236}">
                <a16:creationId xmlns:a16="http://schemas.microsoft.com/office/drawing/2014/main" id="{1AD6DF26-FDE1-4520-8367-CECCF7C53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667" y="1416844"/>
            <a:ext cx="2598333" cy="194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nline Media 7" title="Giant Digi-Comp II">
            <a:hlinkClick r:id="" action="ppaction://media"/>
            <a:extLst>
              <a:ext uri="{FF2B5EF4-FFF2-40B4-BE49-F238E27FC236}">
                <a16:creationId xmlns:a16="http://schemas.microsoft.com/office/drawing/2014/main" id="{2A4EE8E6-0F76-4298-BFC1-F5CCF6C3DD4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878667" y="3533077"/>
            <a:ext cx="5130404" cy="28986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3D9ACC-DCCF-4BCE-90A0-A34153C45381}"/>
              </a:ext>
            </a:extLst>
          </p:cNvPr>
          <p:cNvSpPr txBox="1"/>
          <p:nvPr/>
        </p:nvSpPr>
        <p:spPr>
          <a:xfrm>
            <a:off x="1223772" y="6519446"/>
            <a:ext cx="6696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6"/>
              </a:rPr>
              <a:t>A video introduction to the Digi-Comp II | Evil Mad Scientist Laboratories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397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850A-81E4-4B8F-B9AB-4281E589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429000"/>
            <a:ext cx="7772400" cy="990600"/>
          </a:xfrm>
        </p:spPr>
        <p:txBody>
          <a:bodyPr/>
          <a:lstStyle/>
          <a:p>
            <a:r>
              <a:rPr lang="en-US" dirty="0">
                <a:solidFill>
                  <a:srgbClr val="72C3E8"/>
                </a:solidFill>
              </a:rPr>
              <a:t>How to design a computer?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1C4B5-CB5A-49FD-9765-E4A0154E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68DF7-C1E5-4695-84DD-D6962DB6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369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EE3B-EA3C-4CA2-B6C6-8B2CF508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solve a problem using a computer?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24201C-AC0E-42A3-A8D3-2E199793A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8059"/>
          <a:stretch/>
        </p:blipFill>
        <p:spPr>
          <a:xfrm>
            <a:off x="290584" y="1446213"/>
            <a:ext cx="8562832" cy="16017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B4B6A-C3FC-4D2E-A08E-15841E41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D5E08-7437-488E-AF74-03EA7247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7FC7F8F9-6351-4AAF-AE71-059C7E64D7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874"/>
          <a:stretch/>
        </p:blipFill>
        <p:spPr bwMode="auto">
          <a:xfrm>
            <a:off x="290584" y="1446212"/>
            <a:ext cx="8562832" cy="2714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65A63F1B-4317-4CF6-8992-00268564A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993"/>
          <a:stretch/>
        </p:blipFill>
        <p:spPr bwMode="auto">
          <a:xfrm>
            <a:off x="287536" y="1446212"/>
            <a:ext cx="8562832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A406ABC6-2C6D-46B7-881F-8EB0E71127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319"/>
          <a:stretch/>
        </p:blipFill>
        <p:spPr bwMode="auto">
          <a:xfrm>
            <a:off x="284488" y="1446212"/>
            <a:ext cx="8562832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490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70EF5-67FC-403E-A6B6-48F7A0D1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solve a problem using a computer?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274042-6D2D-4B67-AC0E-4FCC2935F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447800"/>
            <a:ext cx="8604868" cy="49741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A7E44-CD6B-4E98-9B45-F8FE9E7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CA9C5-CB49-4DB8-BA38-81997B05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548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A73B2-70C6-42F6-8B86-016D0B8E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208E7-3751-458E-8D63-2356C827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7AAA841-F770-4AAB-9D40-4948EBC6B9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99" r="-12230"/>
          <a:stretch/>
        </p:blipFill>
        <p:spPr bwMode="auto">
          <a:xfrm>
            <a:off x="-64008" y="0"/>
            <a:ext cx="9208007" cy="6858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4974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10951</TotalTime>
  <Words>579</Words>
  <Application>Microsoft Office PowerPoint</Application>
  <PresentationFormat>On-screen Show (4:3)</PresentationFormat>
  <Paragraphs>104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Computer Architecture</vt:lpstr>
      <vt:lpstr>Introduction</vt:lpstr>
      <vt:lpstr>Administratrivia</vt:lpstr>
      <vt:lpstr>Administratrivia</vt:lpstr>
      <vt:lpstr>At the end of this course…</vt:lpstr>
      <vt:lpstr>And why should I care?</vt:lpstr>
      <vt:lpstr>What is computer architecture?</vt:lpstr>
      <vt:lpstr>Computers through the ages</vt:lpstr>
      <vt:lpstr>A simple mechanical binary computer</vt:lpstr>
      <vt:lpstr>How to design a computer?</vt:lpstr>
      <vt:lpstr>How do we solve a problem using a computer?</vt:lpstr>
      <vt:lpstr>How do we solve a problem using a computer?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584</cp:revision>
  <dcterms:created xsi:type="dcterms:W3CDTF">2010-01-15T20:22:21Z</dcterms:created>
  <dcterms:modified xsi:type="dcterms:W3CDTF">2026-01-07T08:38:32Z</dcterms:modified>
</cp:coreProperties>
</file>