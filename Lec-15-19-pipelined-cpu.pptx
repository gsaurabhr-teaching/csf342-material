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337" r:id="rId2"/>
    <p:sldId id="436" r:id="rId3"/>
    <p:sldId id="437" r:id="rId4"/>
    <p:sldId id="344" r:id="rId5"/>
    <p:sldId id="345" r:id="rId6"/>
    <p:sldId id="438" r:id="rId7"/>
    <p:sldId id="439" r:id="rId8"/>
    <p:sldId id="441" r:id="rId9"/>
    <p:sldId id="442" r:id="rId10"/>
    <p:sldId id="346" r:id="rId11"/>
    <p:sldId id="348" r:id="rId12"/>
    <p:sldId id="443" r:id="rId13"/>
    <p:sldId id="444" r:id="rId14"/>
    <p:sldId id="350" r:id="rId15"/>
    <p:sldId id="351" r:id="rId16"/>
    <p:sldId id="352" r:id="rId17"/>
    <p:sldId id="353" r:id="rId18"/>
    <p:sldId id="354" r:id="rId19"/>
    <p:sldId id="355" r:id="rId20"/>
    <p:sldId id="356" r:id="rId2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72C3E8"/>
    <a:srgbClr val="EA3F26"/>
    <a:srgbClr val="FCD5B5"/>
    <a:srgbClr val="8EB4E3"/>
    <a:srgbClr val="D7E4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88284" autoAdjust="0"/>
  </p:normalViewPr>
  <p:slideViewPr>
    <p:cSldViewPr>
      <p:cViewPr varScale="1">
        <p:scale>
          <a:sx n="91" d="100"/>
          <a:sy n="91" d="100"/>
        </p:scale>
        <p:origin x="918" y="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2/23/2026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79DCCC-EBE2-44AD-8EA0-6F319820E96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22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1" descr="Picture 7.png">
            <a:extLst>
              <a:ext uri="{FF2B5EF4-FFF2-40B4-BE49-F238E27FC236}">
                <a16:creationId xmlns:a16="http://schemas.microsoft.com/office/drawing/2014/main" id="{69F4A35B-A00F-8EED-48E9-204F141569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2C3E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44638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D4032-0DCD-4B56-8C1A-A046DCFB4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048000"/>
            <a:ext cx="7772400" cy="312420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52400" y="53975"/>
            <a:ext cx="6324600" cy="1195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52400" y="1446211"/>
            <a:ext cx="8839200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99238"/>
            <a:ext cx="1828800" cy="258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599238"/>
            <a:ext cx="28956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,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0" y="6599238"/>
            <a:ext cx="4572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B1A82462-8175-42D8-B46C-67766E05E74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18">
            <a:extLst>
              <a:ext uri="{FF2B5EF4-FFF2-40B4-BE49-F238E27FC236}">
                <a16:creationId xmlns:a16="http://schemas.microsoft.com/office/drawing/2014/main" id="{F71B9737-4DA8-4B8F-9335-5F2A7C90653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2335E3-1C88-4FEB-B3EA-2686D6520BD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7711E8-77A4-4937-A983-1A5FDBFC08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71875C-BA0F-4B96-BF59-4025A49FA02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C2B4447A-9437-4C8F-B654-838CD5BB86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377527-4981-49F2-8F12-B5DB6F06612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B94671-9EEF-4175-9164-57B69291B8A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2EC7A3-548A-4998-81D6-DC9D9CECAAD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44" r:id="rId2"/>
    <p:sldLayoutId id="2147484834" r:id="rId3"/>
    <p:sldLayoutId id="2147484835" r:id="rId4"/>
    <p:sldLayoutId id="2147484836" r:id="rId5"/>
    <p:sldLayoutId id="2147484837" r:id="rId6"/>
    <p:sldLayoutId id="2147484838" r:id="rId7"/>
    <p:sldLayoutId id="2147484839" r:id="rId8"/>
    <p:sldLayoutId id="2147484840" r:id="rId9"/>
    <p:sldLayoutId id="2147484841" r:id="rId10"/>
    <p:sldLayoutId id="2147484842" r:id="rId11"/>
    <p:sldLayoutId id="2147484843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72C3E8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Computer Architecture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000" dirty="0"/>
              <a:t>Prof. Saurabh Gandhi (EEE department)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66C2A-CA34-4E01-AD5C-78E835848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Microprogramming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F07FB-2B66-45BE-B34D-AC1A7E92D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6DBEC6-862C-44B4-B6E4-A872E69D35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2667000"/>
            <a:ext cx="7772400" cy="31242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Pain points for hardwired FSM control</a:t>
            </a:r>
          </a:p>
          <a:p>
            <a:r>
              <a:rPr lang="en-US" dirty="0"/>
              <a:t>State explosion for rich ISAs</a:t>
            </a:r>
          </a:p>
          <a:p>
            <a:r>
              <a:rPr lang="en-US" dirty="0"/>
              <a:t>Difficult to modify / extend instruction set in a modular fashion</a:t>
            </a:r>
          </a:p>
          <a:p>
            <a:r>
              <a:rPr lang="en-US" dirty="0"/>
              <a:t>Difficult verification (verify everything after any modification</a:t>
            </a:r>
          </a:p>
          <a:p>
            <a:r>
              <a:rPr lang="en-US" dirty="0"/>
              <a:t>Irregular structure – difficult to optimize in silicon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F6149F9-AC43-B143-FA9F-C4BBA38720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99238"/>
            <a:ext cx="1828800" cy="258762"/>
          </a:xfrm>
        </p:spPr>
        <p:txBody>
          <a:bodyPr/>
          <a:lstStyle/>
          <a:p>
            <a:fld id="{B4B13859-67C5-4393-B6C2-556CF3F770C0}" type="datetime3">
              <a:rPr lang="en-US" smtClean="0"/>
              <a:t>23 February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59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6199D-6238-4C0E-B579-342DDB23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975"/>
            <a:ext cx="6629400" cy="1195386"/>
          </a:xfrm>
        </p:spPr>
        <p:txBody>
          <a:bodyPr/>
          <a:lstStyle/>
          <a:p>
            <a:r>
              <a:rPr lang="en-US" dirty="0"/>
              <a:t>A computer inside the computer – making control itself a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EBEDE-B459-4B37-B01E-8D82C671E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Break up instruction processing into </a:t>
            </a:r>
            <a:r>
              <a:rPr lang="en-US" i="1" dirty="0"/>
              <a:t>microinstructions</a:t>
            </a:r>
            <a:endParaRPr lang="en-US" dirty="0"/>
          </a:p>
          <a:p>
            <a:r>
              <a:rPr lang="en-US" dirty="0"/>
              <a:t>Several microinstructions </a:t>
            </a:r>
            <a:r>
              <a:rPr lang="en-US" dirty="0">
                <a:sym typeface="Wingdings" panose="05000000000000000000" pitchFamily="2" charset="2"/>
              </a:rPr>
              <a:t> single instruction</a:t>
            </a:r>
          </a:p>
          <a:p>
            <a:r>
              <a:rPr lang="en-US" dirty="0">
                <a:sym typeface="Wingdings" panose="05000000000000000000" pitchFamily="2" charset="2"/>
              </a:rPr>
              <a:t>FSM State  microinstruction</a:t>
            </a:r>
          </a:p>
          <a:p>
            <a:r>
              <a:rPr lang="en-US" dirty="0">
                <a:sym typeface="Wingdings" panose="05000000000000000000" pitchFamily="2" charset="2"/>
              </a:rPr>
              <a:t>Control signals for each microinstruction stored in ROM</a:t>
            </a:r>
          </a:p>
          <a:p>
            <a:r>
              <a:rPr lang="en-US" dirty="0"/>
              <a:t>µPC (Micro-Program Counter): Points to the current micro-instruction</a:t>
            </a:r>
          </a:p>
          <a:p>
            <a:r>
              <a:rPr lang="en-US" dirty="0"/>
              <a:t>Address Select Logic: Decides the next µPC (state transition in our FSM)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575471-E449-4068-B307-B037EA274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DD8FD825-8547-4437-DB1C-EA4949BC18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99238"/>
            <a:ext cx="1828800" cy="258762"/>
          </a:xfrm>
        </p:spPr>
        <p:txBody>
          <a:bodyPr/>
          <a:lstStyle/>
          <a:p>
            <a:fld id="{B4B13859-67C5-4393-B6C2-556CF3F770C0}" type="datetime3">
              <a:rPr lang="en-US" smtClean="0"/>
              <a:t>23 February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291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C3DC-F384-5322-E88A-FF4562B67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50" y="277671"/>
            <a:ext cx="5452110" cy="790420"/>
          </a:xfrm>
        </p:spPr>
        <p:txBody>
          <a:bodyPr>
            <a:noAutofit/>
          </a:bodyPr>
          <a:lstStyle/>
          <a:p>
            <a:r>
              <a:rPr lang="en-US" dirty="0"/>
              <a:t>Microprogramming – </a:t>
            </a:r>
            <a:r>
              <a:rPr lang="en-US" dirty="0" err="1"/>
              <a:t>datapath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CF819-8B30-A34D-7BCA-CF118A7E8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9C3B05-9FB8-D933-1748-2E3F0E8DD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71600"/>
            <a:ext cx="8668424" cy="5136365"/>
          </a:xfrm>
          <a:prstGeom prst="rect">
            <a:avLst/>
          </a:prstGeom>
        </p:spPr>
      </p:pic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A382A41-2180-A4F3-BB6B-CD62B631D1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99238"/>
            <a:ext cx="1828800" cy="258762"/>
          </a:xfrm>
        </p:spPr>
        <p:txBody>
          <a:bodyPr/>
          <a:lstStyle/>
          <a:p>
            <a:fld id="{B4B13859-67C5-4393-B6C2-556CF3F770C0}" type="datetime3">
              <a:rPr lang="en-US" smtClean="0"/>
              <a:t>23 February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5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7ADCE-A6D4-4A75-692E-D39D2B1DC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Microprogramming –</a:t>
            </a:r>
            <a:br>
              <a:rPr lang="en-US" dirty="0"/>
            </a:br>
            <a:r>
              <a:rPr lang="en-US" dirty="0"/>
              <a:t>control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F101B-B7FB-A4E3-71BF-C2604B205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5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C316549-946D-4BD2-099B-3050DF5591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43666" y="1211502"/>
            <a:ext cx="4900334" cy="2903631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FB476FBA-A198-3196-51E0-7FC2E3526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471601"/>
              </p:ext>
            </p:extLst>
          </p:nvPr>
        </p:nvGraphicFramePr>
        <p:xfrm>
          <a:off x="70752" y="4255602"/>
          <a:ext cx="9002496" cy="2221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145">
                  <a:extLst>
                    <a:ext uri="{9D8B030D-6E8A-4147-A177-3AD203B41FA5}">
                      <a16:colId xmlns:a16="http://schemas.microsoft.com/office/drawing/2014/main" val="3409475837"/>
                    </a:ext>
                  </a:extLst>
                </a:gridCol>
                <a:gridCol w="876067">
                  <a:extLst>
                    <a:ext uri="{9D8B030D-6E8A-4147-A177-3AD203B41FA5}">
                      <a16:colId xmlns:a16="http://schemas.microsoft.com/office/drawing/2014/main" val="3145596914"/>
                    </a:ext>
                  </a:extLst>
                </a:gridCol>
                <a:gridCol w="383572">
                  <a:extLst>
                    <a:ext uri="{9D8B030D-6E8A-4147-A177-3AD203B41FA5}">
                      <a16:colId xmlns:a16="http://schemas.microsoft.com/office/drawing/2014/main" val="2588116087"/>
                    </a:ext>
                  </a:extLst>
                </a:gridCol>
                <a:gridCol w="510017">
                  <a:extLst>
                    <a:ext uri="{9D8B030D-6E8A-4147-A177-3AD203B41FA5}">
                      <a16:colId xmlns:a16="http://schemas.microsoft.com/office/drawing/2014/main" val="426977723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110849297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187081511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16847916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39766772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26556165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31605215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5381892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70807453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6434559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83528078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11738407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736024512"/>
                    </a:ext>
                  </a:extLst>
                </a:gridCol>
                <a:gridCol w="375095">
                  <a:extLst>
                    <a:ext uri="{9D8B030D-6E8A-4147-A177-3AD203B41FA5}">
                      <a16:colId xmlns:a16="http://schemas.microsoft.com/office/drawing/2014/main" val="556831134"/>
                    </a:ext>
                  </a:extLst>
                </a:gridCol>
              </a:tblGrid>
              <a:tr h="211202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State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Pseudocode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IRLd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RegSel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RegWr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RegEn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ALd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BLd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ALUop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ALUen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MALd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MemWr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MemEn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ImmSel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ImmEn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mBr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Nxt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extLst>
                  <a:ext uri="{0D108BD9-81ED-4DB2-BD59-A6C34878D82A}">
                    <a16:rowId xmlns:a16="http://schemas.microsoft.com/office/drawing/2014/main" val="2602937028"/>
                  </a:ext>
                </a:extLst>
              </a:tr>
              <a:tr h="285514">
                <a:tc>
                  <a:txBody>
                    <a:bodyPr/>
                    <a:lstStyle/>
                    <a:p>
                      <a:r>
                        <a:rPr lang="en-US" sz="1200" b="1" dirty="0"/>
                        <a:t>F0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PC-&gt;MA, A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*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PC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*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*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*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extLst>
                  <a:ext uri="{0D108BD9-81ED-4DB2-BD59-A6C34878D82A}">
                    <a16:rowId xmlns:a16="http://schemas.microsoft.com/office/drawing/2014/main" val="2709571622"/>
                  </a:ext>
                </a:extLst>
              </a:tr>
              <a:tr h="285514">
                <a:tc>
                  <a:txBody>
                    <a:bodyPr/>
                    <a:lstStyle/>
                    <a:p>
                      <a:r>
                        <a:rPr lang="en-US" sz="1200" b="1" dirty="0"/>
                        <a:t>F1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Mem-&gt;IR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*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*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*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*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extLst>
                  <a:ext uri="{0D108BD9-81ED-4DB2-BD59-A6C34878D82A}">
                    <a16:rowId xmlns:a16="http://schemas.microsoft.com/office/drawing/2014/main" val="1260935910"/>
                  </a:ext>
                </a:extLst>
              </a:tr>
              <a:tr h="285514">
                <a:tc>
                  <a:txBody>
                    <a:bodyPr/>
                    <a:lstStyle/>
                    <a:p>
                      <a:r>
                        <a:rPr lang="en-US" sz="1200" b="1" dirty="0"/>
                        <a:t>F2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ALU-&gt;PC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PC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*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INC_A_4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*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*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extLst>
                  <a:ext uri="{0D108BD9-81ED-4DB2-BD59-A6C34878D82A}">
                    <a16:rowId xmlns:a16="http://schemas.microsoft.com/office/drawing/2014/main" val="1875999785"/>
                  </a:ext>
                </a:extLst>
              </a:tr>
              <a:tr h="285514">
                <a:tc>
                  <a:txBody>
                    <a:bodyPr/>
                    <a:lstStyle/>
                    <a:p>
                      <a:r>
                        <a:rPr lang="en-US" sz="1200" b="1" dirty="0"/>
                        <a:t>ADD0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R[t1]-&gt;A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extLst>
                  <a:ext uri="{0D108BD9-81ED-4DB2-BD59-A6C34878D82A}">
                    <a16:rowId xmlns:a16="http://schemas.microsoft.com/office/drawing/2014/main" val="2405993172"/>
                  </a:ext>
                </a:extLst>
              </a:tr>
              <a:tr h="285514">
                <a:tc>
                  <a:txBody>
                    <a:bodyPr/>
                    <a:lstStyle/>
                    <a:p>
                      <a:r>
                        <a:rPr lang="en-US" sz="1200" b="1" dirty="0"/>
                        <a:t>ADD1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R[t2]-&gt;B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extLst>
                  <a:ext uri="{0D108BD9-81ED-4DB2-BD59-A6C34878D82A}">
                    <a16:rowId xmlns:a16="http://schemas.microsoft.com/office/drawing/2014/main" val="1820389711"/>
                  </a:ext>
                </a:extLst>
              </a:tr>
              <a:tr h="285514">
                <a:tc>
                  <a:txBody>
                    <a:bodyPr/>
                    <a:lstStyle/>
                    <a:p>
                      <a:r>
                        <a:rPr lang="en-US" sz="1200" b="1" dirty="0"/>
                        <a:t>ADD2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ALU-&gt;R[t0]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extLst>
                  <a:ext uri="{0D108BD9-81ED-4DB2-BD59-A6C34878D82A}">
                    <a16:rowId xmlns:a16="http://schemas.microsoft.com/office/drawing/2014/main" val="1508656455"/>
                  </a:ext>
                </a:extLst>
              </a:tr>
              <a:tr h="285514">
                <a:tc>
                  <a:txBody>
                    <a:bodyPr/>
                    <a:lstStyle/>
                    <a:p>
                      <a:r>
                        <a:rPr lang="en-US" sz="1200" b="1" dirty="0"/>
                        <a:t>ADD3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GOTO F0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F0</a:t>
                      </a:r>
                    </a:p>
                  </a:txBody>
                  <a:tcPr marL="70401" marR="70401" marT="35200" marB="35200"/>
                </a:tc>
                <a:extLst>
                  <a:ext uri="{0D108BD9-81ED-4DB2-BD59-A6C34878D82A}">
                    <a16:rowId xmlns:a16="http://schemas.microsoft.com/office/drawing/2014/main" val="163392382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F7A7ACF-EFDE-748F-01A0-94D21D1AE3ED}"/>
              </a:ext>
            </a:extLst>
          </p:cNvPr>
          <p:cNvSpPr txBox="1"/>
          <p:nvPr/>
        </p:nvSpPr>
        <p:spPr>
          <a:xfrm>
            <a:off x="0" y="1404878"/>
            <a:ext cx="490033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Controller is a state machine (FSM), with transitions defined as:</a:t>
            </a:r>
          </a:p>
          <a:p>
            <a:r>
              <a:rPr lang="en-US" dirty="0"/>
              <a:t>N: go to next state</a:t>
            </a:r>
          </a:p>
          <a:p>
            <a:r>
              <a:rPr lang="en-US" dirty="0"/>
              <a:t>S: do nothing (if ‘busy?’ is asserted) else next state</a:t>
            </a:r>
          </a:p>
          <a:p>
            <a:r>
              <a:rPr lang="en-US" dirty="0"/>
              <a:t>D: check opcode and </a:t>
            </a:r>
            <a:r>
              <a:rPr lang="en-US" dirty="0" err="1"/>
              <a:t>func</a:t>
            </a:r>
            <a:r>
              <a:rPr lang="en-US" dirty="0"/>
              <a:t> and go to correct state</a:t>
            </a:r>
          </a:p>
          <a:p>
            <a:r>
              <a:rPr lang="en-US" dirty="0"/>
              <a:t>J: Jump to a particular state</a:t>
            </a:r>
          </a:p>
          <a:p>
            <a:r>
              <a:rPr lang="en-US" dirty="0"/>
              <a:t>EZ, NZ: Jump if condition true else next state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C5C158-F14B-48DF-B344-54B066453DBE}"/>
              </a:ext>
            </a:extLst>
          </p:cNvPr>
          <p:cNvSpPr txBox="1"/>
          <p:nvPr/>
        </p:nvSpPr>
        <p:spPr>
          <a:xfrm>
            <a:off x="0" y="3877649"/>
            <a:ext cx="4594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</a:rPr>
              <a:t>Example: add t0 t1 t2</a:t>
            </a:r>
            <a:endParaRPr lang="en-US" dirty="0">
              <a:solidFill>
                <a:srgbClr val="FFC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41A81E1-CB4C-4CE7-9D63-8900A34DA3A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rcRect b="90728"/>
          <a:stretch/>
        </p:blipFill>
        <p:spPr>
          <a:xfrm>
            <a:off x="52023" y="4255603"/>
            <a:ext cx="9045266" cy="21319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EC9EA79-B4D8-4C68-B472-3D02F83E33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rcRect t="1" b="77160"/>
          <a:stretch/>
        </p:blipFill>
        <p:spPr>
          <a:xfrm>
            <a:off x="55855" y="4264225"/>
            <a:ext cx="9045266" cy="5251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C096862-7F08-4FBD-A60A-6473F4F7F3A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rcRect t="1" b="66356"/>
          <a:stretch/>
        </p:blipFill>
        <p:spPr>
          <a:xfrm>
            <a:off x="59687" y="4255601"/>
            <a:ext cx="9045266" cy="77359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0255B4D-628A-4C1A-8F0B-A26012D03EA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rcRect t="2" b="3393"/>
          <a:stretch/>
        </p:blipFill>
        <p:spPr>
          <a:xfrm>
            <a:off x="70752" y="4264225"/>
            <a:ext cx="9045266" cy="2221397"/>
          </a:xfrm>
          <a:prstGeom prst="rect">
            <a:avLst/>
          </a:prstGeom>
        </p:spPr>
      </p:pic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3258CD4-FA23-7357-7DC0-CAFD58FE90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99238"/>
            <a:ext cx="1828800" cy="258762"/>
          </a:xfrm>
        </p:spPr>
        <p:txBody>
          <a:bodyPr/>
          <a:lstStyle/>
          <a:p>
            <a:fld id="{B4B13859-67C5-4393-B6C2-556CF3F770C0}" type="datetime3">
              <a:rPr lang="en-US" smtClean="0"/>
              <a:t>23 February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61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8E87F-58EA-4A72-840D-5BD4A4E8F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Microsequencer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70A806E-3D62-47B1-B889-DB40EC8902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586266"/>
            <a:ext cx="9144000" cy="4509734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2971A-0BE5-4A70-B7C5-3CB3A41B5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222876-D8B4-4D1D-968D-D2073DD115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 trans="68000" detail="1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00629" y="4648200"/>
            <a:ext cx="1943371" cy="1867161"/>
          </a:xfrm>
          <a:prstGeom prst="rect">
            <a:avLst/>
          </a:prstGeom>
        </p:spPr>
      </p:pic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C6321B-DC4B-7E7D-F10D-B8280E6228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99238"/>
            <a:ext cx="1828800" cy="258762"/>
          </a:xfrm>
        </p:spPr>
        <p:txBody>
          <a:bodyPr/>
          <a:lstStyle/>
          <a:p>
            <a:fld id="{B4B13859-67C5-4393-B6C2-556CF3F770C0}" type="datetime3">
              <a:rPr lang="en-US" smtClean="0"/>
              <a:t>23 February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505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9C2A2-E746-46D0-87A1-A23D83A7E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Horizontal vs vertical microcode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08A63-9767-416E-9B77-A218310F5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Horizontal microcode:</a:t>
            </a:r>
          </a:p>
          <a:p>
            <a:r>
              <a:rPr lang="en-US" dirty="0"/>
              <a:t>One bit per signal (one-hot encoding in control word)</a:t>
            </a:r>
          </a:p>
          <a:p>
            <a:r>
              <a:rPr lang="en-US" dirty="0"/>
              <a:t>Wide control word</a:t>
            </a:r>
          </a:p>
          <a:p>
            <a:r>
              <a:rPr lang="en-US" dirty="0"/>
              <a:t>No decoding required</a:t>
            </a:r>
          </a:p>
          <a:p>
            <a:r>
              <a:rPr lang="en-US" dirty="0"/>
              <a:t>Example: 16 different </a:t>
            </a:r>
            <a:r>
              <a:rPr lang="en-US" dirty="0" err="1"/>
              <a:t>alu</a:t>
            </a:r>
            <a:r>
              <a:rPr lang="en-US" dirty="0"/>
              <a:t> operations will have 16 bits in the control word</a:t>
            </a:r>
          </a:p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Vertical microcode:</a:t>
            </a:r>
          </a:p>
          <a:p>
            <a:r>
              <a:rPr lang="en-US" dirty="0"/>
              <a:t>Signals are grouped into fields</a:t>
            </a:r>
          </a:p>
          <a:p>
            <a:r>
              <a:rPr lang="en-US" dirty="0"/>
              <a:t>Requires decoder between ROM and </a:t>
            </a:r>
            <a:r>
              <a:rPr lang="en-US" dirty="0" err="1"/>
              <a:t>datapath</a:t>
            </a:r>
            <a:endParaRPr lang="en-US" dirty="0"/>
          </a:p>
          <a:p>
            <a:r>
              <a:rPr lang="en-US" dirty="0"/>
              <a:t>Example: 16 different </a:t>
            </a:r>
            <a:r>
              <a:rPr lang="en-US" dirty="0" err="1"/>
              <a:t>alu</a:t>
            </a:r>
            <a:r>
              <a:rPr lang="en-US" dirty="0"/>
              <a:t> ops encoded in 4-bits in control word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D22E3-52C0-483F-A7FE-2B6BFB310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9AE4983-FA7F-4DB3-E9D7-911348886E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99238"/>
            <a:ext cx="1828800" cy="258762"/>
          </a:xfrm>
        </p:spPr>
        <p:txBody>
          <a:bodyPr/>
          <a:lstStyle/>
          <a:p>
            <a:fld id="{B4B13859-67C5-4393-B6C2-556CF3F770C0}" type="datetime3">
              <a:rPr lang="en-US" smtClean="0"/>
              <a:t>23 February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726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79542-6697-4D04-884C-BD9D62FF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</a:t>
            </a:r>
            <a:r>
              <a:rPr lang="en-US" dirty="0" err="1"/>
              <a:t>microcoding</a:t>
            </a:r>
            <a:r>
              <a:rPr lang="en-US" dirty="0"/>
              <a:t> relevant today?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872B4-7C4B-4F5C-B346-C9E6733F7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CISC legacy: modern Intel/AMD processors are CISC outside, RISC inside</a:t>
            </a:r>
          </a:p>
          <a:p>
            <a:pPr lvl="1"/>
            <a:r>
              <a:rPr lang="en-US" dirty="0"/>
              <a:t>Provide complex instructions in ISA, which are actually decoded into simpler RISC-like microoperation sequences</a:t>
            </a:r>
          </a:p>
          <a:p>
            <a:r>
              <a:rPr lang="en-US" dirty="0"/>
              <a:t>Patching hardware bugs: updates distributed via BIOS/OS upgrades to modify ROM (also called WCS – writable control store) to fix bugs</a:t>
            </a:r>
          </a:p>
          <a:p>
            <a:pPr lvl="1"/>
            <a:r>
              <a:rPr lang="en-US" dirty="0" err="1"/>
              <a:t>Spectre</a:t>
            </a:r>
            <a:r>
              <a:rPr lang="en-US" dirty="0"/>
              <a:t> / meltdown mitigations from Intel</a:t>
            </a:r>
          </a:p>
          <a:p>
            <a:r>
              <a:rPr lang="en-US" dirty="0"/>
              <a:t>Managing complex system-level algorithms</a:t>
            </a:r>
          </a:p>
          <a:p>
            <a:pPr lvl="1"/>
            <a:r>
              <a:rPr lang="en-US" dirty="0"/>
              <a:t>Boot sequences, frequency scaling and power management</a:t>
            </a:r>
          </a:p>
          <a:p>
            <a:r>
              <a:rPr lang="en-US" dirty="0"/>
              <a:t>Hybrid designs: Fast frequent path (hardwired and pipelined) + slow rare path (complex and </a:t>
            </a:r>
            <a:r>
              <a:rPr lang="en-US" dirty="0" err="1"/>
              <a:t>microcoded</a:t>
            </a:r>
            <a:r>
              <a:rPr lang="en-US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914484-F556-4A96-9A5A-7B0C26A02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DA22CF2-6854-FBA1-1ED5-F9818A0DEE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99238"/>
            <a:ext cx="1828800" cy="258762"/>
          </a:xfrm>
        </p:spPr>
        <p:txBody>
          <a:bodyPr/>
          <a:lstStyle/>
          <a:p>
            <a:fld id="{B4B13859-67C5-4393-B6C2-556CF3F770C0}" type="datetime3">
              <a:rPr lang="en-US" smtClean="0"/>
              <a:t>23 February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776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6A3F3-2CA3-8D1A-5536-357C75131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things faster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42BD4-797F-1AA5-2764-BC6AC6CBE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Faster clocks</a:t>
            </a:r>
          </a:p>
          <a:p>
            <a:pPr lvl="1"/>
            <a:r>
              <a:rPr lang="en-US" dirty="0"/>
              <a:t>Device speeds</a:t>
            </a:r>
          </a:p>
          <a:p>
            <a:pPr lvl="1"/>
            <a:r>
              <a:rPr lang="en-US" dirty="0"/>
              <a:t>Datapath capacitance</a:t>
            </a:r>
          </a:p>
          <a:p>
            <a:pPr lvl="1"/>
            <a:r>
              <a:rPr lang="en-US" dirty="0"/>
              <a:t>Clock skew</a:t>
            </a:r>
          </a:p>
          <a:p>
            <a:pPr lvl="1"/>
            <a:r>
              <a:rPr lang="en-US" dirty="0"/>
              <a:t>Power consumption and thermal limit</a:t>
            </a:r>
          </a:p>
          <a:p>
            <a:r>
              <a:rPr lang="en-US" dirty="0"/>
              <a:t>Faster devices</a:t>
            </a:r>
          </a:p>
          <a:p>
            <a:pPr lvl="1"/>
            <a:r>
              <a:rPr lang="en-IN" dirty="0"/>
              <a:t>Physical limits (electrons have finite velocity)</a:t>
            </a:r>
          </a:p>
          <a:p>
            <a:pPr lvl="1"/>
            <a:r>
              <a:rPr lang="en-IN" dirty="0"/>
              <a:t>Memory is inherently very slow!</a:t>
            </a:r>
          </a:p>
          <a:p>
            <a:r>
              <a:rPr lang="en-IN" dirty="0"/>
              <a:t>Parallelize instructions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0ABD3-7205-E050-897B-D08F32691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2CA7FC3-1BE6-ACBD-0C78-2DDDA8385E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99238"/>
            <a:ext cx="1828800" cy="258762"/>
          </a:xfrm>
        </p:spPr>
        <p:txBody>
          <a:bodyPr/>
          <a:lstStyle/>
          <a:p>
            <a:fld id="{B4B13859-67C5-4393-B6C2-556CF3F770C0}" type="datetime3">
              <a:rPr lang="en-US" smtClean="0"/>
              <a:t>23 February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449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FC658-A3E8-2536-00F1-50771A3CE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Pipelined multi-cycle processors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4782F-8224-745F-F8CB-36C3361C3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February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7FB0D-8C4F-F5BE-4C01-E0D207122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0C559C-E30F-8A37-C7A5-1445949A48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612" b="1523"/>
          <a:stretch/>
        </p:blipFill>
        <p:spPr>
          <a:xfrm>
            <a:off x="241149" y="1765935"/>
            <a:ext cx="4444033" cy="2486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48ABB3-2D89-8407-1CDD-F822EA50B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180" y="1831498"/>
            <a:ext cx="4229690" cy="228631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B7DC311-57D1-0B8F-499D-CA0393078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4349632"/>
            <a:ext cx="8724225" cy="1898768"/>
          </a:xfrm>
        </p:spPr>
        <p:txBody>
          <a:bodyPr/>
          <a:lstStyle/>
          <a:p>
            <a:r>
              <a:rPr lang="en-US" sz="2400" dirty="0"/>
              <a:t>Does not change the latency of individual instructions</a:t>
            </a:r>
          </a:p>
          <a:p>
            <a:r>
              <a:rPr lang="en-US" sz="2400" dirty="0"/>
              <a:t>Increases the throughput of instructions</a:t>
            </a:r>
          </a:p>
          <a:p>
            <a:r>
              <a:rPr lang="en-US" sz="2400" dirty="0"/>
              <a:t>Speedup </a:t>
            </a:r>
            <a:r>
              <a:rPr lang="el-GR" sz="2400" dirty="0"/>
              <a:t>∝</a:t>
            </a:r>
            <a:r>
              <a:rPr lang="en-US" sz="2400" dirty="0"/>
              <a:t> #stages</a:t>
            </a:r>
          </a:p>
          <a:p>
            <a:r>
              <a:rPr lang="en-US" sz="2400" dirty="0"/>
              <a:t>Rate limited by slowest stage</a:t>
            </a:r>
          </a:p>
        </p:txBody>
      </p:sp>
    </p:spTree>
    <p:extLst>
      <p:ext uri="{BB962C8B-B14F-4D97-AF65-F5344CB8AC3E}">
        <p14:creationId xmlns:p14="http://schemas.microsoft.com/office/powerpoint/2010/main" val="2477014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D59F-4B86-DA75-52B0-5E3FD7FBA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Pipelined RISC-V processor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112DF-BD82-468D-6A85-47C86606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February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01446-EB69-E9F2-6259-A78D70F7C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9AF58F-EA7D-7A57-5C2D-9907E9109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8600" y="1505612"/>
            <a:ext cx="8647827" cy="482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997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0E343-C9B0-6137-E67E-CBEBA5E68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control?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67459-7D49-DB90-976B-81F1B5720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do we modify the control circuit from the single cycle control?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Pipeline</a:t>
            </a:r>
            <a:br>
              <a:rPr lang="en-US" dirty="0"/>
            </a:br>
            <a:r>
              <a:rPr lang="en-US" dirty="0"/>
              <a:t>control</a:t>
            </a:r>
            <a:br>
              <a:rPr lang="en-US" dirty="0"/>
            </a:br>
            <a:r>
              <a:rPr lang="en-US" dirty="0"/>
              <a:t>bits!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5BFF6-1DCB-FA3F-9386-338D00A68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B4B1EFB-D648-A8D7-2000-C37DBBC849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99238"/>
            <a:ext cx="1828800" cy="258762"/>
          </a:xfrm>
        </p:spPr>
        <p:txBody>
          <a:bodyPr/>
          <a:lstStyle/>
          <a:p>
            <a:fld id="{B4B13859-67C5-4393-B6C2-556CF3F770C0}" type="datetime3">
              <a:rPr lang="en-US" smtClean="0"/>
              <a:t>23 February 2026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370119-C2F6-7450-F869-F743CD60A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41114" y="2514600"/>
            <a:ext cx="6912386" cy="385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419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1187-F125-67D0-E4BE-0A4039CA8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Pipelined </a:t>
            </a:r>
            <a:r>
              <a:rPr lang="en-US" dirty="0" err="1"/>
              <a:t>datapath</a:t>
            </a:r>
            <a:r>
              <a:rPr lang="en-US" dirty="0"/>
              <a:t> and control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3CCBE13-FF4F-9854-0ECC-2664C6AC9C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 trans="5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2400" y="1513399"/>
            <a:ext cx="8839200" cy="4880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8D89EB-2DF1-71E4-CD5C-E9986CEA5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382E28-74AC-31C7-2628-52B3C11FCD7D}"/>
              </a:ext>
            </a:extLst>
          </p:cNvPr>
          <p:cNvSpPr txBox="1"/>
          <p:nvPr/>
        </p:nvSpPr>
        <p:spPr>
          <a:xfrm>
            <a:off x="4724400" y="1274243"/>
            <a:ext cx="44196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100" b="1" dirty="0">
                <a:solidFill>
                  <a:srgbClr val="FF0000"/>
                </a:solidFill>
              </a:rPr>
              <a:t>What problems do you see here?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57F0CFA-E06B-262D-1617-BEDA17B2CA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99238"/>
            <a:ext cx="1828800" cy="258762"/>
          </a:xfrm>
        </p:spPr>
        <p:txBody>
          <a:bodyPr/>
          <a:lstStyle/>
          <a:p>
            <a:fld id="{B4B13859-67C5-4393-B6C2-556CF3F770C0}" type="datetime3">
              <a:rPr lang="en-US" smtClean="0"/>
              <a:t>23 February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94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33A02-FC6C-A0A8-0477-75D0D368D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Pipelining hazards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42703-A6C6-4F6F-2F81-3E5915C82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A hazard is a situation that prevents starting the next instruction in the next clock cycle</a:t>
            </a:r>
          </a:p>
          <a:p>
            <a:pPr>
              <a:buAutoNum type="arabicParenR"/>
            </a:pPr>
            <a:r>
              <a:rPr lang="en-US" sz="2800" dirty="0">
                <a:solidFill>
                  <a:srgbClr val="FFC000"/>
                </a:solidFill>
              </a:rPr>
              <a:t>Structural hazard</a:t>
            </a:r>
          </a:p>
          <a:p>
            <a:pPr lvl="1"/>
            <a:r>
              <a:rPr lang="en-US" sz="2400" dirty="0"/>
              <a:t>A required resource is busy</a:t>
            </a:r>
          </a:p>
          <a:p>
            <a:pPr lvl="1"/>
            <a:r>
              <a:rPr lang="en-US" sz="2400" dirty="0"/>
              <a:t>(e.g. needed in multiple stages)</a:t>
            </a:r>
          </a:p>
          <a:p>
            <a:pPr>
              <a:buAutoNum type="arabicParenR"/>
            </a:pPr>
            <a:r>
              <a:rPr lang="en-US" sz="2800" dirty="0">
                <a:solidFill>
                  <a:srgbClr val="FFC000"/>
                </a:solidFill>
              </a:rPr>
              <a:t>Data hazard</a:t>
            </a:r>
          </a:p>
          <a:p>
            <a:pPr lvl="1"/>
            <a:r>
              <a:rPr lang="en-US" sz="2400" dirty="0"/>
              <a:t>Data dependency between instructions</a:t>
            </a:r>
          </a:p>
          <a:p>
            <a:pPr lvl="1"/>
            <a:r>
              <a:rPr lang="en-US" sz="2400" dirty="0"/>
              <a:t>Need to wait for previous instruction to complete its data write</a:t>
            </a:r>
          </a:p>
          <a:p>
            <a:pPr>
              <a:buAutoNum type="arabicParenR"/>
            </a:pPr>
            <a:r>
              <a:rPr lang="en-US" sz="2800" dirty="0">
                <a:solidFill>
                  <a:srgbClr val="FFC000"/>
                </a:solidFill>
              </a:rPr>
              <a:t>Control hazard</a:t>
            </a:r>
          </a:p>
          <a:p>
            <a:pPr lvl="1"/>
            <a:r>
              <a:rPr lang="en-US" sz="2400" dirty="0"/>
              <a:t>Flow of execution depends on previous instruction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BB736-11D8-F6CC-49C1-4C66FA6E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February 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89318-C15E-6999-C6EB-C88BB3B6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37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463D6-A5E6-065A-4267-2CDD84FEE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hazard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8500F-3712-B7D2-E245-863E10584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33" y="1459583"/>
            <a:ext cx="2871510" cy="4943392"/>
          </a:xfrm>
        </p:spPr>
        <p:txBody>
          <a:bodyPr>
            <a:noAutofit/>
          </a:bodyPr>
          <a:lstStyle/>
          <a:p>
            <a:r>
              <a:rPr lang="en-US" sz="2000" dirty="0"/>
              <a:t>Problem: Two or more instructions in the pipeline compete for access to a single physical resource</a:t>
            </a:r>
          </a:p>
          <a:p>
            <a:r>
              <a:rPr lang="en-US" sz="2000" dirty="0"/>
              <a:t>Solution 1: Instructions take turns using resource, some instructions have to stall (wait)</a:t>
            </a:r>
          </a:p>
          <a:p>
            <a:r>
              <a:rPr lang="en-US" sz="2000" dirty="0"/>
              <a:t>Solution 2: Add more hardware to machine</a:t>
            </a:r>
          </a:p>
          <a:p>
            <a:r>
              <a:rPr lang="en-US" sz="2000" dirty="0"/>
              <a:t>Can always solve a structural hazard by adding more hardware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26339-BD98-F827-0D43-63EE41248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62514-3A4E-C29C-920F-0586AEAFE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A61C9C-E614-9CBC-2BAE-4C280B397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043" y="1579322"/>
            <a:ext cx="3733800" cy="22698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5432F2-62F4-A922-1842-036EEC8C7022}"/>
              </a:ext>
            </a:extLst>
          </p:cNvPr>
          <p:cNvSpPr txBox="1"/>
          <p:nvPr/>
        </p:nvSpPr>
        <p:spPr>
          <a:xfrm>
            <a:off x="6806564" y="1896070"/>
            <a:ext cx="23374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Multiple ports to the </a:t>
            </a:r>
            <a:r>
              <a:rPr lang="en-US" dirty="0" err="1"/>
              <a:t>regfile</a:t>
            </a:r>
            <a:r>
              <a:rPr lang="en-US" dirty="0"/>
              <a:t> solves the access problem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4E6A154-D5ED-5FA4-B172-5BA2F5506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415" y="3968874"/>
            <a:ext cx="3733799" cy="22912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CAB4324-3CC0-035C-CB24-6DED2649E3F7}"/>
              </a:ext>
            </a:extLst>
          </p:cNvPr>
          <p:cNvSpPr txBox="1"/>
          <p:nvPr/>
        </p:nvSpPr>
        <p:spPr>
          <a:xfrm>
            <a:off x="6806565" y="3060680"/>
            <a:ext cx="233743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Is this a problem for Harvard or von Neuman architecture (or both)?</a:t>
            </a:r>
          </a:p>
          <a:p>
            <a:endParaRPr lang="en-US" dirty="0"/>
          </a:p>
          <a:p>
            <a:r>
              <a:rPr lang="en-US" dirty="0" err="1"/>
              <a:t>Soln</a:t>
            </a:r>
            <a:r>
              <a:rPr lang="en-US" dirty="0"/>
              <a:t>: Separate data and instruction caches</a:t>
            </a:r>
          </a:p>
          <a:p>
            <a:endParaRPr lang="en-US" dirty="0"/>
          </a:p>
          <a:p>
            <a:r>
              <a:rPr lang="en-US" dirty="0"/>
              <a:t>ISA designed to avoid multiple accesses</a:t>
            </a:r>
          </a:p>
        </p:txBody>
      </p:sp>
    </p:spTree>
    <p:extLst>
      <p:ext uri="{BB962C8B-B14F-4D97-AF65-F5344CB8AC3E}">
        <p14:creationId xmlns:p14="http://schemas.microsoft.com/office/powerpoint/2010/main" val="4013881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/>
      <p:bldP spid="1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4922366-B05A-61C2-398D-CEECE9561EFE}"/>
              </a:ext>
            </a:extLst>
          </p:cNvPr>
          <p:cNvGrpSpPr/>
          <p:nvPr/>
        </p:nvGrpSpPr>
        <p:grpSpPr>
          <a:xfrm>
            <a:off x="2841441" y="1464049"/>
            <a:ext cx="5921559" cy="3700749"/>
            <a:chOff x="2841441" y="1464049"/>
            <a:chExt cx="5921559" cy="370074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F7C7CF1-2221-266A-D5DE-1DE59E6E5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" r="17410" b="-529"/>
            <a:stretch>
              <a:fillRect/>
            </a:stretch>
          </p:blipFill>
          <p:spPr>
            <a:xfrm>
              <a:off x="2841441" y="1464049"/>
              <a:ext cx="5159560" cy="364135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300C606-CD95-DD41-93FE-F11419095F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14595" y="2903538"/>
              <a:ext cx="3348405" cy="226126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69AAB66-7D67-15C6-E864-827A2D02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hazards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C90681D-9ADB-9A6A-0188-3CAAC9CF0C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l="27599" t="15255" r="13066"/>
          <a:stretch/>
        </p:blipFill>
        <p:spPr>
          <a:xfrm>
            <a:off x="94575" y="1464049"/>
            <a:ext cx="3011805" cy="223742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C43D6-C103-542A-D3A6-CF6A6D60F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8CFCF-8205-BC7F-6CB8-5FFFBDEFF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16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41F6F8-CEC2-30D7-7364-8CCAF87619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0997"/>
          <a:stretch>
            <a:fillRect/>
          </a:stretch>
        </p:blipFill>
        <p:spPr>
          <a:xfrm>
            <a:off x="2841440" y="1464049"/>
            <a:ext cx="6247185" cy="10505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037BDD5-40E0-1C83-CAAC-852AD2B1CA8F}"/>
              </a:ext>
            </a:extLst>
          </p:cNvPr>
          <p:cNvSpPr txBox="1"/>
          <p:nvPr/>
        </p:nvSpPr>
        <p:spPr>
          <a:xfrm>
            <a:off x="152400" y="3926670"/>
            <a:ext cx="410003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C000"/>
                </a:solidFill>
              </a:rPr>
              <a:t>RAW: Read After Write </a:t>
            </a:r>
            <a:r>
              <a:rPr lang="en-US" dirty="0"/>
              <a:t>(instruction tries to read before previous instruction has finished writing)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C000"/>
                </a:solidFill>
              </a:rPr>
              <a:t>WAR: Write After Read </a:t>
            </a:r>
            <a:r>
              <a:rPr lang="en-US" dirty="0"/>
              <a:t>(instruction writes to a register before a previous instruction has read from it)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C000"/>
                </a:solidFill>
              </a:rPr>
              <a:t>WAW: Write After Write </a:t>
            </a:r>
            <a:r>
              <a:rPr lang="en-US" dirty="0"/>
              <a:t>(instruction writes to a register before an earlier instruction writes to it)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7C58D4-998D-B653-EBE9-881AEDF63DBF}"/>
              </a:ext>
            </a:extLst>
          </p:cNvPr>
          <p:cNvSpPr/>
          <p:nvPr/>
        </p:nvSpPr>
        <p:spPr>
          <a:xfrm>
            <a:off x="6172200" y="3523861"/>
            <a:ext cx="3810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12CA9C-B126-9270-E66B-BB7AC7DFBE6C}"/>
              </a:ext>
            </a:extLst>
          </p:cNvPr>
          <p:cNvSpPr/>
          <p:nvPr/>
        </p:nvSpPr>
        <p:spPr>
          <a:xfrm>
            <a:off x="6567196" y="3956179"/>
            <a:ext cx="3810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CC1445-8308-0C4B-B11E-B639404B59F7}"/>
              </a:ext>
            </a:extLst>
          </p:cNvPr>
          <p:cNvSpPr/>
          <p:nvPr/>
        </p:nvSpPr>
        <p:spPr>
          <a:xfrm>
            <a:off x="6941477" y="4371591"/>
            <a:ext cx="381000" cy="228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F4D821-DB5E-ACDD-4D2A-D910480983A6}"/>
              </a:ext>
            </a:extLst>
          </p:cNvPr>
          <p:cNvSpPr/>
          <p:nvPr/>
        </p:nvSpPr>
        <p:spPr>
          <a:xfrm>
            <a:off x="6941477" y="4377774"/>
            <a:ext cx="381000" cy="222218"/>
          </a:xfrm>
          <a:prstGeom prst="rect">
            <a:avLst/>
          </a:prstGeom>
          <a:noFill/>
          <a:ln w="38100">
            <a:solidFill>
              <a:srgbClr val="00FF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500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13" grpId="0" animBg="1"/>
      <p:bldP spid="14" grpId="0" animBg="1"/>
      <p:bldP spid="15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B9578-289F-7361-6E7C-6F93AA70B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hazard solution – bubbles (stalling)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36127FF-0284-EEB4-CBBA-9F89ADA4BA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1905" y="1552855"/>
            <a:ext cx="6867998" cy="235248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8E2A0-3D68-944C-2F37-6CA64E76A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46E4A-4437-AB75-1669-331861CFD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17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5C724A-47E6-F89F-984C-8DA468AFA23F}"/>
              </a:ext>
            </a:extLst>
          </p:cNvPr>
          <p:cNvSpPr txBox="1"/>
          <p:nvPr/>
        </p:nvSpPr>
        <p:spPr>
          <a:xfrm>
            <a:off x="17106" y="2277853"/>
            <a:ext cx="32594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Bubbles: affected pipeline stages do “nothing” for a  cycle.</a:t>
            </a:r>
          </a:p>
          <a:p>
            <a:r>
              <a:rPr lang="en-US" dirty="0">
                <a:solidFill>
                  <a:srgbClr val="FF0000"/>
                </a:solidFill>
              </a:rPr>
              <a:t>How many bubbles in RAW?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BF490F-9CAB-7E2C-F585-4AF69BD0B502}"/>
              </a:ext>
            </a:extLst>
          </p:cNvPr>
          <p:cNvSpPr txBox="1"/>
          <p:nvPr/>
        </p:nvSpPr>
        <p:spPr>
          <a:xfrm>
            <a:off x="172942" y="4149202"/>
            <a:ext cx="51610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/>
              <a:t>Stalls reduce performance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How to mitigate stall performance degradation?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dirty="0"/>
              <a:t>Compilers can arrange the instructions such that these conditions are avoided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dirty="0"/>
              <a:t>Compilers must know how the pipeline is implemented and how instructions interact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DEE025-B5C6-7CF5-62F1-FA3D6C1E9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4343400"/>
            <a:ext cx="1676400" cy="83820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0115D45D-2805-75B4-6D1C-66FFE9B6D287}"/>
              </a:ext>
            </a:extLst>
          </p:cNvPr>
          <p:cNvGrpSpPr/>
          <p:nvPr/>
        </p:nvGrpSpPr>
        <p:grpSpPr>
          <a:xfrm>
            <a:off x="6035351" y="5292478"/>
            <a:ext cx="2446951" cy="1165048"/>
            <a:chOff x="6035351" y="5292478"/>
            <a:chExt cx="2446951" cy="116504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83BBD28-DA05-943E-7586-EAB693AA8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29399" y="5309312"/>
              <a:ext cx="1676399" cy="845127"/>
            </a:xfrm>
            <a:prstGeom prst="rect">
              <a:avLst/>
            </a:prstGeom>
          </p:spPr>
        </p:pic>
        <p:sp>
          <p:nvSpPr>
            <p:cNvPr id="13" name="Arrow: Bent-Up 12">
              <a:extLst>
                <a:ext uri="{FF2B5EF4-FFF2-40B4-BE49-F238E27FC236}">
                  <a16:creationId xmlns:a16="http://schemas.microsoft.com/office/drawing/2014/main" id="{458E9916-23A1-F95F-5BD2-1D4801C652BD}"/>
                </a:ext>
              </a:extLst>
            </p:cNvPr>
            <p:cNvSpPr/>
            <p:nvPr/>
          </p:nvSpPr>
          <p:spPr>
            <a:xfrm rot="5400000">
              <a:off x="5947552" y="5380277"/>
              <a:ext cx="649562" cy="473964"/>
            </a:xfrm>
            <a:prstGeom prst="bentUpArrow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96978B8-FBE7-7B59-F1E4-06A5987CA086}"/>
                </a:ext>
              </a:extLst>
            </p:cNvPr>
            <p:cNvSpPr txBox="1"/>
            <p:nvPr/>
          </p:nvSpPr>
          <p:spPr>
            <a:xfrm>
              <a:off x="6452894" y="6088194"/>
              <a:ext cx="20294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Reduced one stall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409151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9DE93-9142-BE93-9409-508094E28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hazard solution – forwarding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485F3-EBD2-0953-1741-21C5C5240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76" y="1371600"/>
            <a:ext cx="8972549" cy="19290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Forwarding:</a:t>
            </a:r>
          </a:p>
          <a:p>
            <a:pPr marL="514350" indent="-514350">
              <a:buAutoNum type="arabicPeriod"/>
            </a:pPr>
            <a:r>
              <a:rPr lang="en-US" dirty="0"/>
              <a:t>Data already available in cycle 3</a:t>
            </a:r>
          </a:p>
          <a:p>
            <a:pPr marL="514350" indent="-514350">
              <a:buAutoNum type="arabicPeriod"/>
            </a:pPr>
            <a:r>
              <a:rPr lang="en-US" dirty="0"/>
              <a:t>Grab it from pipeline stage, rather than waiting to update the register file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6B360-2714-46D5-2DCC-75FD416FA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1FBBF-2726-6975-CA40-5CC9BBB0E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18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CFB899-4B76-5D86-9380-69A576301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52" y="3557324"/>
            <a:ext cx="5651495" cy="256496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202BC39-15D1-8BFA-0A13-92033EC77F3A}"/>
              </a:ext>
            </a:extLst>
          </p:cNvPr>
          <p:cNvSpPr txBox="1">
            <a:spLocks/>
          </p:cNvSpPr>
          <p:nvPr/>
        </p:nvSpPr>
        <p:spPr>
          <a:xfrm>
            <a:off x="5334000" y="3557324"/>
            <a:ext cx="3540443" cy="114300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solidFill>
                  <a:srgbClr val="FFC000"/>
                </a:solidFill>
              </a:rPr>
              <a:t>Needs changes in </a:t>
            </a:r>
            <a:r>
              <a:rPr lang="en-US" sz="1800" b="1" dirty="0" err="1">
                <a:solidFill>
                  <a:srgbClr val="FFC000"/>
                </a:solidFill>
              </a:rPr>
              <a:t>datapath</a:t>
            </a:r>
            <a:r>
              <a:rPr lang="en-US" sz="1800" b="1" dirty="0">
                <a:solidFill>
                  <a:srgbClr val="FFC000"/>
                </a:solidFill>
              </a:rPr>
              <a:t> hardware as well as extra control signals!</a:t>
            </a:r>
          </a:p>
        </p:txBody>
      </p:sp>
    </p:spTree>
    <p:extLst>
      <p:ext uri="{BB962C8B-B14F-4D97-AF65-F5344CB8AC3E}">
        <p14:creationId xmlns:p14="http://schemas.microsoft.com/office/powerpoint/2010/main" val="2886565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C1025-E879-AF40-2767-F8956232F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hazard solution – forwarding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DF9E3D3-7A51-7CA8-0349-E3F2A7E81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1922"/>
          <a:stretch>
            <a:fillRect/>
          </a:stretch>
        </p:blipFill>
        <p:spPr>
          <a:xfrm>
            <a:off x="875010" y="1524000"/>
            <a:ext cx="7393980" cy="487680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4E1D7-3CFC-102F-BBAC-BD8A566C9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6C9E2-76C6-1273-B5FC-72EEBCEC1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6354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7">
            <a:extLst>
              <a:ext uri="{FF2B5EF4-FFF2-40B4-BE49-F238E27FC236}">
                <a16:creationId xmlns:a16="http://schemas.microsoft.com/office/drawing/2014/main" id="{A11395B8-9AC4-2E17-6D1B-4286633A17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 bwMode="auto">
          <a:xfrm>
            <a:off x="139262" y="1910455"/>
            <a:ext cx="4679038" cy="1421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A7B986-5846-200C-0158-F8175DE15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hazards – forwarding does not always work!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097FE54-B195-15D9-61BF-8A82D5CFB7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64740"/>
          <a:stretch>
            <a:fillRect/>
          </a:stretch>
        </p:blipFill>
        <p:spPr>
          <a:xfrm>
            <a:off x="139262" y="1901058"/>
            <a:ext cx="1649826" cy="142156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35710-55ED-87E9-B542-BF3EFE81D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23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855F0-8069-8AC7-6D5C-8613549B3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ELL305: Computer Architecture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9A614-1F21-792D-092C-618E9A929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20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D997545-774F-B322-3189-57299FC4645F}"/>
              </a:ext>
            </a:extLst>
          </p:cNvPr>
          <p:cNvSpPr txBox="1">
            <a:spLocks/>
          </p:cNvSpPr>
          <p:nvPr/>
        </p:nvSpPr>
        <p:spPr>
          <a:xfrm>
            <a:off x="4953000" y="1803546"/>
            <a:ext cx="4035254" cy="197610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Hardware can stall the pipeline – hardware interlocks</a:t>
            </a:r>
          </a:p>
          <a:p>
            <a:r>
              <a:rPr lang="en-US" sz="2000" dirty="0"/>
              <a:t>Slot after ‘load’ is called a ‘load delay slot’</a:t>
            </a:r>
          </a:p>
          <a:p>
            <a:r>
              <a:rPr lang="en-US" sz="2000" dirty="0"/>
              <a:t>Re-ordering code, if possible, is always a good solution!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2F6CF1-D9B4-364C-015B-C46492A9B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3886200"/>
            <a:ext cx="6630326" cy="24077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AC05DF-0A8D-1E60-154B-DA359313514F}"/>
              </a:ext>
            </a:extLst>
          </p:cNvPr>
          <p:cNvSpPr txBox="1"/>
          <p:nvPr/>
        </p:nvSpPr>
        <p:spPr>
          <a:xfrm>
            <a:off x="86736" y="1439035"/>
            <a:ext cx="6999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Analyze this RAW hazard. What will you forward?</a:t>
            </a:r>
          </a:p>
        </p:txBody>
      </p:sp>
    </p:spTree>
    <p:extLst>
      <p:ext uri="{BB962C8B-B14F-4D97-AF65-F5344CB8AC3E}">
        <p14:creationId xmlns:p14="http://schemas.microsoft.com/office/powerpoint/2010/main" val="2671844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14711</TotalTime>
  <Words>955</Words>
  <Application>Microsoft Office PowerPoint</Application>
  <PresentationFormat>On-screen Show (4:3)</PresentationFormat>
  <Paragraphs>227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Wingdings</vt:lpstr>
      <vt:lpstr>Office Theme</vt:lpstr>
      <vt:lpstr>Computer Architecture</vt:lpstr>
      <vt:lpstr>Microprogramming</vt:lpstr>
      <vt:lpstr>A computer inside the computer – making control itself a program</vt:lpstr>
      <vt:lpstr>Microprogramming – datapath</vt:lpstr>
      <vt:lpstr>Microprogramming – control</vt:lpstr>
      <vt:lpstr>Microsequencer</vt:lpstr>
      <vt:lpstr>Horizontal vs vertical microcode</vt:lpstr>
      <vt:lpstr>Is microcoding relevant today?</vt:lpstr>
      <vt:lpstr>Making things faster</vt:lpstr>
      <vt:lpstr>Pipelined multi-cycle processors</vt:lpstr>
      <vt:lpstr>Pipelined RISC-V processor</vt:lpstr>
      <vt:lpstr>What about control?</vt:lpstr>
      <vt:lpstr>Pipelined datapath and control</vt:lpstr>
      <vt:lpstr>Pipelining hazards</vt:lpstr>
      <vt:lpstr>Structural hazard</vt:lpstr>
      <vt:lpstr>Data hazards</vt:lpstr>
      <vt:lpstr>Data hazard solution – bubbles (stalling)</vt:lpstr>
      <vt:lpstr>Data hazard solution – forwarding</vt:lpstr>
      <vt:lpstr>Data hazard solution – forwarding</vt:lpstr>
      <vt:lpstr>Data hazards – forwarding does not always work!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735</cp:revision>
  <dcterms:created xsi:type="dcterms:W3CDTF">2010-01-15T20:22:21Z</dcterms:created>
  <dcterms:modified xsi:type="dcterms:W3CDTF">2026-02-23T08:09:36Z</dcterms:modified>
</cp:coreProperties>
</file>