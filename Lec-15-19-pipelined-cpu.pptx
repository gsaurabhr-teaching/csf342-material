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337" r:id="rId2"/>
    <p:sldId id="436" r:id="rId3"/>
    <p:sldId id="437" r:id="rId4"/>
    <p:sldId id="344" r:id="rId5"/>
    <p:sldId id="345" r:id="rId6"/>
    <p:sldId id="438" r:id="rId7"/>
    <p:sldId id="439" r:id="rId8"/>
    <p:sldId id="441" r:id="rId9"/>
    <p:sldId id="442" r:id="rId10"/>
    <p:sldId id="346" r:id="rId11"/>
    <p:sldId id="348" r:id="rId12"/>
    <p:sldId id="349" r:id="rId13"/>
    <p:sldId id="443" r:id="rId14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2C3E8"/>
    <a:srgbClr val="EA3F26"/>
    <a:srgbClr val="FCD5B5"/>
    <a:srgbClr val="8EB4E3"/>
    <a:srgbClr val="D7E4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88284" autoAdjust="0"/>
  </p:normalViewPr>
  <p:slideViewPr>
    <p:cSldViewPr>
      <p:cViewPr varScale="1">
        <p:scale>
          <a:sx n="85" d="100"/>
          <a:sy n="85" d="100"/>
        </p:scale>
        <p:origin x="534" y="3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2/18/2026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79DCCC-EBE2-44AD-8EA0-6F319820E96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6223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72C3E8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844" r:id="rId12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72C3E8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microsoft.com/office/2007/relationships/hdphoto" Target="../media/hdphoto2.wdp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Computer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66C2A-CA34-4E01-AD5C-78E835848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Microprogramming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47329B-4072-4E06-B738-820471EB1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F07FB-2B66-45BE-B34D-AC1A7E92D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6DBEC6-862C-44B4-B6E4-A872E69D35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2667000"/>
            <a:ext cx="7772400" cy="3124200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Pain points for hardwired FSM control</a:t>
            </a:r>
          </a:p>
          <a:p>
            <a:r>
              <a:rPr lang="en-US" dirty="0"/>
              <a:t>State explosion for rich ISAs</a:t>
            </a:r>
          </a:p>
          <a:p>
            <a:r>
              <a:rPr lang="en-US" dirty="0"/>
              <a:t>Difficult to modify / extend instruction set in a modular fashion</a:t>
            </a:r>
          </a:p>
          <a:p>
            <a:r>
              <a:rPr lang="en-US" dirty="0"/>
              <a:t>Difficult verification (verify everything after any modification</a:t>
            </a:r>
          </a:p>
          <a:p>
            <a:r>
              <a:rPr lang="en-US" dirty="0"/>
              <a:t>Irregular structure – difficult to optimize in silicon</a:t>
            </a:r>
          </a:p>
        </p:txBody>
      </p:sp>
    </p:spTree>
    <p:extLst>
      <p:ext uri="{BB962C8B-B14F-4D97-AF65-F5344CB8AC3E}">
        <p14:creationId xmlns:p14="http://schemas.microsoft.com/office/powerpoint/2010/main" val="3753598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6199D-6238-4C0E-B579-342DDB23F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629400" cy="1195386"/>
          </a:xfrm>
        </p:spPr>
        <p:txBody>
          <a:bodyPr/>
          <a:lstStyle/>
          <a:p>
            <a:r>
              <a:rPr lang="en-US" dirty="0"/>
              <a:t>A computer inside the computer – making control itself a program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EBEDE-B459-4B37-B01E-8D82C671E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Break up instruction processing into </a:t>
            </a:r>
            <a:r>
              <a:rPr lang="en-US" i="1" dirty="0"/>
              <a:t>microinstructions</a:t>
            </a:r>
            <a:endParaRPr lang="en-US" dirty="0"/>
          </a:p>
          <a:p>
            <a:r>
              <a:rPr lang="en-US" dirty="0"/>
              <a:t>Several microinstructions </a:t>
            </a:r>
            <a:r>
              <a:rPr lang="en-US" dirty="0">
                <a:sym typeface="Wingdings" panose="05000000000000000000" pitchFamily="2" charset="2"/>
              </a:rPr>
              <a:t> single instruction</a:t>
            </a:r>
          </a:p>
          <a:p>
            <a:r>
              <a:rPr lang="en-US" dirty="0">
                <a:sym typeface="Wingdings" panose="05000000000000000000" pitchFamily="2" charset="2"/>
              </a:rPr>
              <a:t>FSM State  microinstruction</a:t>
            </a:r>
          </a:p>
          <a:p>
            <a:r>
              <a:rPr lang="en-US" dirty="0">
                <a:sym typeface="Wingdings" panose="05000000000000000000" pitchFamily="2" charset="2"/>
              </a:rPr>
              <a:t>Control signals for each microinstruction stored in ROM</a:t>
            </a:r>
          </a:p>
          <a:p>
            <a:r>
              <a:rPr lang="en-US" dirty="0"/>
              <a:t>µPC (Micro-Program Counter): Points to the current micro-instruction</a:t>
            </a:r>
          </a:p>
          <a:p>
            <a:r>
              <a:rPr lang="en-US" dirty="0"/>
              <a:t>Address Select Logic: Decides the next µPC (state transition in our FSM)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B97D55-59A9-4A12-A815-48B7D6D3F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575471-E449-4068-B307-B037EA274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73291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AC3DC-F384-5322-E88A-FF4562B67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50" y="277671"/>
            <a:ext cx="5452110" cy="790420"/>
          </a:xfrm>
        </p:spPr>
        <p:txBody>
          <a:bodyPr>
            <a:noAutofit/>
          </a:bodyPr>
          <a:lstStyle/>
          <a:p>
            <a:r>
              <a:rPr lang="en-US" dirty="0"/>
              <a:t>Microprogramming – </a:t>
            </a:r>
            <a:r>
              <a:rPr lang="en-US" dirty="0" err="1"/>
              <a:t>datapath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CF819-8B30-A34D-7BCA-CF118A7E8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9C3B05-9FB8-D933-1748-2E3F0E8DD5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371600"/>
            <a:ext cx="8668424" cy="5136365"/>
          </a:xfrm>
          <a:prstGeom prst="rect">
            <a:avLst/>
          </a:prstGeom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4840807E-3F5B-45F6-927A-AD2AF6DDC3C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pPr>
              <a:defRPr/>
            </a:pPr>
            <a:r>
              <a:rPr lang="en-US" dirty="0"/>
              <a:t>21/12/2020</a:t>
            </a:r>
          </a:p>
        </p:txBody>
      </p:sp>
    </p:spTree>
    <p:extLst>
      <p:ext uri="{BB962C8B-B14F-4D97-AF65-F5344CB8AC3E}">
        <p14:creationId xmlns:p14="http://schemas.microsoft.com/office/powerpoint/2010/main" val="411257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7ADCE-A6D4-4A75-692E-D39D2B1DC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Microprogramming –</a:t>
            </a:r>
            <a:br>
              <a:rPr lang="en-US" dirty="0"/>
            </a:br>
            <a:r>
              <a:rPr lang="en-US" dirty="0"/>
              <a:t>control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F101B-B7FB-A4E3-71BF-C2604B205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</a:t>
            </a:fld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C316549-946D-4BD2-099B-3050DF5591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243666" y="1211502"/>
            <a:ext cx="4900334" cy="2903631"/>
          </a:xfrm>
          <a:prstGeom prst="rect">
            <a:avLst/>
          </a:prstGeom>
        </p:spPr>
      </p:pic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FB476FBA-A198-3196-51E0-7FC2E3526A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471601"/>
              </p:ext>
            </p:extLst>
          </p:nvPr>
        </p:nvGraphicFramePr>
        <p:xfrm>
          <a:off x="70752" y="4255602"/>
          <a:ext cx="9002496" cy="22213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3145">
                  <a:extLst>
                    <a:ext uri="{9D8B030D-6E8A-4147-A177-3AD203B41FA5}">
                      <a16:colId xmlns:a16="http://schemas.microsoft.com/office/drawing/2014/main" val="3409475837"/>
                    </a:ext>
                  </a:extLst>
                </a:gridCol>
                <a:gridCol w="876067">
                  <a:extLst>
                    <a:ext uri="{9D8B030D-6E8A-4147-A177-3AD203B41FA5}">
                      <a16:colId xmlns:a16="http://schemas.microsoft.com/office/drawing/2014/main" val="3145596914"/>
                    </a:ext>
                  </a:extLst>
                </a:gridCol>
                <a:gridCol w="383572">
                  <a:extLst>
                    <a:ext uri="{9D8B030D-6E8A-4147-A177-3AD203B41FA5}">
                      <a16:colId xmlns:a16="http://schemas.microsoft.com/office/drawing/2014/main" val="2588116087"/>
                    </a:ext>
                  </a:extLst>
                </a:gridCol>
                <a:gridCol w="510017">
                  <a:extLst>
                    <a:ext uri="{9D8B030D-6E8A-4147-A177-3AD203B41FA5}">
                      <a16:colId xmlns:a16="http://schemas.microsoft.com/office/drawing/2014/main" val="4269777236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1108492976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187081511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168479161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139766772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265561656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2316052155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53818928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70807453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46434559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683528078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11738407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736024512"/>
                    </a:ext>
                  </a:extLst>
                </a:gridCol>
                <a:gridCol w="375095">
                  <a:extLst>
                    <a:ext uri="{9D8B030D-6E8A-4147-A177-3AD203B41FA5}">
                      <a16:colId xmlns:a16="http://schemas.microsoft.com/office/drawing/2014/main" val="556831134"/>
                    </a:ext>
                  </a:extLst>
                </a:gridCol>
              </a:tblGrid>
              <a:tr h="211202"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State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Pseudocode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IRLd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RegSel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RegWr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RegEn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ALd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BLd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ALUop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ALUen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MALd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MemWr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MemEn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ImmSel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ImmEn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mBr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Nxt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2602937028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F0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PC-&gt;MA, A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PC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N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2709571622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F1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Mem-&gt;IR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1260935910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F2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ALU-&gt;PC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PC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INC_A_4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D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1875999785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ADD0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R[t1]-&gt;A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2405993172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ADD1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R[t2]-&gt;B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1820389711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ADD2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ALU-&gt;R[t0]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1508656455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ADD3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GOTO F0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F0</a:t>
                      </a:r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1633923824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7F7A7ACF-EFDE-748F-01A0-94D21D1AE3ED}"/>
              </a:ext>
            </a:extLst>
          </p:cNvPr>
          <p:cNvSpPr txBox="1"/>
          <p:nvPr/>
        </p:nvSpPr>
        <p:spPr>
          <a:xfrm>
            <a:off x="0" y="1404878"/>
            <a:ext cx="490033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Controller is a state machine (FSM), with transitions defined as:</a:t>
            </a:r>
          </a:p>
          <a:p>
            <a:r>
              <a:rPr lang="en-US" dirty="0"/>
              <a:t>N: go to next state</a:t>
            </a:r>
          </a:p>
          <a:p>
            <a:r>
              <a:rPr lang="en-US" dirty="0"/>
              <a:t>S: do nothing (if ‘busy?’ is asserted) else next state</a:t>
            </a:r>
          </a:p>
          <a:p>
            <a:r>
              <a:rPr lang="en-US" dirty="0"/>
              <a:t>D: check opcode and </a:t>
            </a:r>
            <a:r>
              <a:rPr lang="en-US" dirty="0" err="1"/>
              <a:t>func</a:t>
            </a:r>
            <a:r>
              <a:rPr lang="en-US" dirty="0"/>
              <a:t> and go to correct state</a:t>
            </a:r>
          </a:p>
          <a:p>
            <a:r>
              <a:rPr lang="en-US" dirty="0"/>
              <a:t>J: Jump to a particular state</a:t>
            </a:r>
          </a:p>
          <a:p>
            <a:r>
              <a:rPr lang="en-US" dirty="0"/>
              <a:t>EZ, NZ: Jump if condition true else next state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C5C158-F14B-48DF-B344-54B066453DBE}"/>
              </a:ext>
            </a:extLst>
          </p:cNvPr>
          <p:cNvSpPr txBox="1"/>
          <p:nvPr/>
        </p:nvSpPr>
        <p:spPr>
          <a:xfrm>
            <a:off x="0" y="3877649"/>
            <a:ext cx="4594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FFC000"/>
                </a:solidFill>
              </a:rPr>
              <a:t>Example: add t0 t1 t2</a:t>
            </a:r>
            <a:endParaRPr lang="en-US" dirty="0">
              <a:solidFill>
                <a:srgbClr val="FFC000"/>
              </a:solidFill>
            </a:endParaRP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02D9AD4-993A-4D7D-B0F4-A67DAB5412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pPr>
              <a:defRPr/>
            </a:pPr>
            <a:r>
              <a:rPr lang="en-US" dirty="0"/>
              <a:t>21/12/2020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41A81E1-CB4C-4CE7-9D63-8900A34DA3A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/>
          </a:blip>
          <a:srcRect b="90728"/>
          <a:stretch/>
        </p:blipFill>
        <p:spPr>
          <a:xfrm>
            <a:off x="52023" y="4255603"/>
            <a:ext cx="9045266" cy="21319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EC9EA79-B4D8-4C68-B472-3D02F83E33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/>
          </a:blip>
          <a:srcRect t="1" b="77160"/>
          <a:stretch/>
        </p:blipFill>
        <p:spPr>
          <a:xfrm>
            <a:off x="55855" y="4264225"/>
            <a:ext cx="9045266" cy="52515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C096862-7F08-4FBD-A60A-6473F4F7F3A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/>
          </a:blip>
          <a:srcRect t="1" b="66356"/>
          <a:stretch/>
        </p:blipFill>
        <p:spPr>
          <a:xfrm>
            <a:off x="59687" y="4255601"/>
            <a:ext cx="9045266" cy="77359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0255B4D-628A-4C1A-8F0B-A26012D03EA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/>
          </a:blip>
          <a:srcRect t="2" b="3393"/>
          <a:stretch/>
        </p:blipFill>
        <p:spPr>
          <a:xfrm>
            <a:off x="70752" y="4264225"/>
            <a:ext cx="9045266" cy="2221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61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8E87F-58EA-4A72-840D-5BD4A4E8F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Microsequencer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70A806E-3D62-47B1-B889-DB40EC8902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1586266"/>
            <a:ext cx="9144000" cy="450973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A6A0E0-C870-428F-A9E3-56A56B3FF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42971A-0BE5-4A70-B7C5-3CB3A41B5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B222876-D8B4-4D1D-968D-D2073DD115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Photocopy trans="68000" detail="1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00629" y="4648200"/>
            <a:ext cx="1943371" cy="1867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5057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9C2A2-E746-46D0-87A1-A23D83A7E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Horizontal vs vertical microcode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08A63-9767-416E-9B77-A218310F54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rgbClr val="FFC000"/>
                </a:solidFill>
              </a:rPr>
              <a:t>Horizontal microcode:</a:t>
            </a:r>
          </a:p>
          <a:p>
            <a:r>
              <a:rPr lang="en-US" dirty="0"/>
              <a:t>One bit per signal (one-hot encoding in control word)</a:t>
            </a:r>
          </a:p>
          <a:p>
            <a:r>
              <a:rPr lang="en-US" dirty="0"/>
              <a:t>Wide control word</a:t>
            </a:r>
          </a:p>
          <a:p>
            <a:r>
              <a:rPr lang="en-US" dirty="0"/>
              <a:t>No decoding required</a:t>
            </a:r>
          </a:p>
          <a:p>
            <a:r>
              <a:rPr lang="en-US" dirty="0"/>
              <a:t>Example: 16 different </a:t>
            </a:r>
            <a:r>
              <a:rPr lang="en-US" dirty="0" err="1"/>
              <a:t>alu</a:t>
            </a:r>
            <a:r>
              <a:rPr lang="en-US" dirty="0"/>
              <a:t> operations will have 16 bits in the control word</a:t>
            </a:r>
          </a:p>
          <a:p>
            <a:pPr marL="0" indent="0">
              <a:buNone/>
            </a:pPr>
            <a:r>
              <a:rPr lang="en-US" dirty="0">
                <a:solidFill>
                  <a:srgbClr val="FFC000"/>
                </a:solidFill>
              </a:rPr>
              <a:t>Vertical microcode:</a:t>
            </a:r>
          </a:p>
          <a:p>
            <a:r>
              <a:rPr lang="en-US" dirty="0"/>
              <a:t>Signals are grouped into fields</a:t>
            </a:r>
          </a:p>
          <a:p>
            <a:r>
              <a:rPr lang="en-US" dirty="0"/>
              <a:t>Requires decoder between ROM and </a:t>
            </a:r>
            <a:r>
              <a:rPr lang="en-US" dirty="0" err="1"/>
              <a:t>datapath</a:t>
            </a:r>
            <a:endParaRPr lang="en-US" dirty="0"/>
          </a:p>
          <a:p>
            <a:r>
              <a:rPr lang="en-US" dirty="0"/>
              <a:t>Example: 16 different </a:t>
            </a:r>
            <a:r>
              <a:rPr lang="en-US" dirty="0" err="1"/>
              <a:t>alu</a:t>
            </a:r>
            <a:r>
              <a:rPr lang="en-US" dirty="0"/>
              <a:t> ops encoded in 4-bits in control word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493B57-A9A8-48A3-960D-F50717E55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D22E3-52C0-483F-A7FE-2B6BFB310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11726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79542-6697-4D04-884C-BD9D62FF5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</a:t>
            </a:r>
            <a:r>
              <a:rPr lang="en-US" dirty="0" err="1"/>
              <a:t>microcoding</a:t>
            </a:r>
            <a:r>
              <a:rPr lang="en-US" dirty="0"/>
              <a:t> relevant today?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872B4-7C4B-4F5C-B346-C9E6733F72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CISC legacy: modern Intel/AMD processors are CISC outside, RISC inside</a:t>
            </a:r>
          </a:p>
          <a:p>
            <a:pPr lvl="1"/>
            <a:r>
              <a:rPr lang="en-US" dirty="0"/>
              <a:t>Provide complex instructions in ISA, which are actually decoded into simpler RISC-like microoperation sequences</a:t>
            </a:r>
          </a:p>
          <a:p>
            <a:r>
              <a:rPr lang="en-US" dirty="0"/>
              <a:t>Patching hardware bugs: updates distributed via BIOS/OS upgrades to modify ROM (also called WCS – writable control store) to fix bugs</a:t>
            </a:r>
          </a:p>
          <a:p>
            <a:pPr lvl="1"/>
            <a:r>
              <a:rPr lang="en-US" dirty="0" err="1"/>
              <a:t>Spectre</a:t>
            </a:r>
            <a:r>
              <a:rPr lang="en-US" dirty="0"/>
              <a:t> / meltdown mitigations from Intel</a:t>
            </a:r>
          </a:p>
          <a:p>
            <a:r>
              <a:rPr lang="en-US" dirty="0"/>
              <a:t>Managing complex system-level algorithms</a:t>
            </a:r>
          </a:p>
          <a:p>
            <a:pPr lvl="1"/>
            <a:r>
              <a:rPr lang="en-US" dirty="0"/>
              <a:t>Boot sequences, frequency scaling and power management</a:t>
            </a:r>
          </a:p>
          <a:p>
            <a:r>
              <a:rPr lang="en-US" dirty="0"/>
              <a:t>Hybrid designs: Fast frequent path (hardwired and pipelined) + slow rare path (complex and </a:t>
            </a:r>
            <a:r>
              <a:rPr lang="en-US" dirty="0" err="1"/>
              <a:t>microcoded</a:t>
            </a:r>
            <a:r>
              <a:rPr lang="en-US" dirty="0"/>
              <a:t>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F45115-CC17-48FD-B19B-A44A31756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914484-F556-4A96-9A5A-7B0C26A02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64776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6A3F3-2CA3-8D1A-5536-357C75131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things faster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442BD4-797F-1AA5-2764-BC6AC6CBE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Faster clocks</a:t>
            </a:r>
          </a:p>
          <a:p>
            <a:pPr lvl="1"/>
            <a:r>
              <a:rPr lang="en-US" dirty="0"/>
              <a:t>Device speeds</a:t>
            </a:r>
          </a:p>
          <a:p>
            <a:pPr lvl="1"/>
            <a:r>
              <a:rPr lang="en-US" dirty="0"/>
              <a:t>Datapath capacitance</a:t>
            </a:r>
          </a:p>
          <a:p>
            <a:pPr lvl="1"/>
            <a:r>
              <a:rPr lang="en-US" dirty="0"/>
              <a:t>Clock skew</a:t>
            </a:r>
          </a:p>
          <a:p>
            <a:pPr lvl="1"/>
            <a:r>
              <a:rPr lang="en-US" dirty="0"/>
              <a:t>Power consumption and thermal limit</a:t>
            </a:r>
          </a:p>
          <a:p>
            <a:r>
              <a:rPr lang="en-US" dirty="0"/>
              <a:t>Faster devices</a:t>
            </a:r>
          </a:p>
          <a:p>
            <a:pPr lvl="1"/>
            <a:r>
              <a:rPr lang="en-IN" dirty="0"/>
              <a:t>Physical limits (electrons have finite velocity)</a:t>
            </a:r>
          </a:p>
          <a:p>
            <a:pPr lvl="1"/>
            <a:r>
              <a:rPr lang="en-IN" dirty="0"/>
              <a:t>Memory is inherently very slow!</a:t>
            </a:r>
          </a:p>
          <a:p>
            <a:r>
              <a:rPr lang="en-IN" dirty="0"/>
              <a:t>Parallelize instructions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35AB4-A8D8-BD87-EAE3-BB8757B3B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0ABD3-7205-E050-897B-D08F32691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13449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FC658-A3E8-2536-00F1-50771A3CE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Pipelined multi-cycle processors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44782F-8224-745F-F8CB-36C3361C3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18 February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B65194-2843-AAA6-1532-8E21AE474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B7FB0D-8C4F-F5BE-4C01-E0D207122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0C559C-E30F-8A37-C7A5-1445949A48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612" b="1523"/>
          <a:stretch/>
        </p:blipFill>
        <p:spPr>
          <a:xfrm>
            <a:off x="241149" y="1765935"/>
            <a:ext cx="4444033" cy="24860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748ABB3-2D89-8407-1CDD-F822EA50BF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7180" y="1831498"/>
            <a:ext cx="4229690" cy="2286319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B7DC311-57D1-0B8F-499D-CA0393078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0" y="4349632"/>
            <a:ext cx="8724225" cy="1898768"/>
          </a:xfrm>
        </p:spPr>
        <p:txBody>
          <a:bodyPr/>
          <a:lstStyle/>
          <a:p>
            <a:r>
              <a:rPr lang="en-US" sz="2400" dirty="0"/>
              <a:t>Does not change the latency of individual instructions</a:t>
            </a:r>
          </a:p>
          <a:p>
            <a:r>
              <a:rPr lang="en-US" sz="2400" dirty="0"/>
              <a:t>Increases the throughput of instructions</a:t>
            </a:r>
          </a:p>
          <a:p>
            <a:r>
              <a:rPr lang="en-US" sz="2400" dirty="0"/>
              <a:t>Speedup </a:t>
            </a:r>
            <a:r>
              <a:rPr lang="el-GR" sz="2400" dirty="0"/>
              <a:t>∝</a:t>
            </a:r>
            <a:r>
              <a:rPr lang="en-US" sz="2400" dirty="0"/>
              <a:t> #stages</a:t>
            </a:r>
          </a:p>
          <a:p>
            <a:r>
              <a:rPr lang="en-US" sz="2400" dirty="0"/>
              <a:t>Rate limited by slowest stage</a:t>
            </a:r>
          </a:p>
        </p:txBody>
      </p:sp>
    </p:spTree>
    <p:extLst>
      <p:ext uri="{BB962C8B-B14F-4D97-AF65-F5344CB8AC3E}">
        <p14:creationId xmlns:p14="http://schemas.microsoft.com/office/powerpoint/2010/main" val="2477014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CD59F-4B86-DA75-52B0-5E3FD7FB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Pipelined RISC-V processor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6112DF-BD82-468D-6A85-47C86606E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18 February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A6DB8B-5424-AB6A-0274-1F3608CF6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1446-EB69-E9F2-6259-A78D70F7C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B9AF58F-EA7D-7A57-5C2D-9907E9109C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8600" y="1505612"/>
            <a:ext cx="8647827" cy="4823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9972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21145-0DE4-3ECF-C2A1-855B26F8C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Pipelined RISC-V processor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2AE603-7286-AAEA-CFE4-1DDF5B379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18 February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E0A889-A928-F0A5-E3F6-4B4680CF3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9DA800-094F-054A-F73D-3A4A2DA7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12</a:t>
            </a:fld>
            <a:endParaRPr lang="en-US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A1217202-A09F-5322-DA26-C55378F03E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1943" y="1368029"/>
            <a:ext cx="7557815" cy="3963591"/>
          </a:xfr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E8367E8-1DDA-EF87-332F-074D02336297}"/>
              </a:ext>
            </a:extLst>
          </p:cNvPr>
          <p:cNvSpPr txBox="1"/>
          <p:nvPr/>
        </p:nvSpPr>
        <p:spPr>
          <a:xfrm>
            <a:off x="72866" y="5318117"/>
            <a:ext cx="458628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b="1" dirty="0">
                <a:solidFill>
                  <a:srgbClr val="FF0000"/>
                </a:solidFill>
              </a:rPr>
              <a:t>What problems do you see here?</a:t>
            </a:r>
          </a:p>
        </p:txBody>
      </p:sp>
    </p:spTree>
    <p:extLst>
      <p:ext uri="{BB962C8B-B14F-4D97-AF65-F5344CB8AC3E}">
        <p14:creationId xmlns:p14="http://schemas.microsoft.com/office/powerpoint/2010/main" val="553420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6FD6F-ECAF-401C-643C-43B8994A7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4F3DFA-CB54-2537-5528-EB390C8C3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4BCEC3-E2B4-4BEB-6A27-F76A111A4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E04273-C593-F6A6-A6B1-5D459C6E1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86721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14451</TotalTime>
  <Words>557</Words>
  <Application>Microsoft Office PowerPoint</Application>
  <PresentationFormat>On-screen Show (4:3)</PresentationFormat>
  <Paragraphs>164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Wingdings</vt:lpstr>
      <vt:lpstr>Office Theme</vt:lpstr>
      <vt:lpstr>Computer Architecture</vt:lpstr>
      <vt:lpstr>Microprogramming</vt:lpstr>
      <vt:lpstr>A computer inside the computer – making control itself a program</vt:lpstr>
      <vt:lpstr>Microprogramming – datapath</vt:lpstr>
      <vt:lpstr>Microprogramming – control</vt:lpstr>
      <vt:lpstr>Microsequencer</vt:lpstr>
      <vt:lpstr>Horizontal vs vertical microcode</vt:lpstr>
      <vt:lpstr>Is microcoding relevant today?</vt:lpstr>
      <vt:lpstr>Making things faster</vt:lpstr>
      <vt:lpstr>Pipelined multi-cycle processors</vt:lpstr>
      <vt:lpstr>Pipelined RISC-V processor</vt:lpstr>
      <vt:lpstr>Pipelined RISC-V processor</vt:lpstr>
      <vt:lpstr>PowerPoint Presentation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723</cp:revision>
  <dcterms:created xsi:type="dcterms:W3CDTF">2010-01-15T20:22:21Z</dcterms:created>
  <dcterms:modified xsi:type="dcterms:W3CDTF">2026-02-18T08:52:11Z</dcterms:modified>
</cp:coreProperties>
</file>