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7"/>
  </p:notesMasterIdLst>
  <p:sldIdLst>
    <p:sldId id="337" r:id="rId2"/>
    <p:sldId id="436" r:id="rId3"/>
    <p:sldId id="437" r:id="rId4"/>
    <p:sldId id="344" r:id="rId5"/>
    <p:sldId id="345" r:id="rId6"/>
    <p:sldId id="438" r:id="rId7"/>
    <p:sldId id="439" r:id="rId8"/>
    <p:sldId id="441" r:id="rId9"/>
    <p:sldId id="442" r:id="rId10"/>
    <p:sldId id="346" r:id="rId11"/>
    <p:sldId id="348" r:id="rId12"/>
    <p:sldId id="443" r:id="rId13"/>
    <p:sldId id="349" r:id="rId14"/>
    <p:sldId id="350" r:id="rId15"/>
    <p:sldId id="351" r:id="rId16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2C3E8"/>
    <a:srgbClr val="EA3F26"/>
    <a:srgbClr val="FCD5B5"/>
    <a:srgbClr val="8EB4E3"/>
    <a:srgbClr val="D7E4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4" autoAdjust="0"/>
    <p:restoredTop sz="88284" autoAdjust="0"/>
  </p:normalViewPr>
  <p:slideViewPr>
    <p:cSldViewPr>
      <p:cViewPr varScale="1">
        <p:scale>
          <a:sx n="88" d="100"/>
          <a:sy n="88" d="100"/>
        </p:scale>
        <p:origin x="459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2/20/2026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79DCCC-EBE2-44AD-8EA0-6F319820E96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6223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210E9-01D5-7472-677A-3B0AA2AD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2DDE-7A51-A1A8-5C34-99C6FAA2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8106-2EFE-B03C-0DCC-E1803F83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5451D-6138-4BA6-B687-6C9F908488A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832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72C3E8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E8660-BD03-9DBA-9F27-92B95359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0716-1DFD-E96E-77AC-224DB37B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94D3-6482-D516-F215-AAD295B6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87A73-1AE0-46F8-856A-18EA1CF30A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562307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44638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E40EF-D719-C1DF-C21A-2CF2ACF9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4D67-7283-208E-229E-EF4878C7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BDCE-B7CC-6ED6-F37D-087059BBC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9D9D01-1391-45E0-A9C5-C04635A436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D4032-0DCD-4B56-8C1A-A046DCFB4D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048000"/>
            <a:ext cx="7772400" cy="3124200"/>
          </a:xfr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8803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A1B8B84-BA43-81F2-03D3-23F157EDD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C23C139-D613-6FE7-8352-A2E3C1C6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3CA6A-FAB2-9598-5FD6-5C5FFE4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877344-E1C7-49F4-9630-5A0F623202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23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99FE01-5AE9-7CCB-1DBD-1304A57A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A2B8239-FCBD-23CF-FA37-CDC50DB05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DACE7-853A-4CB8-B825-278E151B1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0D7B-F2AF-465A-8627-050A33B6A2E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9797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0E68BBE-9DA8-9C9C-D822-7FC9D382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D6A7CF-E35D-4F42-293C-8BAB3F13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D87C34F-2852-49F1-C32D-490DE974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B3AC73-65EA-4970-A755-094E5C634C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9387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25E5740-931D-F5B1-D23F-DCBD0C38C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8D1279-085F-FADC-9335-EE951FC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CD80BA-8A05-EF30-056C-D3B895E35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AE7E5-2F0D-40CB-89DC-60190FE7F7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60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0265D46-A9C7-CD06-5134-985F8327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8A55F7D-AFEF-402F-45C6-533ED83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F7864CC-5912-595A-947D-86ED4368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715581-CD01-4CEC-BC8F-7353CE8268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0446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E467ABF-5DBD-0F44-6269-D1296B66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729259-95EB-ABB4-8CC1-6AAA526D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62D7086-DF65-36F8-E6B6-082068B3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2052F0-E69A-488D-AA78-DE7ABB9591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026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C7B9-97C1-73C5-069B-8304F71A5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205D-B0EA-B535-1BCB-C052B27F3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810C2-A27B-66A7-0574-10C22519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9212A-F0D7-4AFF-A386-0ACFB0AAC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412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E6BE-7F7F-94ED-1232-D89436C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733A2-CB01-A6CE-B5D3-DB2ECAFB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1FBA-0C17-A4B8-E194-E3AAE057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9BE82-4715-4ACA-919F-DBB11A70F4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57081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FBFFBE-14B2-F0AF-F4AC-4976B5EA7B3E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76F73-2534-EA66-9BA3-389159441E1E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143B4A-14C2-1094-BE58-15BD80B6D446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59AA-21D7-ABA4-D5D7-76848EAA814B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8" name="Picture 10" descr="BITS_university_logo_whitevert.png">
            <a:extLst>
              <a:ext uri="{FF2B5EF4-FFF2-40B4-BE49-F238E27FC236}">
                <a16:creationId xmlns:a16="http://schemas.microsoft.com/office/drawing/2014/main" id="{4AC502B5-9275-C45A-F485-E98B733254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8592"/>
          <a:stretch>
            <a:fillRect/>
          </a:stretch>
        </p:blipFill>
        <p:spPr bwMode="auto">
          <a:xfrm>
            <a:off x="76200" y="3352800"/>
            <a:ext cx="2057400" cy="1979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90F2E-DD9A-35C4-D90C-49EB0FD21D5D}"/>
              </a:ext>
            </a:extLst>
          </p:cNvPr>
          <p:cNvSpPr txBox="1"/>
          <p:nvPr userDrawn="1"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sz="2900" b="1" spc="-150" dirty="0">
                <a:solidFill>
                  <a:schemeClr val="bg1"/>
                </a:solidFill>
                <a:latin typeface="Arial"/>
                <a:cs typeface="Arial"/>
              </a:rPr>
              <a:t>BITS</a:t>
            </a:r>
            <a:r>
              <a:rPr lang="en-US" sz="2900" spc="-150" dirty="0">
                <a:solidFill>
                  <a:schemeClr val="bg1"/>
                </a:solidFill>
                <a:latin typeface="Arial"/>
                <a:cs typeface="Arial"/>
              </a:rPr>
              <a:t> Pilani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35B97-BCD1-B200-8B0C-6E7F31A5DD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2400" y="5667375"/>
            <a:ext cx="190500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US" sz="1200">
                <a:solidFill>
                  <a:srgbClr val="FFFFFF"/>
                </a:solidFill>
                <a:cs typeface="Arial" charset="0"/>
              </a:rPr>
              <a:t>Pilani Campus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>
            <a:no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>
            <a:noAutofit/>
          </a:bodyPr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371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BA203AAE-04EA-FB40-EB07-8B5C207984B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52400" y="53975"/>
            <a:ext cx="6324600" cy="1195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B0F4528A-9CB7-CDAF-ED2B-34ED924411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52400" y="1446211"/>
            <a:ext cx="8839200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94811-E68F-A5B1-AEDA-C6AFA290A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99238"/>
            <a:ext cx="1828800" cy="2587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10422-B7F7-81EF-261E-27508681B4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599238"/>
            <a:ext cx="28956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rgbClr val="101141"/>
                </a:solidFill>
                <a:cs typeface="Arial" charset="0"/>
              </a:rPr>
              <a:t>BITS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,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 Campus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8BB7-5B9C-07D9-CEF5-0333C5055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86800" y="6599238"/>
            <a:ext cx="4572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75A4CA-FE82-4068-9563-37A5A44B58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7" name="Picture 11" descr="Picture 7.png">
            <a:extLst>
              <a:ext uri="{FF2B5EF4-FFF2-40B4-BE49-F238E27FC236}">
                <a16:creationId xmlns:a16="http://schemas.microsoft.com/office/drawing/2014/main" id="{B1A82462-8175-42D8-B46C-67766E05E740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oup 18">
            <a:extLst>
              <a:ext uri="{FF2B5EF4-FFF2-40B4-BE49-F238E27FC236}">
                <a16:creationId xmlns:a16="http://schemas.microsoft.com/office/drawing/2014/main" id="{F71B9737-4DA8-4B8F-9335-5F2A7C906531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2335E3-1C88-4FEB-B3EA-2686D6520BDF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7711E8-77A4-4937-A983-1A5FDBFC0894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C71875C-BA0F-4B96-BF59-4025A49FA021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C2B4447A-9437-4C8F-B654-838CD5BB8615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377527-4981-49F2-8F12-B5DB6F066126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B94671-9EEF-4175-9164-57B69291B8A6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D2EC7A3-548A-4998-81D6-DC9D9CECAAD8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34" r:id="rId2"/>
    <p:sldLayoutId id="2147484835" r:id="rId3"/>
    <p:sldLayoutId id="2147484836" r:id="rId4"/>
    <p:sldLayoutId id="2147484837" r:id="rId5"/>
    <p:sldLayoutId id="2147484838" r:id="rId6"/>
    <p:sldLayoutId id="2147484839" r:id="rId7"/>
    <p:sldLayoutId id="2147484840" r:id="rId8"/>
    <p:sldLayoutId id="2147484841" r:id="rId9"/>
    <p:sldLayoutId id="2147484842" r:id="rId10"/>
    <p:sldLayoutId id="2147484843" r:id="rId11"/>
    <p:sldLayoutId id="2147484844" r:id="rId12"/>
  </p:sldLayoutIdLst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 kern="1200">
          <a:solidFill>
            <a:srgbClr val="72C3E8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microsoft.com/office/2007/relationships/hdphoto" Target="../media/hdphoto2.wdp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>
            <a:extLst>
              <a:ext uri="{FF2B5EF4-FFF2-40B4-BE49-F238E27FC236}">
                <a16:creationId xmlns:a16="http://schemas.microsoft.com/office/drawing/2014/main" id="{82CCF8E8-8D44-B829-5D34-BCFE6E2C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Computer Architecture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BD772D-9840-4762-E3C3-128057D3E9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2000" dirty="0"/>
              <a:t>Prof. Saurabh Gandhi (EEE department)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66C2A-CA34-4E01-AD5C-78E835848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Microprogramming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F07FB-2B66-45BE-B34D-AC1A7E92D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6DBEC6-862C-44B4-B6E4-A872E69D351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2667000"/>
            <a:ext cx="7772400" cy="3124200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Pain points for hardwired FSM control</a:t>
            </a:r>
          </a:p>
          <a:p>
            <a:r>
              <a:rPr lang="en-US" dirty="0"/>
              <a:t>State explosion for rich ISAs</a:t>
            </a:r>
          </a:p>
          <a:p>
            <a:r>
              <a:rPr lang="en-US" dirty="0"/>
              <a:t>Difficult to modify / extend instruction set in a modular fashion</a:t>
            </a:r>
          </a:p>
          <a:p>
            <a:r>
              <a:rPr lang="en-US" dirty="0"/>
              <a:t>Difficult verification (verify everything after any modification</a:t>
            </a:r>
          </a:p>
          <a:p>
            <a:r>
              <a:rPr lang="en-US" dirty="0"/>
              <a:t>Irregular structure – difficult to optimize in silicon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0F6149F9-AC43-B143-FA9F-C4BBA38720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fld id="{B4B13859-67C5-4393-B6C2-556CF3F770C0}" type="datetime3">
              <a:rPr lang="en-US" smtClean="0"/>
              <a:t>20 February 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598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6199D-6238-4C0E-B579-342DDB23F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5"/>
            <a:ext cx="6629400" cy="1195386"/>
          </a:xfrm>
        </p:spPr>
        <p:txBody>
          <a:bodyPr/>
          <a:lstStyle/>
          <a:p>
            <a:r>
              <a:rPr lang="en-US" dirty="0"/>
              <a:t>A computer inside the computer – making control itself a program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AEBEDE-B459-4B37-B01E-8D82C671E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Break up instruction processing into </a:t>
            </a:r>
            <a:r>
              <a:rPr lang="en-US" i="1" dirty="0"/>
              <a:t>microinstructions</a:t>
            </a:r>
            <a:endParaRPr lang="en-US" dirty="0"/>
          </a:p>
          <a:p>
            <a:r>
              <a:rPr lang="en-US" dirty="0"/>
              <a:t>Several microinstructions </a:t>
            </a:r>
            <a:r>
              <a:rPr lang="en-US" dirty="0">
                <a:sym typeface="Wingdings" panose="05000000000000000000" pitchFamily="2" charset="2"/>
              </a:rPr>
              <a:t> single instruction</a:t>
            </a:r>
          </a:p>
          <a:p>
            <a:r>
              <a:rPr lang="en-US" dirty="0">
                <a:sym typeface="Wingdings" panose="05000000000000000000" pitchFamily="2" charset="2"/>
              </a:rPr>
              <a:t>FSM State  microinstruction</a:t>
            </a:r>
          </a:p>
          <a:p>
            <a:r>
              <a:rPr lang="en-US" dirty="0">
                <a:sym typeface="Wingdings" panose="05000000000000000000" pitchFamily="2" charset="2"/>
              </a:rPr>
              <a:t>Control signals for each microinstruction stored in ROM</a:t>
            </a:r>
          </a:p>
          <a:p>
            <a:r>
              <a:rPr lang="en-US" dirty="0"/>
              <a:t>µPC (Micro-Program Counter): Points to the current micro-instruction</a:t>
            </a:r>
          </a:p>
          <a:p>
            <a:r>
              <a:rPr lang="en-US" dirty="0"/>
              <a:t>Address Select Logic: Decides the next µPC (state transition in our FSM)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575471-E449-4068-B307-B037EA274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DD8FD825-8547-4437-DB1C-EA4949BC18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fld id="{B4B13859-67C5-4393-B6C2-556CF3F770C0}" type="datetime3">
              <a:rPr lang="en-US" smtClean="0"/>
              <a:t>20 February 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3291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AC3DC-F384-5322-E88A-FF4562B67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50" y="277671"/>
            <a:ext cx="5452110" cy="790420"/>
          </a:xfrm>
        </p:spPr>
        <p:txBody>
          <a:bodyPr>
            <a:noAutofit/>
          </a:bodyPr>
          <a:lstStyle/>
          <a:p>
            <a:r>
              <a:rPr lang="en-US" dirty="0"/>
              <a:t>Microprogramming – </a:t>
            </a:r>
            <a:r>
              <a:rPr lang="en-US" dirty="0" err="1"/>
              <a:t>datapath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CF819-8B30-A34D-7BCA-CF118A7E8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9C3B05-9FB8-D933-1748-2E3F0E8DD5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1371600"/>
            <a:ext cx="8668424" cy="5136365"/>
          </a:xfrm>
          <a:prstGeom prst="rect">
            <a:avLst/>
          </a:prstGeom>
        </p:spPr>
      </p:pic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AA382A41-2180-A4F3-BB6B-CD62B631D1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fld id="{B4B13859-67C5-4393-B6C2-556CF3F770C0}" type="datetime3">
              <a:rPr lang="en-US" smtClean="0"/>
              <a:t>20 February 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257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7ADCE-A6D4-4A75-692E-D39D2B1DC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Microprogramming –</a:t>
            </a:r>
            <a:br>
              <a:rPr lang="en-US" dirty="0"/>
            </a:br>
            <a:r>
              <a:rPr lang="en-US" dirty="0"/>
              <a:t>control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F101B-B7FB-A4E3-71BF-C2604B205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</a:t>
            </a:fld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C316549-946D-4BD2-099B-3050DF5591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243666" y="1211502"/>
            <a:ext cx="4900334" cy="2903631"/>
          </a:xfrm>
          <a:prstGeom prst="rect">
            <a:avLst/>
          </a:prstGeom>
        </p:spPr>
      </p:pic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FB476FBA-A198-3196-51E0-7FC2E3526A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8471601"/>
              </p:ext>
            </p:extLst>
          </p:nvPr>
        </p:nvGraphicFramePr>
        <p:xfrm>
          <a:off x="70752" y="4255602"/>
          <a:ext cx="9002496" cy="22213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3145">
                  <a:extLst>
                    <a:ext uri="{9D8B030D-6E8A-4147-A177-3AD203B41FA5}">
                      <a16:colId xmlns:a16="http://schemas.microsoft.com/office/drawing/2014/main" val="3409475837"/>
                    </a:ext>
                  </a:extLst>
                </a:gridCol>
                <a:gridCol w="876067">
                  <a:extLst>
                    <a:ext uri="{9D8B030D-6E8A-4147-A177-3AD203B41FA5}">
                      <a16:colId xmlns:a16="http://schemas.microsoft.com/office/drawing/2014/main" val="3145596914"/>
                    </a:ext>
                  </a:extLst>
                </a:gridCol>
                <a:gridCol w="383572">
                  <a:extLst>
                    <a:ext uri="{9D8B030D-6E8A-4147-A177-3AD203B41FA5}">
                      <a16:colId xmlns:a16="http://schemas.microsoft.com/office/drawing/2014/main" val="2588116087"/>
                    </a:ext>
                  </a:extLst>
                </a:gridCol>
                <a:gridCol w="510017">
                  <a:extLst>
                    <a:ext uri="{9D8B030D-6E8A-4147-A177-3AD203B41FA5}">
                      <a16:colId xmlns:a16="http://schemas.microsoft.com/office/drawing/2014/main" val="4269777236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1108492976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1870815114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3168479161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139766772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265561656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2316052155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53818928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70807453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46434559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683528078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117384074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736024512"/>
                    </a:ext>
                  </a:extLst>
                </a:gridCol>
                <a:gridCol w="375095">
                  <a:extLst>
                    <a:ext uri="{9D8B030D-6E8A-4147-A177-3AD203B41FA5}">
                      <a16:colId xmlns:a16="http://schemas.microsoft.com/office/drawing/2014/main" val="556831134"/>
                    </a:ext>
                  </a:extLst>
                </a:gridCol>
              </a:tblGrid>
              <a:tr h="211202">
                <a:tc>
                  <a:txBody>
                    <a:bodyPr/>
                    <a:lstStyle/>
                    <a:p>
                      <a:pPr algn="ctr"/>
                      <a:r>
                        <a:rPr lang="en-US" sz="1000" dirty="0"/>
                        <a:t>State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/>
                        <a:t>Pseudocode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IRLd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RegSel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RegWr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RegEn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ALd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BLd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ALUop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ALUen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MALd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MemWr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MemEn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ImmSel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ImmEn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mBr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Nxt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extLst>
                  <a:ext uri="{0D108BD9-81ED-4DB2-BD59-A6C34878D82A}">
                    <a16:rowId xmlns:a16="http://schemas.microsoft.com/office/drawing/2014/main" val="2602937028"/>
                  </a:ext>
                </a:extLst>
              </a:tr>
              <a:tr h="285514">
                <a:tc>
                  <a:txBody>
                    <a:bodyPr/>
                    <a:lstStyle/>
                    <a:p>
                      <a:r>
                        <a:rPr lang="en-US" sz="1200" b="1" dirty="0"/>
                        <a:t>F0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PC-&gt;MA, A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PC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N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extLst>
                  <a:ext uri="{0D108BD9-81ED-4DB2-BD59-A6C34878D82A}">
                    <a16:rowId xmlns:a16="http://schemas.microsoft.com/office/drawing/2014/main" val="2709571622"/>
                  </a:ext>
                </a:extLst>
              </a:tr>
              <a:tr h="285514">
                <a:tc>
                  <a:txBody>
                    <a:bodyPr/>
                    <a:lstStyle/>
                    <a:p>
                      <a:r>
                        <a:rPr lang="en-US" sz="1200" b="1" dirty="0"/>
                        <a:t>F1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Mem-&gt;IR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S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extLst>
                  <a:ext uri="{0D108BD9-81ED-4DB2-BD59-A6C34878D82A}">
                    <a16:rowId xmlns:a16="http://schemas.microsoft.com/office/drawing/2014/main" val="1260935910"/>
                  </a:ext>
                </a:extLst>
              </a:tr>
              <a:tr h="285514">
                <a:tc>
                  <a:txBody>
                    <a:bodyPr/>
                    <a:lstStyle/>
                    <a:p>
                      <a:r>
                        <a:rPr lang="en-US" sz="1200" b="1" dirty="0"/>
                        <a:t>F2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ALU-&gt;PC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PC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INC_A_4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D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extLst>
                  <a:ext uri="{0D108BD9-81ED-4DB2-BD59-A6C34878D82A}">
                    <a16:rowId xmlns:a16="http://schemas.microsoft.com/office/drawing/2014/main" val="1875999785"/>
                  </a:ext>
                </a:extLst>
              </a:tr>
              <a:tr h="285514">
                <a:tc>
                  <a:txBody>
                    <a:bodyPr/>
                    <a:lstStyle/>
                    <a:p>
                      <a:r>
                        <a:rPr lang="en-US" sz="1200" b="1" dirty="0"/>
                        <a:t>ADD0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R[t1]-&gt;A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extLst>
                  <a:ext uri="{0D108BD9-81ED-4DB2-BD59-A6C34878D82A}">
                    <a16:rowId xmlns:a16="http://schemas.microsoft.com/office/drawing/2014/main" val="2405993172"/>
                  </a:ext>
                </a:extLst>
              </a:tr>
              <a:tr h="285514">
                <a:tc>
                  <a:txBody>
                    <a:bodyPr/>
                    <a:lstStyle/>
                    <a:p>
                      <a:r>
                        <a:rPr lang="en-US" sz="1200" b="1" dirty="0"/>
                        <a:t>ADD1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R[t2]-&gt;B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extLst>
                  <a:ext uri="{0D108BD9-81ED-4DB2-BD59-A6C34878D82A}">
                    <a16:rowId xmlns:a16="http://schemas.microsoft.com/office/drawing/2014/main" val="1820389711"/>
                  </a:ext>
                </a:extLst>
              </a:tr>
              <a:tr h="285514">
                <a:tc>
                  <a:txBody>
                    <a:bodyPr/>
                    <a:lstStyle/>
                    <a:p>
                      <a:r>
                        <a:rPr lang="en-US" sz="1200" b="1" dirty="0"/>
                        <a:t>ADD2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ALU-&gt;R[t0]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extLst>
                  <a:ext uri="{0D108BD9-81ED-4DB2-BD59-A6C34878D82A}">
                    <a16:rowId xmlns:a16="http://schemas.microsoft.com/office/drawing/2014/main" val="1508656455"/>
                  </a:ext>
                </a:extLst>
              </a:tr>
              <a:tr h="285514">
                <a:tc>
                  <a:txBody>
                    <a:bodyPr/>
                    <a:lstStyle/>
                    <a:p>
                      <a:r>
                        <a:rPr lang="en-US" sz="1200" b="1" dirty="0"/>
                        <a:t>ADD3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GOTO F0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F0</a:t>
                      </a:r>
                    </a:p>
                  </a:txBody>
                  <a:tcPr marL="70401" marR="70401" marT="35200" marB="35200"/>
                </a:tc>
                <a:extLst>
                  <a:ext uri="{0D108BD9-81ED-4DB2-BD59-A6C34878D82A}">
                    <a16:rowId xmlns:a16="http://schemas.microsoft.com/office/drawing/2014/main" val="1633923824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7F7A7ACF-EFDE-748F-01A0-94D21D1AE3ED}"/>
              </a:ext>
            </a:extLst>
          </p:cNvPr>
          <p:cNvSpPr txBox="1"/>
          <p:nvPr/>
        </p:nvSpPr>
        <p:spPr>
          <a:xfrm>
            <a:off x="0" y="1404878"/>
            <a:ext cx="4900333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Controller is a state machine (FSM), with transitions defined as:</a:t>
            </a:r>
          </a:p>
          <a:p>
            <a:r>
              <a:rPr lang="en-US" dirty="0"/>
              <a:t>N: go to next state</a:t>
            </a:r>
          </a:p>
          <a:p>
            <a:r>
              <a:rPr lang="en-US" dirty="0"/>
              <a:t>S: do nothing (if ‘busy?’ is asserted) else next state</a:t>
            </a:r>
          </a:p>
          <a:p>
            <a:r>
              <a:rPr lang="en-US" dirty="0"/>
              <a:t>D: check opcode and </a:t>
            </a:r>
            <a:r>
              <a:rPr lang="en-US" dirty="0" err="1"/>
              <a:t>func</a:t>
            </a:r>
            <a:r>
              <a:rPr lang="en-US" dirty="0"/>
              <a:t> and go to correct state</a:t>
            </a:r>
          </a:p>
          <a:p>
            <a:r>
              <a:rPr lang="en-US" dirty="0"/>
              <a:t>J: Jump to a particular state</a:t>
            </a:r>
          </a:p>
          <a:p>
            <a:r>
              <a:rPr lang="en-US" dirty="0"/>
              <a:t>EZ, NZ: Jump if condition true else next state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C5C158-F14B-48DF-B344-54B066453DBE}"/>
              </a:ext>
            </a:extLst>
          </p:cNvPr>
          <p:cNvSpPr txBox="1"/>
          <p:nvPr/>
        </p:nvSpPr>
        <p:spPr>
          <a:xfrm>
            <a:off x="0" y="3877649"/>
            <a:ext cx="45944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FFC000"/>
                </a:solidFill>
              </a:rPr>
              <a:t>Example: add t0 t1 t2</a:t>
            </a:r>
            <a:endParaRPr lang="en-US" dirty="0">
              <a:solidFill>
                <a:srgbClr val="FFC000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41A81E1-CB4C-4CE7-9D63-8900A34DA3A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/>
          </a:blip>
          <a:srcRect b="90728"/>
          <a:stretch/>
        </p:blipFill>
        <p:spPr>
          <a:xfrm>
            <a:off x="52023" y="4255603"/>
            <a:ext cx="9045266" cy="21319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EC9EA79-B4D8-4C68-B472-3D02F83E33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/>
          </a:blip>
          <a:srcRect t="1" b="77160"/>
          <a:stretch/>
        </p:blipFill>
        <p:spPr>
          <a:xfrm>
            <a:off x="55855" y="4264225"/>
            <a:ext cx="9045266" cy="52515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C096862-7F08-4FBD-A60A-6473F4F7F3A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/>
          </a:blip>
          <a:srcRect t="1" b="66356"/>
          <a:stretch/>
        </p:blipFill>
        <p:spPr>
          <a:xfrm>
            <a:off x="59687" y="4255601"/>
            <a:ext cx="9045266" cy="77359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0255B4D-628A-4C1A-8F0B-A26012D03EA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/>
          </a:blip>
          <a:srcRect t="2" b="3393"/>
          <a:stretch/>
        </p:blipFill>
        <p:spPr>
          <a:xfrm>
            <a:off x="70752" y="4264225"/>
            <a:ext cx="9045266" cy="2221397"/>
          </a:xfrm>
          <a:prstGeom prst="rect">
            <a:avLst/>
          </a:prstGeom>
        </p:spPr>
      </p:pic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43258CD4-FA23-7357-7DC0-CAFD58FE905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fld id="{B4B13859-67C5-4393-B6C2-556CF3F770C0}" type="datetime3">
              <a:rPr lang="en-US" smtClean="0"/>
              <a:t>20 February 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661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uild="p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8E87F-58EA-4A72-840D-5BD4A4E8F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Microsequencer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70A806E-3D62-47B1-B889-DB40EC8902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hotocopy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1586266"/>
            <a:ext cx="9144000" cy="4509734"/>
          </a:xfr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42971A-0BE5-4A70-B7C5-3CB3A41B5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B222876-D8B4-4D1D-968D-D2073DD115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Photocopy trans="68000" detail="1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00629" y="4648200"/>
            <a:ext cx="1943371" cy="1867161"/>
          </a:xfrm>
          <a:prstGeom prst="rect">
            <a:avLst/>
          </a:prstGeom>
        </p:spPr>
      </p:pic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D3C6321B-DC4B-7E7D-F10D-B8280E6228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fld id="{B4B13859-67C5-4393-B6C2-556CF3F770C0}" type="datetime3">
              <a:rPr lang="en-US" smtClean="0"/>
              <a:t>20 February 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05057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9C2A2-E746-46D0-87A1-A23D83A7E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Horizontal vs vertical microcode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808A63-9767-416E-9B77-A218310F54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solidFill>
                  <a:srgbClr val="FFC000"/>
                </a:solidFill>
              </a:rPr>
              <a:t>Horizontal microcode:</a:t>
            </a:r>
          </a:p>
          <a:p>
            <a:r>
              <a:rPr lang="en-US" dirty="0"/>
              <a:t>One bit per signal (one-hot encoding in control word)</a:t>
            </a:r>
          </a:p>
          <a:p>
            <a:r>
              <a:rPr lang="en-US" dirty="0"/>
              <a:t>Wide control word</a:t>
            </a:r>
          </a:p>
          <a:p>
            <a:r>
              <a:rPr lang="en-US" dirty="0"/>
              <a:t>No decoding required</a:t>
            </a:r>
          </a:p>
          <a:p>
            <a:r>
              <a:rPr lang="en-US" dirty="0"/>
              <a:t>Example: 16 different </a:t>
            </a:r>
            <a:r>
              <a:rPr lang="en-US" dirty="0" err="1"/>
              <a:t>alu</a:t>
            </a:r>
            <a:r>
              <a:rPr lang="en-US" dirty="0"/>
              <a:t> operations will have 16 bits in the control word</a:t>
            </a:r>
          </a:p>
          <a:p>
            <a:pPr marL="0" indent="0">
              <a:buNone/>
            </a:pPr>
            <a:r>
              <a:rPr lang="en-US" dirty="0">
                <a:solidFill>
                  <a:srgbClr val="FFC000"/>
                </a:solidFill>
              </a:rPr>
              <a:t>Vertical microcode:</a:t>
            </a:r>
          </a:p>
          <a:p>
            <a:r>
              <a:rPr lang="en-US" dirty="0"/>
              <a:t>Signals are grouped into fields</a:t>
            </a:r>
          </a:p>
          <a:p>
            <a:r>
              <a:rPr lang="en-US" dirty="0"/>
              <a:t>Requires decoder between ROM and </a:t>
            </a:r>
            <a:r>
              <a:rPr lang="en-US" dirty="0" err="1"/>
              <a:t>datapath</a:t>
            </a:r>
            <a:endParaRPr lang="en-US" dirty="0"/>
          </a:p>
          <a:p>
            <a:r>
              <a:rPr lang="en-US" dirty="0"/>
              <a:t>Example: 16 different </a:t>
            </a:r>
            <a:r>
              <a:rPr lang="en-US" dirty="0" err="1"/>
              <a:t>alu</a:t>
            </a:r>
            <a:r>
              <a:rPr lang="en-US" dirty="0"/>
              <a:t> ops encoded in 4-bits in control word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DD22E3-52C0-483F-A7FE-2B6BFB310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E9AE4983-FA7F-4DB3-E9D7-911348886ED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fld id="{B4B13859-67C5-4393-B6C2-556CF3F770C0}" type="datetime3">
              <a:rPr lang="en-US" smtClean="0"/>
              <a:t>20 February 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1726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79542-6697-4D04-884C-BD9D62FF5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</a:t>
            </a:r>
            <a:r>
              <a:rPr lang="en-US" dirty="0" err="1"/>
              <a:t>microcoding</a:t>
            </a:r>
            <a:r>
              <a:rPr lang="en-US" dirty="0"/>
              <a:t> relevant today?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872B4-7C4B-4F5C-B346-C9E6733F72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CISC legacy: modern Intel/AMD processors are CISC outside, RISC inside</a:t>
            </a:r>
          </a:p>
          <a:p>
            <a:pPr lvl="1"/>
            <a:r>
              <a:rPr lang="en-US" dirty="0"/>
              <a:t>Provide complex instructions in ISA, which are actually decoded into simpler RISC-like microoperation sequences</a:t>
            </a:r>
          </a:p>
          <a:p>
            <a:r>
              <a:rPr lang="en-US" dirty="0"/>
              <a:t>Patching hardware bugs: updates distributed via BIOS/OS upgrades to modify ROM (also called WCS – writable control store) to fix bugs</a:t>
            </a:r>
          </a:p>
          <a:p>
            <a:pPr lvl="1"/>
            <a:r>
              <a:rPr lang="en-US" dirty="0" err="1"/>
              <a:t>Spectre</a:t>
            </a:r>
            <a:r>
              <a:rPr lang="en-US" dirty="0"/>
              <a:t> / meltdown mitigations from Intel</a:t>
            </a:r>
          </a:p>
          <a:p>
            <a:r>
              <a:rPr lang="en-US" dirty="0"/>
              <a:t>Managing complex system-level algorithms</a:t>
            </a:r>
          </a:p>
          <a:p>
            <a:pPr lvl="1"/>
            <a:r>
              <a:rPr lang="en-US" dirty="0"/>
              <a:t>Boot sequences, frequency scaling and power management</a:t>
            </a:r>
          </a:p>
          <a:p>
            <a:r>
              <a:rPr lang="en-US" dirty="0"/>
              <a:t>Hybrid designs: Fast frequent path (hardwired and pipelined) + slow rare path (complex and </a:t>
            </a:r>
            <a:r>
              <a:rPr lang="en-US" dirty="0" err="1"/>
              <a:t>microcoded</a:t>
            </a:r>
            <a:r>
              <a:rPr lang="en-US" dirty="0"/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914484-F556-4A96-9A5A-7B0C26A02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ADA22CF2-6854-FBA1-1ED5-F9818A0DEE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fld id="{B4B13859-67C5-4393-B6C2-556CF3F770C0}" type="datetime3">
              <a:rPr lang="en-US" smtClean="0"/>
              <a:t>20 February 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47768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6A3F3-2CA3-8D1A-5536-357C75131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things faster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442BD4-797F-1AA5-2764-BC6AC6CBEF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Faster clocks</a:t>
            </a:r>
          </a:p>
          <a:p>
            <a:pPr lvl="1"/>
            <a:r>
              <a:rPr lang="en-US" dirty="0"/>
              <a:t>Device speeds</a:t>
            </a:r>
          </a:p>
          <a:p>
            <a:pPr lvl="1"/>
            <a:r>
              <a:rPr lang="en-US" dirty="0"/>
              <a:t>Datapath capacitance</a:t>
            </a:r>
          </a:p>
          <a:p>
            <a:pPr lvl="1"/>
            <a:r>
              <a:rPr lang="en-US" dirty="0"/>
              <a:t>Clock skew</a:t>
            </a:r>
          </a:p>
          <a:p>
            <a:pPr lvl="1"/>
            <a:r>
              <a:rPr lang="en-US" dirty="0"/>
              <a:t>Power consumption and thermal limit</a:t>
            </a:r>
          </a:p>
          <a:p>
            <a:r>
              <a:rPr lang="en-US" dirty="0"/>
              <a:t>Faster devices</a:t>
            </a:r>
          </a:p>
          <a:p>
            <a:pPr lvl="1"/>
            <a:r>
              <a:rPr lang="en-IN" dirty="0"/>
              <a:t>Physical limits (electrons have finite velocity)</a:t>
            </a:r>
          </a:p>
          <a:p>
            <a:pPr lvl="1"/>
            <a:r>
              <a:rPr lang="en-IN" dirty="0"/>
              <a:t>Memory is inherently very slow!</a:t>
            </a:r>
          </a:p>
          <a:p>
            <a:r>
              <a:rPr lang="en-IN" dirty="0"/>
              <a:t>Parallelize instructions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0ABD3-7205-E050-897B-D08F32691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A2CA7FC3-1BE6-ACBD-0C78-2DDDA8385E2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fld id="{B4B13859-67C5-4393-B6C2-556CF3F770C0}" type="datetime3">
              <a:rPr lang="en-US" smtClean="0"/>
              <a:t>20 February 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449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FC658-A3E8-2536-00F1-50771A3CE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Pipelined multi-cycle processors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44782F-8224-745F-F8CB-36C3361C3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20 February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B7FB0D-8C4F-F5BE-4C01-E0D207122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10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E0C559C-E30F-8A37-C7A5-1445949A481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612" b="1523"/>
          <a:stretch/>
        </p:blipFill>
        <p:spPr>
          <a:xfrm>
            <a:off x="241149" y="1765935"/>
            <a:ext cx="4444033" cy="24860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748ABB3-2D89-8407-1CDD-F822EA50BF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7180" y="1831498"/>
            <a:ext cx="4229690" cy="2286319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4B7DC311-57D1-0B8F-499D-CA03930782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0" y="4349632"/>
            <a:ext cx="8724225" cy="1898768"/>
          </a:xfrm>
        </p:spPr>
        <p:txBody>
          <a:bodyPr/>
          <a:lstStyle/>
          <a:p>
            <a:r>
              <a:rPr lang="en-US" sz="2400" dirty="0"/>
              <a:t>Does not change the latency of individual instructions</a:t>
            </a:r>
          </a:p>
          <a:p>
            <a:r>
              <a:rPr lang="en-US" sz="2400" dirty="0"/>
              <a:t>Increases the throughput of instructions</a:t>
            </a:r>
          </a:p>
          <a:p>
            <a:r>
              <a:rPr lang="en-US" sz="2400" dirty="0"/>
              <a:t>Speedup </a:t>
            </a:r>
            <a:r>
              <a:rPr lang="el-GR" sz="2400" dirty="0"/>
              <a:t>∝</a:t>
            </a:r>
            <a:r>
              <a:rPr lang="en-US" sz="2400" dirty="0"/>
              <a:t> #stages</a:t>
            </a:r>
          </a:p>
          <a:p>
            <a:r>
              <a:rPr lang="en-US" sz="2400" dirty="0"/>
              <a:t>Rate limited by slowest stage</a:t>
            </a:r>
          </a:p>
        </p:txBody>
      </p:sp>
    </p:spTree>
    <p:extLst>
      <p:ext uri="{BB962C8B-B14F-4D97-AF65-F5344CB8AC3E}">
        <p14:creationId xmlns:p14="http://schemas.microsoft.com/office/powerpoint/2010/main" val="2477014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CD59F-4B86-DA75-52B0-5E3FD7FB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Pipelined RISC-V processor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6112DF-BD82-468D-6A85-47C86606E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20 February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A6DB8B-5424-AB6A-0274-1F3608CF6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01446-EB69-E9F2-6259-A78D70F7C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11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B9AF58F-EA7D-7A57-5C2D-9907E9109C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8600" y="1505612"/>
            <a:ext cx="8647827" cy="4823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9972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0E343-C9B0-6137-E67E-CBEBA5E68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control?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A67459-7D49-DB90-976B-81F1B57200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do we modify the control circuit from the single cycle control?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Pipeline</a:t>
            </a:r>
            <a:br>
              <a:rPr lang="en-US" dirty="0"/>
            </a:br>
            <a:r>
              <a:rPr lang="en-US" dirty="0"/>
              <a:t>control</a:t>
            </a:r>
            <a:br>
              <a:rPr lang="en-US" dirty="0"/>
            </a:br>
            <a:r>
              <a:rPr lang="en-US" dirty="0"/>
              <a:t>bits!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75BFF6-1DCB-FA3F-9386-338D00A68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CB4B1EFB-D648-A8D7-2000-C37DBBC849B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fld id="{B4B13859-67C5-4393-B6C2-556CF3F770C0}" type="datetime3">
              <a:rPr lang="en-US" smtClean="0"/>
              <a:t>20 February 2026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E370119-C2F6-7450-F869-F743CD60A6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41114" y="2514600"/>
            <a:ext cx="6912386" cy="3855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0419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21145-0DE4-3ECF-C2A1-855B26F8C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Pipelined RISC-V processor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2AE603-7286-AAEA-CFE4-1DDF5B3793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20 February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E0A889-A928-F0A5-E3F6-4B4680CF3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9DA800-094F-054A-F73D-3A4A2DA7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13</a:t>
            </a:fld>
            <a:endParaRPr lang="en-US"/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A1217202-A09F-5322-DA26-C55378F03E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01943" y="1368029"/>
            <a:ext cx="7557815" cy="3963591"/>
          </a:xfr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E8367E8-1DDA-EF87-332F-074D02336297}"/>
              </a:ext>
            </a:extLst>
          </p:cNvPr>
          <p:cNvSpPr txBox="1"/>
          <p:nvPr/>
        </p:nvSpPr>
        <p:spPr>
          <a:xfrm>
            <a:off x="72866" y="5318117"/>
            <a:ext cx="4586288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00" b="1" dirty="0">
                <a:solidFill>
                  <a:srgbClr val="FF0000"/>
                </a:solidFill>
              </a:rPr>
              <a:t>What problems do you see here?</a:t>
            </a:r>
          </a:p>
        </p:txBody>
      </p:sp>
    </p:spTree>
    <p:extLst>
      <p:ext uri="{BB962C8B-B14F-4D97-AF65-F5344CB8AC3E}">
        <p14:creationId xmlns:p14="http://schemas.microsoft.com/office/powerpoint/2010/main" val="553420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33A02-FC6C-A0A8-0477-75D0D368D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Pipelining hazards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C42703-A6C6-4F6F-2F81-3E5915C82C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A hazard is a situation that prevents starting the next instruction in the next clock cycle</a:t>
            </a:r>
          </a:p>
          <a:p>
            <a:pPr>
              <a:buAutoNum type="arabicParenR"/>
            </a:pPr>
            <a:r>
              <a:rPr lang="en-US" sz="2800" dirty="0">
                <a:solidFill>
                  <a:srgbClr val="FFC000"/>
                </a:solidFill>
              </a:rPr>
              <a:t>Structural hazard</a:t>
            </a:r>
          </a:p>
          <a:p>
            <a:pPr lvl="1"/>
            <a:r>
              <a:rPr lang="en-US" sz="2400" dirty="0"/>
              <a:t>A required resource is busy</a:t>
            </a:r>
          </a:p>
          <a:p>
            <a:pPr lvl="1"/>
            <a:r>
              <a:rPr lang="en-US" sz="2400" dirty="0"/>
              <a:t>(e.g. needed in multiple stages)</a:t>
            </a:r>
          </a:p>
          <a:p>
            <a:pPr>
              <a:buAutoNum type="arabicParenR"/>
            </a:pPr>
            <a:r>
              <a:rPr lang="en-US" sz="2800" dirty="0">
                <a:solidFill>
                  <a:srgbClr val="FFC000"/>
                </a:solidFill>
              </a:rPr>
              <a:t>Data hazard</a:t>
            </a:r>
          </a:p>
          <a:p>
            <a:pPr lvl="1"/>
            <a:r>
              <a:rPr lang="en-US" sz="2400" dirty="0"/>
              <a:t>Data dependency between instructions</a:t>
            </a:r>
          </a:p>
          <a:p>
            <a:pPr lvl="1"/>
            <a:r>
              <a:rPr lang="en-US" sz="2400" dirty="0"/>
              <a:t>Need to wait for previous instruction to complete its data write</a:t>
            </a:r>
          </a:p>
          <a:p>
            <a:pPr>
              <a:buAutoNum type="arabicParenR"/>
            </a:pPr>
            <a:r>
              <a:rPr lang="en-US" sz="2800" dirty="0">
                <a:solidFill>
                  <a:srgbClr val="FFC000"/>
                </a:solidFill>
              </a:rPr>
              <a:t>Control hazard</a:t>
            </a:r>
          </a:p>
          <a:p>
            <a:pPr lvl="1"/>
            <a:r>
              <a:rPr lang="en-US" sz="2400" dirty="0"/>
              <a:t>Flow of execution depends on previous instruction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2BB736-11D8-F6CC-49C1-4C66FA6ED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20 February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D822FE-DDD3-4641-39F1-147E0BAC9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089318-C15E-6999-C6EB-C88BB3B6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376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463D6-A5E6-065A-4267-2CDD84FEE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Structural hazard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8500F-3712-B7D2-E245-863E105847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609808"/>
            <a:ext cx="2871510" cy="4790991"/>
          </a:xfrm>
        </p:spPr>
        <p:txBody>
          <a:bodyPr>
            <a:normAutofit fontScale="55000" lnSpcReduction="20000"/>
          </a:bodyPr>
          <a:lstStyle/>
          <a:p>
            <a:r>
              <a:rPr lang="en-US" dirty="0"/>
              <a:t>Problem: Two or more instructions in the pipeline compete for access to a single physical resource</a:t>
            </a:r>
          </a:p>
          <a:p>
            <a:endParaRPr lang="en-US" dirty="0"/>
          </a:p>
          <a:p>
            <a:r>
              <a:rPr lang="en-US" dirty="0"/>
              <a:t>Solution 1: Instructions take turns using resource, some instructions have to stall (wait)</a:t>
            </a:r>
          </a:p>
          <a:p>
            <a:endParaRPr lang="en-US" dirty="0"/>
          </a:p>
          <a:p>
            <a:r>
              <a:rPr lang="en-US" dirty="0"/>
              <a:t>Solution 2: Add more hardware to machine</a:t>
            </a:r>
          </a:p>
          <a:p>
            <a:endParaRPr lang="en-US" dirty="0"/>
          </a:p>
          <a:p>
            <a:r>
              <a:rPr lang="en-US" dirty="0"/>
              <a:t>Can always solve a structural hazard by adding more hardware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226339-BD98-F827-0D43-63EE41248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20 February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49AD5-BD30-F00E-BBA7-646FB4813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ELL305: Computer Architecture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362514-3A4E-C29C-920F-0586AEAFE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15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7A61C9C-E614-9CBC-2BAE-4C280B3974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4200" y="1609808"/>
            <a:ext cx="3372050" cy="204990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E5432F2-62F4-A922-1842-036EEC8C7022}"/>
              </a:ext>
            </a:extLst>
          </p:cNvPr>
          <p:cNvSpPr txBox="1"/>
          <p:nvPr/>
        </p:nvSpPr>
        <p:spPr>
          <a:xfrm>
            <a:off x="6806564" y="1896070"/>
            <a:ext cx="233743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Multiple ports to the </a:t>
            </a:r>
            <a:r>
              <a:rPr lang="en-US" dirty="0" err="1"/>
              <a:t>regfile</a:t>
            </a:r>
            <a:r>
              <a:rPr lang="en-US" dirty="0"/>
              <a:t> solves the access problem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4E6A154-D5ED-5FA4-B172-5BA2F5506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1800" y="4179097"/>
            <a:ext cx="3372050" cy="206930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CAB4324-3CC0-035C-CB24-6DED2649E3F7}"/>
              </a:ext>
            </a:extLst>
          </p:cNvPr>
          <p:cNvSpPr txBox="1"/>
          <p:nvPr/>
        </p:nvSpPr>
        <p:spPr>
          <a:xfrm>
            <a:off x="6806565" y="3060680"/>
            <a:ext cx="233743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Is this a problem for Harvard or von Neuman architecture (or both)?</a:t>
            </a:r>
          </a:p>
          <a:p>
            <a:endParaRPr lang="en-US" dirty="0"/>
          </a:p>
          <a:p>
            <a:r>
              <a:rPr lang="en-US" dirty="0" err="1"/>
              <a:t>Soln</a:t>
            </a:r>
            <a:r>
              <a:rPr lang="en-US" dirty="0"/>
              <a:t>: Separate data and instruction caches</a:t>
            </a:r>
          </a:p>
          <a:p>
            <a:endParaRPr lang="en-US" dirty="0"/>
          </a:p>
          <a:p>
            <a:r>
              <a:rPr lang="en-US" dirty="0"/>
              <a:t>ISA designed to avoid multiple accesses</a:t>
            </a:r>
          </a:p>
        </p:txBody>
      </p:sp>
    </p:spTree>
    <p:extLst>
      <p:ext uri="{BB962C8B-B14F-4D97-AF65-F5344CB8AC3E}">
        <p14:creationId xmlns:p14="http://schemas.microsoft.com/office/powerpoint/2010/main" val="4013881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0" grpId="0"/>
      <p:bldP spid="1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pptA48A.tmp</Template>
  <TotalTime>14487</TotalTime>
  <Words>739</Words>
  <Application>Microsoft Office PowerPoint</Application>
  <PresentationFormat>On-screen Show (4:3)</PresentationFormat>
  <Paragraphs>199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Wingdings</vt:lpstr>
      <vt:lpstr>Office Theme</vt:lpstr>
      <vt:lpstr>Computer Architecture</vt:lpstr>
      <vt:lpstr>Microprogramming</vt:lpstr>
      <vt:lpstr>A computer inside the computer – making control itself a program</vt:lpstr>
      <vt:lpstr>Microprogramming – datapath</vt:lpstr>
      <vt:lpstr>Microprogramming – control</vt:lpstr>
      <vt:lpstr>Microsequencer</vt:lpstr>
      <vt:lpstr>Horizontal vs vertical microcode</vt:lpstr>
      <vt:lpstr>Is microcoding relevant today?</vt:lpstr>
      <vt:lpstr>Making things faster</vt:lpstr>
      <vt:lpstr>Pipelined multi-cycle processors</vt:lpstr>
      <vt:lpstr>Pipelined RISC-V processor</vt:lpstr>
      <vt:lpstr>What about control?</vt:lpstr>
      <vt:lpstr>Pipelined RISC-V processor</vt:lpstr>
      <vt:lpstr>Pipelining hazards</vt:lpstr>
      <vt:lpstr>Structural hazard</vt:lpstr>
    </vt:vector>
  </TitlesOfParts>
  <Company>bits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724</cp:revision>
  <dcterms:created xsi:type="dcterms:W3CDTF">2010-01-15T20:22:21Z</dcterms:created>
  <dcterms:modified xsi:type="dcterms:W3CDTF">2026-02-20T09:33:09Z</dcterms:modified>
</cp:coreProperties>
</file>