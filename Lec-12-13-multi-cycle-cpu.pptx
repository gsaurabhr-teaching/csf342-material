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337" r:id="rId2"/>
    <p:sldId id="415" r:id="rId3"/>
    <p:sldId id="416" r:id="rId4"/>
    <p:sldId id="426" r:id="rId5"/>
    <p:sldId id="420" r:id="rId6"/>
    <p:sldId id="421" r:id="rId7"/>
    <p:sldId id="422" r:id="rId8"/>
    <p:sldId id="423" r:id="rId9"/>
    <p:sldId id="427" r:id="rId10"/>
    <p:sldId id="428" r:id="rId11"/>
    <p:sldId id="430" r:id="rId12"/>
    <p:sldId id="431" r:id="rId13"/>
    <p:sldId id="429" r:id="rId14"/>
    <p:sldId id="432" r:id="rId15"/>
    <p:sldId id="433" r:id="rId16"/>
    <p:sldId id="434" r:id="rId17"/>
    <p:sldId id="435" r:id="rId18"/>
    <p:sldId id="442" r:id="rId19"/>
    <p:sldId id="443" r:id="rId20"/>
    <p:sldId id="436" r:id="rId21"/>
    <p:sldId id="437" r:id="rId22"/>
    <p:sldId id="344" r:id="rId23"/>
    <p:sldId id="345" r:id="rId24"/>
    <p:sldId id="438" r:id="rId25"/>
    <p:sldId id="439" r:id="rId26"/>
    <p:sldId id="440" r:id="rId27"/>
    <p:sldId id="441" r:id="rId2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C3E8"/>
    <a:srgbClr val="EA3F26"/>
    <a:srgbClr val="FCD5B5"/>
    <a:srgbClr val="8EB4E3"/>
    <a:srgbClr val="D7E4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88284" autoAdjust="0"/>
  </p:normalViewPr>
  <p:slideViewPr>
    <p:cSldViewPr>
      <p:cViewPr>
        <p:scale>
          <a:sx n="75" d="100"/>
          <a:sy n="75" d="100"/>
        </p:scale>
        <p:origin x="917" y="17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2/16/2026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79DCCC-EBE2-44AD-8EA0-6F319820E96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22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72C3E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44638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EFD4032-0DCD-4B56-8C1A-A046DCFB4D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048000"/>
            <a:ext cx="7772400" cy="3124200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52400" y="53975"/>
            <a:ext cx="6324600" cy="1195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52400" y="1446211"/>
            <a:ext cx="8839200" cy="5014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0" y="6599238"/>
            <a:ext cx="1828800" cy="2587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599238"/>
            <a:ext cx="28956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b="1" dirty="0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, </a:t>
            </a:r>
            <a:r>
              <a:rPr lang="en-US" dirty="0" err="1">
                <a:solidFill>
                  <a:srgbClr val="101141"/>
                </a:solidFill>
                <a:cs typeface="Arial" charset="0"/>
              </a:rPr>
              <a:t>Pilani</a:t>
            </a:r>
            <a:r>
              <a:rPr lang="en-US" dirty="0">
                <a:solidFill>
                  <a:srgbClr val="101141"/>
                </a:solidFill>
                <a:cs typeface="Arial" charset="0"/>
              </a:rPr>
              <a:t> Campus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86800" y="6599238"/>
            <a:ext cx="457200" cy="25876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11" descr="Picture 7.png">
            <a:extLst>
              <a:ext uri="{FF2B5EF4-FFF2-40B4-BE49-F238E27FC236}">
                <a16:creationId xmlns:a16="http://schemas.microsoft.com/office/drawing/2014/main" id="{B1A82462-8175-42D8-B46C-67766E05E740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8" name="Group 18">
            <a:extLst>
              <a:ext uri="{FF2B5EF4-FFF2-40B4-BE49-F238E27FC236}">
                <a16:creationId xmlns:a16="http://schemas.microsoft.com/office/drawing/2014/main" id="{F71B9737-4DA8-4B8F-9335-5F2A7C90653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2335E3-1C88-4FEB-B3EA-2686D6520BDF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57711E8-77A4-4937-A983-1A5FDBFC089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C71875C-BA0F-4B96-BF59-4025A49FA021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2" name="Group 22">
            <a:extLst>
              <a:ext uri="{FF2B5EF4-FFF2-40B4-BE49-F238E27FC236}">
                <a16:creationId xmlns:a16="http://schemas.microsoft.com/office/drawing/2014/main" id="{C2B4447A-9437-4C8F-B654-838CD5BB8615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377527-4981-49F2-8F12-B5DB6F066126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5B94671-9EEF-4175-9164-57B69291B8A6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D2EC7A3-548A-4998-81D6-DC9D9CECAAD8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rgbClr val="72C3E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5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Computer Architecture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000" dirty="0"/>
              <a:t>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34B59-D035-4EB2-A4B2-A4AFC134E9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shortcomings of a single cycle CPU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C8744D-0B81-4691-8CE1-96C46C360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spcBef>
                <a:spcPts val="800"/>
              </a:spcBef>
            </a:pPr>
            <a:r>
              <a:rPr lang="en-US" dirty="0"/>
              <a:t>Simple instructions wait unnecessarily to accommodate loner instructions</a:t>
            </a:r>
          </a:p>
          <a:p>
            <a:pPr>
              <a:spcBef>
                <a:spcPts val="800"/>
              </a:spcBef>
            </a:pPr>
            <a:r>
              <a:rPr lang="en-US" dirty="0"/>
              <a:t>Hardware is underutilized</a:t>
            </a:r>
          </a:p>
          <a:p>
            <a:pPr>
              <a:spcBef>
                <a:spcPts val="800"/>
              </a:spcBef>
            </a:pPr>
            <a:r>
              <a:rPr lang="en-US" dirty="0"/>
              <a:t>Energy inefficient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Why?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Unnecessary switching, charging and discharging of long, monolithic </a:t>
            </a:r>
            <a:r>
              <a:rPr lang="en-US" dirty="0" err="1"/>
              <a:t>datapath</a:t>
            </a:r>
            <a:endParaRPr lang="en-US" dirty="0"/>
          </a:p>
          <a:p>
            <a:pPr lvl="1">
              <a:spcBef>
                <a:spcPts val="800"/>
              </a:spcBef>
            </a:pPr>
            <a:r>
              <a:rPr lang="en-US" dirty="0"/>
              <a:t>Long combinational paths increase capacitance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Voltage cannot be reduced much because paths are long and timing is tight</a:t>
            </a:r>
          </a:p>
          <a:p>
            <a:pPr>
              <a:spcBef>
                <a:spcPts val="800"/>
              </a:spcBef>
            </a:pPr>
            <a:r>
              <a:rPr lang="en-US" dirty="0"/>
              <a:t>Limited clock frequency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Memory access is very </a:t>
            </a:r>
            <a:r>
              <a:rPr lang="en-US" dirty="0" err="1"/>
              <a:t>very</a:t>
            </a:r>
            <a:r>
              <a:rPr lang="en-US" dirty="0"/>
              <a:t> slow in practice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Wire delays dominate in long </a:t>
            </a:r>
            <a:r>
              <a:rPr lang="en-US" dirty="0" err="1"/>
              <a:t>datapaths</a:t>
            </a:r>
            <a:r>
              <a:rPr lang="en-US" dirty="0"/>
              <a:t> in the GHz range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Clock skew becomes dominant at high frequencies and long paths</a:t>
            </a:r>
          </a:p>
          <a:p>
            <a:pPr lvl="1">
              <a:spcBef>
                <a:spcPts val="800"/>
              </a:spcBef>
            </a:pPr>
            <a:r>
              <a:rPr lang="en-US" dirty="0"/>
              <a:t>Voltage has to increase with frequency </a:t>
            </a:r>
            <a:r>
              <a:rPr lang="en-US" dirty="0">
                <a:sym typeface="Wingdings" panose="05000000000000000000" pitchFamily="2" charset="2"/>
              </a:rPr>
              <a:t> high power dissipation  heating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656DB6-794F-4BB5-8862-1CE2DE7DE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7F242B-85AD-4BB1-AC32-29FD34712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2054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DF72-504B-4727-A513-D8A2978F7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Long monolithic </a:t>
            </a:r>
            <a:r>
              <a:rPr lang="en-US" dirty="0" err="1"/>
              <a:t>datapath</a:t>
            </a:r>
            <a:r>
              <a:rPr lang="en-US" dirty="0"/>
              <a:t> – the root problem with single cycle CPU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0D4CE9-E294-4A8A-9A7D-76E416699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D92D81-D65E-4A5A-9C54-593CC37CC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29DB889-B0F3-4DE6-8198-EAB2C5A4FE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7772400" cy="22860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How to break the </a:t>
            </a:r>
            <a:r>
              <a:rPr lang="en-US" dirty="0" err="1"/>
              <a:t>datapath</a:t>
            </a:r>
            <a:r>
              <a:rPr lang="en-US" dirty="0"/>
              <a:t>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Where to break the </a:t>
            </a:r>
            <a:r>
              <a:rPr lang="en-US" dirty="0" err="1"/>
              <a:t>datapath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27691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AEC9-D194-6E8C-0FC0-DB77AA985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single cycle RV32l </a:t>
            </a:r>
            <a:r>
              <a:rPr lang="en-US" dirty="0" err="1"/>
              <a:t>datapath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2DB7D-5F11-0A81-2D85-999C3BB43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3859-67C5-4393-B6C2-556CF3F770C0}" type="datetime3">
              <a:rPr lang="en-US" smtClean="0"/>
              <a:t>16 February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0B5FA-5713-2D45-0D98-57A2E10BA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0D58C48-1849-9A07-AFF4-34F4AC13FF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865" y="1369814"/>
            <a:ext cx="8108269" cy="51089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7573F7-ABF2-4BD1-BB0D-8DA0298DC5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4876800"/>
            <a:ext cx="8686800" cy="152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06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11587-506A-48A8-8E21-2D7C1F39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break the </a:t>
            </a:r>
            <a:r>
              <a:rPr lang="en-US" dirty="0" err="1"/>
              <a:t>datapath</a:t>
            </a:r>
            <a:r>
              <a:rPr lang="en-US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28543-88B0-4C01-9350-88CC94619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Break such that one part performs some operation in once cycle</a:t>
            </a:r>
          </a:p>
          <a:p>
            <a:r>
              <a:rPr lang="en-US" dirty="0"/>
              <a:t>Next part should use o/p of first part as input to the next operation</a:t>
            </a:r>
          </a:p>
          <a:p>
            <a:r>
              <a:rPr lang="en-US" dirty="0"/>
              <a:t>Must store output in intermediate register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47069-15EA-4144-92F3-0997A0849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51E67-037F-41ED-8B83-FFF6FA60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168A56-0CED-4CEE-99C8-6A9039B92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4876800"/>
            <a:ext cx="8686800" cy="15299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1362FA2-0AE0-4B97-974F-2A35B2DD4D3F}"/>
              </a:ext>
            </a:extLst>
          </p:cNvPr>
          <p:cNvSpPr/>
          <p:nvPr/>
        </p:nvSpPr>
        <p:spPr>
          <a:xfrm>
            <a:off x="5267325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ALU OUT</a:t>
            </a:r>
          </a:p>
        </p:txBody>
      </p:sp>
    </p:spTree>
    <p:extLst>
      <p:ext uri="{BB962C8B-B14F-4D97-AF65-F5344CB8AC3E}">
        <p14:creationId xmlns:p14="http://schemas.microsoft.com/office/powerpoint/2010/main" val="373780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E374D-0F22-4A20-8488-EE27A0BD7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781800" cy="1195386"/>
          </a:xfrm>
        </p:spPr>
        <p:txBody>
          <a:bodyPr/>
          <a:lstStyle/>
          <a:p>
            <a:r>
              <a:rPr lang="en-US" dirty="0"/>
              <a:t>Where to break the </a:t>
            </a:r>
            <a:r>
              <a:rPr lang="en-US" dirty="0" err="1"/>
              <a:t>datapath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Avoid unnecessary computations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41F8B3-E2CC-443D-8760-5D40188AC6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What components are optional i.e. instruction-dependent?</a:t>
            </a:r>
          </a:p>
          <a:p>
            <a:r>
              <a:rPr lang="en-US" dirty="0"/>
              <a:t>Clearly, they should be put into separate stages that may or may not execute based on need</a:t>
            </a:r>
          </a:p>
          <a:p>
            <a:r>
              <a:rPr lang="en-US" dirty="0"/>
              <a:t>Is that sufficient?... Any other consideration?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2A451-B8B7-4446-93E0-831E6665A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2F8EC1-730E-42C0-8AF7-136676E84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2C05DD-DB91-4A3A-8AA9-0B487C1F2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4876800"/>
            <a:ext cx="8686800" cy="15299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C67AA58-981E-404E-980A-F42875FE140D}"/>
              </a:ext>
            </a:extLst>
          </p:cNvPr>
          <p:cNvSpPr/>
          <p:nvPr/>
        </p:nvSpPr>
        <p:spPr>
          <a:xfrm>
            <a:off x="5267325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ALU 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7FACC0A-10BC-46C9-AC2C-B7C5ADD7C47B}"/>
              </a:ext>
            </a:extLst>
          </p:cNvPr>
          <p:cNvSpPr/>
          <p:nvPr/>
        </p:nvSpPr>
        <p:spPr>
          <a:xfrm>
            <a:off x="7129462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MDR</a:t>
            </a:r>
          </a:p>
        </p:txBody>
      </p:sp>
    </p:spTree>
    <p:extLst>
      <p:ext uri="{BB962C8B-B14F-4D97-AF65-F5344CB8AC3E}">
        <p14:creationId xmlns:p14="http://schemas.microsoft.com/office/powerpoint/2010/main" val="3458783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969ED-8C64-4B17-AC7F-B6FC050AE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break the </a:t>
            </a:r>
            <a:r>
              <a:rPr lang="en-US" dirty="0" err="1"/>
              <a:t>datapath</a:t>
            </a:r>
            <a:br>
              <a:rPr lang="en-US" dirty="0"/>
            </a:br>
            <a:r>
              <a:rPr lang="en-US" dirty="0"/>
              <a:t>Reuse </a:t>
            </a:r>
            <a:r>
              <a:rPr lang="en-US" dirty="0" err="1"/>
              <a:t>datapath</a:t>
            </a:r>
            <a:r>
              <a:rPr lang="en-US" dirty="0"/>
              <a:t>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27F43-05F4-4714-8351-344024CE2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5410200" cy="3238065"/>
          </a:xfrm>
        </p:spPr>
        <p:txBody>
          <a:bodyPr>
            <a:normAutofit fontScale="77500" lnSpcReduction="2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What parts can be reused for avoiding hardware duplication?</a:t>
            </a:r>
          </a:p>
          <a:p>
            <a:r>
              <a:rPr lang="en-US" dirty="0"/>
              <a:t>ALU can be reused for:</a:t>
            </a:r>
          </a:p>
          <a:p>
            <a:pPr lvl="1"/>
            <a:r>
              <a:rPr lang="en-US" dirty="0"/>
              <a:t>PC </a:t>
            </a:r>
            <a:r>
              <a:rPr lang="en-US" dirty="0">
                <a:sym typeface="Wingdings" panose="05000000000000000000" pitchFamily="2" charset="2"/>
              </a:rPr>
              <a:t> PC + 4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Comparison (branch comparator)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Original ALU computations</a:t>
            </a:r>
          </a:p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Will our current breaks be sufficient for ALU reuse?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olidFill>
                  <a:srgbClr val="FF0000"/>
                </a:solidFill>
                <a:sym typeface="Wingdings" panose="05000000000000000000" pitchFamily="2" charset="2"/>
              </a:rPr>
              <a:t>What about MEM reuse?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E56803-B017-4366-B967-A86A23773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E5A2D6-B8A7-47F1-85D8-233542DA9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ACAE89-B4A4-4BC3-B1F2-AA9D0BC7A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4876800"/>
            <a:ext cx="8686800" cy="15299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18649E1-4A92-4BDE-830F-0B54B11E7CCB}"/>
              </a:ext>
            </a:extLst>
          </p:cNvPr>
          <p:cNvSpPr/>
          <p:nvPr/>
        </p:nvSpPr>
        <p:spPr>
          <a:xfrm>
            <a:off x="5267325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ALU 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F5E092-A317-4C90-B56D-D63A8C9AC992}"/>
              </a:ext>
            </a:extLst>
          </p:cNvPr>
          <p:cNvSpPr/>
          <p:nvPr/>
        </p:nvSpPr>
        <p:spPr>
          <a:xfrm>
            <a:off x="7129462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MDR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E24D130-EEE1-406C-A08F-14289B09FEBD}"/>
              </a:ext>
            </a:extLst>
          </p:cNvPr>
          <p:cNvSpPr txBox="1">
            <a:spLocks/>
          </p:cNvSpPr>
          <p:nvPr/>
        </p:nvSpPr>
        <p:spPr bwMode="auto">
          <a:xfrm>
            <a:off x="5724524" y="1446211"/>
            <a:ext cx="3267075" cy="2668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Cycle 1: IF </a:t>
            </a:r>
            <a:r>
              <a:rPr lang="en-US" sz="2400" dirty="0">
                <a:sym typeface="Wingdings" panose="05000000000000000000" pitchFamily="2" charset="2"/>
              </a:rPr>
              <a:t> OF  EX (ALU used!)</a:t>
            </a:r>
          </a:p>
          <a:p>
            <a:r>
              <a:rPr lang="en-US" sz="2400" dirty="0">
                <a:sym typeface="Wingdings" panose="05000000000000000000" pitchFamily="2" charset="2"/>
              </a:rPr>
              <a:t>Cycle 2: PC  PC + 4 (ALU reused!)</a:t>
            </a:r>
          </a:p>
          <a:p>
            <a:r>
              <a:rPr lang="en-US" sz="2400" dirty="0">
                <a:sym typeface="Wingdings" panose="05000000000000000000" pitchFamily="2" charset="2"/>
              </a:rPr>
              <a:t>What about branch comparison reuse?</a:t>
            </a:r>
            <a:endParaRPr lang="en-US" sz="24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F11EBC-D711-4F4E-BDA5-C23861048E04}"/>
              </a:ext>
            </a:extLst>
          </p:cNvPr>
          <p:cNvSpPr/>
          <p:nvPr/>
        </p:nvSpPr>
        <p:spPr>
          <a:xfrm>
            <a:off x="1557338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IR</a:t>
            </a:r>
          </a:p>
        </p:txBody>
      </p:sp>
    </p:spTree>
    <p:extLst>
      <p:ext uri="{BB962C8B-B14F-4D97-AF65-F5344CB8AC3E}">
        <p14:creationId xmlns:p14="http://schemas.microsoft.com/office/powerpoint/2010/main" val="957240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2" grpId="0" uiExpand="1" build="p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CB2A6-F625-4952-B3FD-787C0FDD9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break the </a:t>
            </a:r>
            <a:r>
              <a:rPr lang="en-US" dirty="0" err="1"/>
              <a:t>datapath</a:t>
            </a:r>
            <a:r>
              <a:rPr lang="en-US" dirty="0"/>
              <a:t>?</a:t>
            </a:r>
            <a:br>
              <a:rPr lang="en-US" dirty="0"/>
            </a:br>
            <a:r>
              <a:rPr lang="en-US" dirty="0"/>
              <a:t>Optimize critical path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660B6-3DB1-4D6F-BBBD-3C3FCA20CB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46211"/>
            <a:ext cx="2971800" cy="3430589"/>
          </a:xfrm>
        </p:spPr>
        <p:txBody>
          <a:bodyPr>
            <a:normAutofit fontScale="92500"/>
          </a:bodyPr>
          <a:lstStyle/>
          <a:p>
            <a:r>
              <a:rPr lang="en-US" dirty="0">
                <a:solidFill>
                  <a:srgbClr val="FF0000"/>
                </a:solidFill>
              </a:rPr>
              <a:t>How long does each stage currently take?</a:t>
            </a:r>
          </a:p>
          <a:p>
            <a:r>
              <a:rPr lang="en-US" dirty="0"/>
              <a:t>Where to break for better time management?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53AEBA-89D5-4FDD-ABCC-FDA41A731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FFE7E-7205-46F2-91C3-2E514833A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D787A4-5F2E-4881-98D3-41A40837A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4876800"/>
            <a:ext cx="8686800" cy="152991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7F2776C-38DE-483B-80D4-D260E06E4B4F}"/>
              </a:ext>
            </a:extLst>
          </p:cNvPr>
          <p:cNvSpPr/>
          <p:nvPr/>
        </p:nvSpPr>
        <p:spPr>
          <a:xfrm>
            <a:off x="5267325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ALU OUT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4DD7C6-BEC3-4708-9E6F-0D2457537CCC}"/>
              </a:ext>
            </a:extLst>
          </p:cNvPr>
          <p:cNvSpPr/>
          <p:nvPr/>
        </p:nvSpPr>
        <p:spPr>
          <a:xfrm>
            <a:off x="7129462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MDR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D05BB33-630F-45C1-BC5E-E85DCA7D6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4200" y="1211261"/>
            <a:ext cx="5941371" cy="3741739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CAFC976A-542A-4CBE-9B64-15FC469350A8}"/>
              </a:ext>
            </a:extLst>
          </p:cNvPr>
          <p:cNvSpPr/>
          <p:nvPr/>
        </p:nvSpPr>
        <p:spPr>
          <a:xfrm>
            <a:off x="1557338" y="4566086"/>
            <a:ext cx="457200" cy="2139514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/>
              <a:t>IR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7922A355-1B17-4B4F-91C2-1D5C2E0850B0}"/>
              </a:ext>
            </a:extLst>
          </p:cNvPr>
          <p:cNvGrpSpPr/>
          <p:nvPr/>
        </p:nvGrpSpPr>
        <p:grpSpPr>
          <a:xfrm>
            <a:off x="3405188" y="4566087"/>
            <a:ext cx="466725" cy="2162532"/>
            <a:chOff x="3405188" y="4566087"/>
            <a:chExt cx="466725" cy="2162532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2A99E3B-C600-4947-8F20-B4BFC5DDFA3C}"/>
                </a:ext>
              </a:extLst>
            </p:cNvPr>
            <p:cNvSpPr/>
            <p:nvPr/>
          </p:nvSpPr>
          <p:spPr>
            <a:xfrm>
              <a:off x="3405188" y="4566087"/>
              <a:ext cx="457200" cy="1013620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A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2D4C4D1-024F-40D6-BCEE-B1E788EE56EB}"/>
                </a:ext>
              </a:extLst>
            </p:cNvPr>
            <p:cNvSpPr/>
            <p:nvPr/>
          </p:nvSpPr>
          <p:spPr>
            <a:xfrm>
              <a:off x="3414713" y="5715000"/>
              <a:ext cx="457200" cy="101361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/>
                <a:t>B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134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65984-B7DF-47B6-859E-CE76C2A81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to break the </a:t>
            </a:r>
            <a:r>
              <a:rPr lang="en-US" dirty="0" err="1"/>
              <a:t>datapath</a:t>
            </a:r>
            <a:r>
              <a:rPr lang="en-US" dirty="0"/>
              <a:t>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39FC5-8042-495F-AAA2-C115034EE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338367-D7D2-43FF-9B19-4D6ED8817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BF729B-B201-4512-AD94-011EAEC7D3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2400" y="1488441"/>
            <a:ext cx="8839200" cy="493045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3BE1164-D8E5-47F5-A68D-49C81A2DAA7D}"/>
              </a:ext>
            </a:extLst>
          </p:cNvPr>
          <p:cNvSpPr/>
          <p:nvPr/>
        </p:nvSpPr>
        <p:spPr>
          <a:xfrm>
            <a:off x="2819400" y="4038600"/>
            <a:ext cx="1371600" cy="1219200"/>
          </a:xfrm>
          <a:prstGeom prst="rect">
            <a:avLst/>
          </a:prstGeom>
          <a:noFill/>
          <a:ln w="38100">
            <a:solidFill>
              <a:srgbClr val="EA3F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28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59D9A-38DB-4BE0-A58C-6DC86E956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</a:t>
            </a:r>
            <a:r>
              <a:rPr lang="en-US" dirty="0" err="1"/>
              <a:t>lw</a:t>
            </a:r>
            <a:r>
              <a:rPr lang="en-US" dirty="0"/>
              <a:t> execution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983320-71FD-46FA-862E-374F2D6EF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IF</a:t>
            </a:r>
          </a:p>
          <a:p>
            <a:pPr lvl="1"/>
            <a:r>
              <a:rPr lang="en-US" dirty="0"/>
              <a:t>IR </a:t>
            </a:r>
            <a:r>
              <a:rPr lang="en-US" dirty="0">
                <a:sym typeface="Wingdings" panose="05000000000000000000" pitchFamily="2" charset="2"/>
              </a:rPr>
              <a:t> Mem[PC]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PC  PC + 4</a:t>
            </a:r>
          </a:p>
          <a:p>
            <a:r>
              <a:rPr lang="en-US" dirty="0">
                <a:sym typeface="Wingdings" panose="05000000000000000000" pitchFamily="2" charset="2"/>
              </a:rPr>
              <a:t>ID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A  </a:t>
            </a:r>
            <a:r>
              <a:rPr lang="en-US" dirty="0" err="1">
                <a:sym typeface="Wingdings" panose="05000000000000000000" pitchFamily="2" charset="2"/>
              </a:rPr>
              <a:t>RegFile</a:t>
            </a:r>
            <a:r>
              <a:rPr lang="en-US" dirty="0">
                <a:sym typeface="Wingdings" panose="05000000000000000000" pitchFamily="2" charset="2"/>
              </a:rPr>
              <a:t>[rs1]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B  </a:t>
            </a:r>
            <a:r>
              <a:rPr lang="en-US" dirty="0" err="1">
                <a:sym typeface="Wingdings" panose="05000000000000000000" pitchFamily="2" charset="2"/>
              </a:rPr>
              <a:t>RegFile</a:t>
            </a:r>
            <a:r>
              <a:rPr lang="en-US" dirty="0">
                <a:sym typeface="Wingdings" panose="05000000000000000000" pitchFamily="2" charset="2"/>
              </a:rPr>
              <a:t>[rs2]</a:t>
            </a:r>
          </a:p>
          <a:p>
            <a:r>
              <a:rPr lang="en-US" dirty="0">
                <a:sym typeface="Wingdings" panose="05000000000000000000" pitchFamily="2" charset="2"/>
              </a:rPr>
              <a:t>EX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ALUOut</a:t>
            </a:r>
            <a:r>
              <a:rPr lang="en-US" dirty="0">
                <a:sym typeface="Wingdings" panose="05000000000000000000" pitchFamily="2" charset="2"/>
              </a:rPr>
              <a:t>  A + </a:t>
            </a:r>
            <a:r>
              <a:rPr lang="en-US" dirty="0" err="1">
                <a:sym typeface="Wingdings" panose="05000000000000000000" pitchFamily="2" charset="2"/>
              </a:rPr>
              <a:t>Imm</a:t>
            </a:r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MEM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MDR  Mem[</a:t>
            </a:r>
            <a:r>
              <a:rPr lang="en-US" dirty="0" err="1">
                <a:sym typeface="Wingdings" panose="05000000000000000000" pitchFamily="2" charset="2"/>
              </a:rPr>
              <a:t>ALUOut</a:t>
            </a:r>
            <a:r>
              <a:rPr lang="en-US" dirty="0">
                <a:sym typeface="Wingdings" panose="05000000000000000000" pitchFamily="2" charset="2"/>
              </a:rPr>
              <a:t>]</a:t>
            </a:r>
          </a:p>
          <a:p>
            <a:r>
              <a:rPr lang="en-US" dirty="0">
                <a:sym typeface="Wingdings" panose="05000000000000000000" pitchFamily="2" charset="2"/>
              </a:rPr>
              <a:t>WB</a:t>
            </a:r>
          </a:p>
          <a:p>
            <a:pPr lvl="1"/>
            <a:r>
              <a:rPr lang="en-US" dirty="0" err="1">
                <a:sym typeface="Wingdings" panose="05000000000000000000" pitchFamily="2" charset="2"/>
              </a:rPr>
              <a:t>RegFile</a:t>
            </a:r>
            <a:r>
              <a:rPr lang="en-US" dirty="0">
                <a:sym typeface="Wingdings" panose="05000000000000000000" pitchFamily="2" charset="2"/>
              </a:rPr>
              <a:t>[</a:t>
            </a:r>
            <a:r>
              <a:rPr lang="en-US" dirty="0" err="1">
                <a:sym typeface="Wingdings" panose="05000000000000000000" pitchFamily="2" charset="2"/>
              </a:rPr>
              <a:t>rd</a:t>
            </a:r>
            <a:r>
              <a:rPr lang="en-US" dirty="0">
                <a:sym typeface="Wingdings" panose="05000000000000000000" pitchFamily="2" charset="2"/>
              </a:rPr>
              <a:t>]  MDR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8EFD54-90F3-470A-926F-25D41DA15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9C3318-E3CD-42D9-B3F3-210E8E2F2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BAEF9C3-BA02-4A9A-8EF8-EA133E377D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124200" y="838200"/>
            <a:ext cx="6019800" cy="3357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64A8E29-673A-4CC7-BCF7-D91840CC5F1E}"/>
              </a:ext>
            </a:extLst>
          </p:cNvPr>
          <p:cNvSpPr txBox="1">
            <a:spLocks/>
          </p:cNvSpPr>
          <p:nvPr/>
        </p:nvSpPr>
        <p:spPr bwMode="auto">
          <a:xfrm>
            <a:off x="4581525" y="5112543"/>
            <a:ext cx="4495800" cy="13485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2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rgbClr val="FF0000"/>
                </a:solidFill>
              </a:rPr>
              <a:t>How many cycles for R-type?</a:t>
            </a:r>
          </a:p>
          <a:p>
            <a:r>
              <a:rPr lang="en-US" sz="2400" dirty="0">
                <a:solidFill>
                  <a:srgbClr val="FF0000"/>
                </a:solidFill>
              </a:rPr>
              <a:t>How many for branch?</a:t>
            </a:r>
          </a:p>
        </p:txBody>
      </p:sp>
    </p:spTree>
    <p:extLst>
      <p:ext uri="{BB962C8B-B14F-4D97-AF65-F5344CB8AC3E}">
        <p14:creationId xmlns:p14="http://schemas.microsoft.com/office/powerpoint/2010/main" val="3251361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0027-48E9-4F87-8430-FEA507B0C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Average execution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7167B-4A9B-4BFF-94C7-183171746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Execution time is no longer fixed, but instruction dependent</a:t>
            </a:r>
          </a:p>
          <a:p>
            <a:r>
              <a:rPr lang="en-US" dirty="0"/>
              <a:t>Average execution time depends on the mix of instructions</a:t>
            </a:r>
          </a:p>
          <a:p>
            <a:r>
              <a:rPr lang="en-US" dirty="0">
                <a:solidFill>
                  <a:srgbClr val="EA3F26"/>
                </a:solidFill>
              </a:rPr>
              <a:t>Execution time for R-type multicycle?</a:t>
            </a:r>
          </a:p>
          <a:p>
            <a:r>
              <a:rPr lang="en-US" dirty="0"/>
              <a:t>Wow… what just happened?</a:t>
            </a:r>
          </a:p>
          <a:p>
            <a:pPr lvl="1"/>
            <a:r>
              <a:rPr lang="en-US" dirty="0"/>
              <a:t>We wanted to speed up things by not doing unnecessary computations</a:t>
            </a:r>
          </a:p>
          <a:p>
            <a:pPr lvl="1"/>
            <a:r>
              <a:rPr lang="en-US" dirty="0"/>
              <a:t>We successfully avoided unnecessary computations</a:t>
            </a:r>
          </a:p>
          <a:p>
            <a:pPr lvl="1"/>
            <a:r>
              <a:rPr lang="en-US" dirty="0"/>
              <a:t>But execution time increased?!</a:t>
            </a:r>
          </a:p>
          <a:p>
            <a:r>
              <a:rPr lang="en-US" dirty="0">
                <a:solidFill>
                  <a:srgbClr val="FFC000"/>
                </a:solidFill>
              </a:rPr>
              <a:t>Short stages unnecessarily waste time waiting for infrequent long stages!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77924-F52C-463D-B456-1CEF90DF8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E86A1E-D015-44D6-BF94-0473A3A9C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C25819-809C-42D1-B8E6-558ADB584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555" y="2819400"/>
            <a:ext cx="2295845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051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CAE53-BEA2-4896-AF1F-1B79FBBF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Evaluating multicycle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9CAB7-7AA3-44A7-99DA-356414A47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EA3F26"/>
                </a:solidFill>
              </a:rPr>
              <a:t>What are the other advantages of multicycle?</a:t>
            </a:r>
          </a:p>
          <a:p>
            <a:r>
              <a:rPr lang="en-US" dirty="0"/>
              <a:t>Multicycle (without parallelization) was commercially viable in the 80s!</a:t>
            </a:r>
          </a:p>
          <a:p>
            <a:r>
              <a:rPr lang="en-US" dirty="0"/>
              <a:t>Multicycle allowed complex instruction sets</a:t>
            </a:r>
          </a:p>
          <a:p>
            <a:r>
              <a:rPr lang="en-US" dirty="0">
                <a:solidFill>
                  <a:srgbClr val="EA3F26"/>
                </a:solidFill>
              </a:rPr>
              <a:t>Under what circumstances can multicycle actually be faster?</a:t>
            </a:r>
          </a:p>
          <a:p>
            <a:r>
              <a:rPr lang="en-US" dirty="0"/>
              <a:t>Given the slow memory, can we somehow gain speed improvement with multicycle?</a:t>
            </a:r>
          </a:p>
          <a:p>
            <a:r>
              <a:rPr lang="en-US" dirty="0"/>
              <a:t>Variable latency multicycle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3CA21-D1C6-4D23-8646-DEBD126EC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5E69F-4DEF-4F86-8D15-1C0528CB8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810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D54A4-1AC6-4EBE-9262-5E5B05B56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becomes sequential </a:t>
            </a:r>
            <a:r>
              <a:rPr lang="en-US" dirty="0">
                <a:sym typeface="Wingdings" panose="05000000000000000000" pitchFamily="2" charset="2"/>
              </a:rPr>
              <a:t> FSM based control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F84C03-C816-406F-A23B-452AD55F4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371600"/>
            <a:ext cx="8839200" cy="50149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Finite state machine:</a:t>
            </a:r>
          </a:p>
          <a:p>
            <a:r>
              <a:rPr lang="en-US" dirty="0"/>
              <a:t>States</a:t>
            </a:r>
          </a:p>
          <a:p>
            <a:r>
              <a:rPr lang="en-US" dirty="0"/>
              <a:t>Input and state-dependent transitions between states</a:t>
            </a:r>
          </a:p>
          <a:p>
            <a:r>
              <a:rPr lang="en-US" dirty="0"/>
              <a:t>Outputs in each state</a:t>
            </a:r>
          </a:p>
          <a:p>
            <a:pPr lvl="1"/>
            <a:r>
              <a:rPr lang="en-US" dirty="0"/>
              <a:t>State-dependent output (no input dependence): Moore</a:t>
            </a:r>
          </a:p>
          <a:p>
            <a:pPr lvl="2"/>
            <a:r>
              <a:rPr lang="en-US" dirty="0"/>
              <a:t>Cleaner timing… </a:t>
            </a:r>
            <a:r>
              <a:rPr lang="en-US" dirty="0">
                <a:solidFill>
                  <a:srgbClr val="EA3F26"/>
                </a:solidFill>
              </a:rPr>
              <a:t>why?</a:t>
            </a:r>
          </a:p>
          <a:p>
            <a:pPr lvl="2"/>
            <a:r>
              <a:rPr lang="en-US" dirty="0"/>
              <a:t>Signals change only at clock cycles, not in between</a:t>
            </a:r>
          </a:p>
          <a:p>
            <a:pPr lvl="1"/>
            <a:r>
              <a:rPr lang="en-US" dirty="0"/>
              <a:t>State + input dependent output: Mealy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D72BF-C6E3-41D9-A8CE-E605E4AFD6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47483D-67A9-4B2F-8419-F9CF5E5E4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25975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B4FCE-CCF0-4CE3-9324-09720141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states do we need in our RV32I multicycle processor?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9C76117-F21F-4DE3-AB48-22C67ED65D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000" y="1784838"/>
            <a:ext cx="8640381" cy="4677428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2B3D2-BF7A-4AD1-B9EF-282296887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89A578-B8BD-45E4-AF4F-701CFB70D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14</a:t>
            </a:fld>
            <a:endParaRPr lang="en-US" alt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7DEE563-0C6A-4999-B67D-47D49AE416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1143000"/>
            <a:ext cx="4572377" cy="1302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32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D58B70-2B5D-4975-AFE8-F26C63518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control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C06F5-DCC7-494C-9B26-CB5937FE9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State register</a:t>
            </a:r>
          </a:p>
          <a:p>
            <a:r>
              <a:rPr lang="en-US" dirty="0"/>
              <a:t>Updated to next state with combinational logic</a:t>
            </a:r>
          </a:p>
          <a:p>
            <a:r>
              <a:rPr lang="en-US" dirty="0"/>
              <a:t>State-dependent combinational output logic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7D080-55B4-434E-A5C2-ABEBF1CF5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B7A27D-CAF2-4E33-BFBA-B69EC793F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15</a:t>
            </a:fld>
            <a:endParaRPr lang="en-US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3992EA8-C713-425D-8835-CEF6C2F182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9193"/>
          <a:stretch/>
        </p:blipFill>
        <p:spPr>
          <a:xfrm>
            <a:off x="152400" y="3130313"/>
            <a:ext cx="8839966" cy="37488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18A17A4-F6AB-4A12-BA0F-291B9D44DE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0514"/>
          <a:stretch/>
        </p:blipFill>
        <p:spPr>
          <a:xfrm>
            <a:off x="151634" y="3130314"/>
            <a:ext cx="805195" cy="33308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C5232DA-B115-4CA3-8D3D-82BF799395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" r="-4131" b="82835"/>
          <a:stretch/>
        </p:blipFill>
        <p:spPr>
          <a:xfrm>
            <a:off x="151634" y="3130314"/>
            <a:ext cx="8839200" cy="57173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776A0DB-855B-4C0B-83A8-864DE43131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3" r="-4131"/>
          <a:stretch/>
        </p:blipFill>
        <p:spPr>
          <a:xfrm>
            <a:off x="151634" y="3130313"/>
            <a:ext cx="8839200" cy="333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93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C38A-81EF-4ED9-BBFE-139DBCF33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Transition table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AC3CA922-01E4-4124-B561-5013DBB015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3275194"/>
              </p:ext>
            </p:extLst>
          </p:nvPr>
        </p:nvGraphicFramePr>
        <p:xfrm>
          <a:off x="784696" y="1446213"/>
          <a:ext cx="7574607" cy="5014912"/>
        </p:xfrm>
        <a:graphic>
          <a:graphicData uri="http://schemas.openxmlformats.org/drawingml/2006/table">
            <a:tbl>
              <a:tblPr/>
              <a:tblGrid>
                <a:gridCol w="2524869">
                  <a:extLst>
                    <a:ext uri="{9D8B030D-6E8A-4147-A177-3AD203B41FA5}">
                      <a16:colId xmlns:a16="http://schemas.microsoft.com/office/drawing/2014/main" val="3555771227"/>
                    </a:ext>
                  </a:extLst>
                </a:gridCol>
                <a:gridCol w="2524869">
                  <a:extLst>
                    <a:ext uri="{9D8B030D-6E8A-4147-A177-3AD203B41FA5}">
                      <a16:colId xmlns:a16="http://schemas.microsoft.com/office/drawing/2014/main" val="1759779389"/>
                    </a:ext>
                  </a:extLst>
                </a:gridCol>
                <a:gridCol w="2524869">
                  <a:extLst>
                    <a:ext uri="{9D8B030D-6E8A-4147-A177-3AD203B41FA5}">
                      <a16:colId xmlns:a16="http://schemas.microsoft.com/office/drawing/2014/main" val="2250642826"/>
                    </a:ext>
                  </a:extLst>
                </a:gridCol>
              </a:tblGrid>
              <a:tr h="313432"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Current State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Instruction / Condition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>
                          <a:solidFill>
                            <a:schemeClr val="bg1"/>
                          </a:solidFill>
                        </a:rPr>
                        <a:t>Next State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853906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S0 (IF)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S1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0487289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S1 (ID)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R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S5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7131938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LW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S2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46836129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SW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S2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145291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BEQ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S7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086457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J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S8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8704034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S2 (ADDR)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LW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S3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8627781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SW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S9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0266229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S3 (MEM_READ)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S4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7662526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S4 (LOAD_WB)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S0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6205626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S5 (R_EXEC)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S6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911895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S6 (R_WB)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S0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48713956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S7 (BRANCH)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S0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6450292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S8 (JUMP)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S0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015213"/>
                  </a:ext>
                </a:extLst>
              </a:tr>
              <a:tr h="313432">
                <a:tc>
                  <a:txBody>
                    <a:bodyPr/>
                    <a:lstStyle/>
                    <a:p>
                      <a:r>
                        <a:rPr lang="en-US" sz="1500" b="1"/>
                        <a:t>S9 (MEM_WRITE)</a:t>
                      </a:r>
                      <a:endParaRPr lang="en-US" sz="1500"/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/>
                        <a:t>—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dirty="0"/>
                        <a:t>S0</a:t>
                      </a:r>
                    </a:p>
                  </a:txBody>
                  <a:tcPr marL="78358" marR="78358" marT="39179" marB="391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42647674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A4EA2-4D0E-4D79-998D-837E30F4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FB17D-795C-441D-9F6F-D94ED337A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448761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2D673-0270-4043-8C95-31F020C53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challenge with a hardwired FSM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83EF8-5778-4AC7-A209-57E1565A32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Complex for large ISAs</a:t>
            </a:r>
          </a:p>
          <a:p>
            <a:r>
              <a:rPr lang="en-US" dirty="0"/>
              <a:t>Difficult to modify</a:t>
            </a:r>
          </a:p>
          <a:p>
            <a:r>
              <a:rPr lang="en-US" dirty="0"/>
              <a:t>State explosion – adding one new instruction can substantially increase the number of states!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827-AE0F-4360-BAA9-FAEED2858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B6DCF-674B-4CDE-B923-1BC04CB3F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719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EE87D-7A4F-48EA-8E97-C963514FB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vs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2D3F2-BFDA-49C2-A0DA-DDE29752F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Labs require several things to be modeled structurally. NOT BEHAVIORALLY.</a:t>
            </a:r>
          </a:p>
          <a:p>
            <a:r>
              <a:rPr lang="en-US" dirty="0"/>
              <a:t>Purpose of the labs: develop conceptual understanding and depth.</a:t>
            </a:r>
          </a:p>
          <a:p>
            <a:r>
              <a:rPr lang="en-US" dirty="0"/>
              <a:t>GPT is fine. IF USED FOR IMPROVEMENT and not avoidance.</a:t>
            </a:r>
          </a:p>
          <a:p>
            <a:r>
              <a:rPr lang="en-US" dirty="0"/>
              <a:t>Attendance only if you show results to lab instructors.</a:t>
            </a:r>
          </a:p>
          <a:p>
            <a:r>
              <a:rPr lang="en-US" dirty="0"/>
              <a:t>Evaluation scheme update.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F52EA-57EE-4285-97A7-C4F8E0539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71AA94-86FF-49A7-ADF6-268045D1A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2540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B78FD-3110-401E-8641-954F4FC12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B832E-2072-4AAE-A44B-64EC8095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00"/>
              </a:spcBef>
              <a:buFontTx/>
              <a:buChar char="-"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Midsemester exam: 25% (50 marks)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Comprehensive exam: 35% (70 marks)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In-class quizzes and attendance: </a:t>
            </a:r>
            <a:r>
              <a:rPr lang="en-US" sz="3600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15%</a:t>
            </a: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10% (30 marks)</a:t>
            </a: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Labs:</a:t>
            </a:r>
          </a:p>
          <a:p>
            <a:pPr lvl="1">
              <a:spcBef>
                <a:spcPts val="100"/>
              </a:spcBef>
              <a:buFontTx/>
              <a:buChar char="-"/>
            </a:pPr>
            <a:r>
              <a:rPr lang="en-US" dirty="0"/>
              <a:t>Lab tasks completion: </a:t>
            </a:r>
            <a:r>
              <a:rPr lang="en-US" strike="sngStrike" dirty="0"/>
              <a:t>7.5%</a:t>
            </a:r>
            <a:r>
              <a:rPr lang="en-US" dirty="0"/>
              <a:t> 5% (1.5 marks per lab)</a:t>
            </a:r>
          </a:p>
          <a:p>
            <a:pPr lvl="1">
              <a:spcBef>
                <a:spcPts val="100"/>
              </a:spcBef>
              <a:buFontTx/>
              <a:buChar char="-"/>
            </a:pPr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Evaluative take-home: </a:t>
            </a:r>
            <a:r>
              <a:rPr lang="en-US" strike="sngStrike" dirty="0"/>
              <a:t>7.5%</a:t>
            </a:r>
            <a:r>
              <a:rPr lang="en-US" dirty="0"/>
              <a:t> 0 (</a:t>
            </a:r>
            <a:r>
              <a:rPr lang="en-US" strike="sngStrike" dirty="0"/>
              <a:t>1.5</a:t>
            </a:r>
            <a:r>
              <a:rPr lang="en-US" dirty="0"/>
              <a:t> marks per lab)</a:t>
            </a:r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>
              <a:spcBef>
                <a:spcPts val="100"/>
              </a:spcBef>
              <a:buFontTx/>
              <a:buChar char="-"/>
            </a:pP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Lab exam: </a:t>
            </a:r>
            <a:r>
              <a:rPr lang="en-US" sz="3600" strike="sng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10%</a:t>
            </a:r>
            <a:r>
              <a:rPr lang="en-US" sz="3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25%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8B80A-4991-4299-A1EB-F7B053C4B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DE1003-7696-4795-9CC6-61BCE9F961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3615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66C2A-CA34-4E01-AD5C-78E835848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Microprogramming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47329B-4072-4E06-B738-820471EB1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F07FB-2B66-45BE-B34D-AC1A7E92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9D9D01-1391-45E0-A9C5-C04635A43651}" type="slidenum">
              <a:rPr lang="en-US" altLang="en-US" smtClean="0"/>
              <a:pPr>
                <a:defRPr/>
              </a:pPr>
              <a:t>20</a:t>
            </a:fld>
            <a:endParaRPr lang="en-US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6DBEC6-862C-44B4-B6E4-A872E69D35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5800" y="2667000"/>
            <a:ext cx="7772400" cy="3124200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Pain points for hardwired FSM control</a:t>
            </a:r>
          </a:p>
          <a:p>
            <a:r>
              <a:rPr lang="en-US" dirty="0"/>
              <a:t>State explosion for rich ISAs</a:t>
            </a:r>
          </a:p>
          <a:p>
            <a:r>
              <a:rPr lang="en-US" dirty="0"/>
              <a:t>Difficult to modify / extend instruction set in a modular fashion</a:t>
            </a:r>
          </a:p>
          <a:p>
            <a:r>
              <a:rPr lang="en-US" dirty="0"/>
              <a:t>Difficult verification (verify everything after any modification</a:t>
            </a:r>
          </a:p>
          <a:p>
            <a:r>
              <a:rPr lang="en-US" dirty="0"/>
              <a:t>Irregular structure – difficult to optimize in silicon</a:t>
            </a:r>
          </a:p>
        </p:txBody>
      </p:sp>
    </p:spTree>
    <p:extLst>
      <p:ext uri="{BB962C8B-B14F-4D97-AF65-F5344CB8AC3E}">
        <p14:creationId xmlns:p14="http://schemas.microsoft.com/office/powerpoint/2010/main" val="375359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6199D-6238-4C0E-B579-342DDB23F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53975"/>
            <a:ext cx="6629400" cy="1195386"/>
          </a:xfrm>
        </p:spPr>
        <p:txBody>
          <a:bodyPr/>
          <a:lstStyle/>
          <a:p>
            <a:r>
              <a:rPr lang="en-US" dirty="0"/>
              <a:t>A computer inside the computer – making control itself a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EBEDE-B459-4B37-B01E-8D82C671EB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Break up instruction processing into </a:t>
            </a:r>
            <a:r>
              <a:rPr lang="en-US" i="1" dirty="0"/>
              <a:t>microinstructions</a:t>
            </a:r>
            <a:endParaRPr lang="en-US" dirty="0"/>
          </a:p>
          <a:p>
            <a:r>
              <a:rPr lang="en-US" dirty="0"/>
              <a:t>Several microinstructions </a:t>
            </a:r>
            <a:r>
              <a:rPr lang="en-US" dirty="0">
                <a:sym typeface="Wingdings" panose="05000000000000000000" pitchFamily="2" charset="2"/>
              </a:rPr>
              <a:t> single instruction</a:t>
            </a:r>
          </a:p>
          <a:p>
            <a:r>
              <a:rPr lang="en-US" dirty="0">
                <a:sym typeface="Wingdings" panose="05000000000000000000" pitchFamily="2" charset="2"/>
              </a:rPr>
              <a:t>FSM State  microinstruction</a:t>
            </a:r>
          </a:p>
          <a:p>
            <a:r>
              <a:rPr lang="en-US" dirty="0">
                <a:sym typeface="Wingdings" panose="05000000000000000000" pitchFamily="2" charset="2"/>
              </a:rPr>
              <a:t>Control signals for each microinstruction stored in ROM</a:t>
            </a:r>
          </a:p>
          <a:p>
            <a:r>
              <a:rPr lang="en-US" dirty="0"/>
              <a:t>µPC (Micro-Program Counter): Points to the current micro-instruction</a:t>
            </a:r>
          </a:p>
          <a:p>
            <a:r>
              <a:rPr lang="en-US" dirty="0"/>
              <a:t>Address Select Logic: Decides the next µPC (state transition in our FSM)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97D55-59A9-4A12-A815-48B7D6D3F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75471-E449-4068-B307-B037EA274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7329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AC3DC-F384-5322-E88A-FF4562B67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50" y="277671"/>
            <a:ext cx="5452110" cy="790420"/>
          </a:xfrm>
        </p:spPr>
        <p:txBody>
          <a:bodyPr>
            <a:noAutofit/>
          </a:bodyPr>
          <a:lstStyle/>
          <a:p>
            <a:r>
              <a:rPr lang="en-US" dirty="0"/>
              <a:t>Microprogramming – </a:t>
            </a:r>
            <a:r>
              <a:rPr lang="en-US" dirty="0" err="1"/>
              <a:t>datapath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CF819-8B30-A34D-7BCA-CF118A7E8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22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19C3B05-9FB8-D933-1748-2E3F0E8DD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371600"/>
            <a:ext cx="8668424" cy="5136365"/>
          </a:xfrm>
          <a:prstGeom prst="rect">
            <a:avLst/>
          </a:prstGeom>
        </p:spPr>
      </p:pic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4840807E-3F5B-45F6-927A-AD2AF6DDC3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pPr>
              <a:defRPr/>
            </a:pPr>
            <a:r>
              <a:rPr lang="en-US" dirty="0"/>
              <a:t>21/12/2020</a:t>
            </a:r>
          </a:p>
        </p:txBody>
      </p:sp>
    </p:spTree>
    <p:extLst>
      <p:ext uri="{BB962C8B-B14F-4D97-AF65-F5344CB8AC3E}">
        <p14:creationId xmlns:p14="http://schemas.microsoft.com/office/powerpoint/2010/main" val="411257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ADCE-A6D4-4A75-692E-D39D2B1DC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Microprogramming –</a:t>
            </a:r>
            <a:br>
              <a:rPr lang="en-US" dirty="0"/>
            </a:br>
            <a:r>
              <a:rPr lang="en-US" dirty="0"/>
              <a:t>control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F101B-B7FB-A4E3-71BF-C2604B20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C3541-01C1-4CA5-B68F-FEE868C7D1AF}" type="slidenum">
              <a:rPr lang="en-US" smtClean="0"/>
              <a:t>23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316549-946D-4BD2-099B-3050DF559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43666" y="1211502"/>
            <a:ext cx="4900334" cy="2903631"/>
          </a:xfrm>
          <a:prstGeom prst="rect">
            <a:avLst/>
          </a:prstGeom>
        </p:spPr>
      </p:pic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FB476FBA-A198-3196-51E0-7FC2E3526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8471601"/>
              </p:ext>
            </p:extLst>
          </p:nvPr>
        </p:nvGraphicFramePr>
        <p:xfrm>
          <a:off x="70752" y="4255602"/>
          <a:ext cx="9002496" cy="22213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3145">
                  <a:extLst>
                    <a:ext uri="{9D8B030D-6E8A-4147-A177-3AD203B41FA5}">
                      <a16:colId xmlns:a16="http://schemas.microsoft.com/office/drawing/2014/main" val="3409475837"/>
                    </a:ext>
                  </a:extLst>
                </a:gridCol>
                <a:gridCol w="876067">
                  <a:extLst>
                    <a:ext uri="{9D8B030D-6E8A-4147-A177-3AD203B41FA5}">
                      <a16:colId xmlns:a16="http://schemas.microsoft.com/office/drawing/2014/main" val="3145596914"/>
                    </a:ext>
                  </a:extLst>
                </a:gridCol>
                <a:gridCol w="383572">
                  <a:extLst>
                    <a:ext uri="{9D8B030D-6E8A-4147-A177-3AD203B41FA5}">
                      <a16:colId xmlns:a16="http://schemas.microsoft.com/office/drawing/2014/main" val="2588116087"/>
                    </a:ext>
                  </a:extLst>
                </a:gridCol>
                <a:gridCol w="510017">
                  <a:extLst>
                    <a:ext uri="{9D8B030D-6E8A-4147-A177-3AD203B41FA5}">
                      <a16:colId xmlns:a16="http://schemas.microsoft.com/office/drawing/2014/main" val="426977723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10849297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87081511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316847916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139766772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265561656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31605215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53818928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7080745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6434559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83528078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11738407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736024512"/>
                    </a:ext>
                  </a:extLst>
                </a:gridCol>
                <a:gridCol w="375095">
                  <a:extLst>
                    <a:ext uri="{9D8B030D-6E8A-4147-A177-3AD203B41FA5}">
                      <a16:colId xmlns:a16="http://schemas.microsoft.com/office/drawing/2014/main" val="556831134"/>
                    </a:ext>
                  </a:extLst>
                </a:gridCol>
              </a:tblGrid>
              <a:tr h="211202"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State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/>
                        <a:t>Pseudocode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IRLd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RegSel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RegWr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RegEn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dirty="0"/>
                        <a:t>ALd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BLd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ALUop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ALUen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MALd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MemWr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MemEn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ImmSel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ImmEn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mBr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dirty="0" err="1"/>
                        <a:t>Nxt</a:t>
                      </a:r>
                      <a:endParaRPr lang="en-US" sz="1000" dirty="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2602937028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F0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PC-&gt;MA, A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PC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N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2709571622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F1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Mem-&gt;IR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1260935910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F2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ALU-&gt;PC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PC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INC_A_4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*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1875999785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ADD0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R[t1]-&gt;A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2405993172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ADD1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R[t2]-&gt;B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1820389711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ADD2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ALU-&gt;R[t0]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200" dirty="0"/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1508656455"/>
                  </a:ext>
                </a:extLst>
              </a:tr>
              <a:tr h="285514">
                <a:tc>
                  <a:txBody>
                    <a:bodyPr/>
                    <a:lstStyle/>
                    <a:p>
                      <a:r>
                        <a:rPr lang="en-US" sz="1200" b="1" dirty="0"/>
                        <a:t>ADD3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GOTO F0</a:t>
                      </a:r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marL="70401" marR="70401" marT="35200" marB="352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F0</a:t>
                      </a:r>
                    </a:p>
                  </a:txBody>
                  <a:tcPr marL="70401" marR="70401" marT="35200" marB="35200"/>
                </a:tc>
                <a:extLst>
                  <a:ext uri="{0D108BD9-81ED-4DB2-BD59-A6C34878D82A}">
                    <a16:rowId xmlns:a16="http://schemas.microsoft.com/office/drawing/2014/main" val="163392382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7F7A7ACF-EFDE-748F-01A0-94D21D1AE3ED}"/>
              </a:ext>
            </a:extLst>
          </p:cNvPr>
          <p:cNvSpPr txBox="1"/>
          <p:nvPr/>
        </p:nvSpPr>
        <p:spPr>
          <a:xfrm>
            <a:off x="0" y="1404878"/>
            <a:ext cx="49003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Controller is a state machine (FSM), with transitions defined as:</a:t>
            </a:r>
          </a:p>
          <a:p>
            <a:r>
              <a:rPr lang="en-US" dirty="0"/>
              <a:t>N: go to next state</a:t>
            </a:r>
          </a:p>
          <a:p>
            <a:r>
              <a:rPr lang="en-US" dirty="0"/>
              <a:t>S: do nothing (if ‘busy?’ is asserted) else next state</a:t>
            </a:r>
          </a:p>
          <a:p>
            <a:r>
              <a:rPr lang="en-US" dirty="0"/>
              <a:t>D: check opcode and </a:t>
            </a:r>
            <a:r>
              <a:rPr lang="en-US" dirty="0" err="1"/>
              <a:t>func</a:t>
            </a:r>
            <a:r>
              <a:rPr lang="en-US" dirty="0"/>
              <a:t> and go to correct state</a:t>
            </a:r>
          </a:p>
          <a:p>
            <a:r>
              <a:rPr lang="en-US" dirty="0"/>
              <a:t>J: Jump to a particular state</a:t>
            </a:r>
          </a:p>
          <a:p>
            <a:r>
              <a:rPr lang="en-US" dirty="0"/>
              <a:t>EZ, NZ: Jump if condition true else next state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4C5C158-F14B-48DF-B344-54B066453DBE}"/>
              </a:ext>
            </a:extLst>
          </p:cNvPr>
          <p:cNvSpPr txBox="1"/>
          <p:nvPr/>
        </p:nvSpPr>
        <p:spPr>
          <a:xfrm>
            <a:off x="0" y="3877649"/>
            <a:ext cx="4594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</a:rPr>
              <a:t>Example: add t0 t1 t2</a:t>
            </a:r>
            <a:endParaRPr lang="en-US" dirty="0">
              <a:solidFill>
                <a:srgbClr val="FFC000"/>
              </a:solidFill>
            </a:endParaRP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02D9AD4-993A-4D7D-B0F4-A67DAB5412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599238"/>
            <a:ext cx="1828800" cy="258762"/>
          </a:xfrm>
        </p:spPr>
        <p:txBody>
          <a:bodyPr/>
          <a:lstStyle/>
          <a:p>
            <a:pPr>
              <a:defRPr/>
            </a:pPr>
            <a:r>
              <a:rPr lang="en-US" dirty="0"/>
              <a:t>21/12/2020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1A81E1-CB4C-4CE7-9D63-8900A34DA3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b="90728"/>
          <a:stretch/>
        </p:blipFill>
        <p:spPr>
          <a:xfrm>
            <a:off x="52023" y="4255603"/>
            <a:ext cx="9045266" cy="213195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EC9EA79-B4D8-4C68-B472-3D02F83E33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1" b="77160"/>
          <a:stretch/>
        </p:blipFill>
        <p:spPr>
          <a:xfrm>
            <a:off x="55855" y="4264225"/>
            <a:ext cx="9045266" cy="52515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C096862-7F08-4FBD-A60A-6473F4F7F3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1" b="66356"/>
          <a:stretch/>
        </p:blipFill>
        <p:spPr>
          <a:xfrm>
            <a:off x="59687" y="4255601"/>
            <a:ext cx="9045266" cy="773599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0255B4D-628A-4C1A-8F0B-A26012D03EA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alphaModFix/>
          </a:blip>
          <a:srcRect t="2" b="3393"/>
          <a:stretch/>
        </p:blipFill>
        <p:spPr>
          <a:xfrm>
            <a:off x="70752" y="4264225"/>
            <a:ext cx="9045266" cy="2221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61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8E87F-58EA-4A72-840D-5BD4A4E8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Microsequencer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D70A806E-3D62-47B1-B889-DB40EC8902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586266"/>
            <a:ext cx="9144000" cy="450973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6A0E0-C870-428F-A9E3-56A56B3FF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2971A-0BE5-4A70-B7C5-3CB3A41B5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24</a:t>
            </a:fld>
            <a:endParaRPr lang="en-US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222876-D8B4-4D1D-968D-D2073DD115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 trans="68000" detail="1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00629" y="4648200"/>
            <a:ext cx="1943371" cy="1867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5057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9C2A2-E746-46D0-87A1-A23D83A7E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Horizontal vs vertical microcode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08A63-9767-416E-9B77-A218310F5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Horizontal microcode:</a:t>
            </a:r>
          </a:p>
          <a:p>
            <a:r>
              <a:rPr lang="en-US" dirty="0"/>
              <a:t>One bit per signal (one-hot encoding in control word)</a:t>
            </a:r>
          </a:p>
          <a:p>
            <a:r>
              <a:rPr lang="en-US" dirty="0"/>
              <a:t>Wide control word</a:t>
            </a:r>
          </a:p>
          <a:p>
            <a:r>
              <a:rPr lang="en-US" dirty="0"/>
              <a:t>No decoding required</a:t>
            </a:r>
          </a:p>
          <a:p>
            <a:r>
              <a:rPr lang="en-US" dirty="0"/>
              <a:t>Example: 16 different </a:t>
            </a:r>
            <a:r>
              <a:rPr lang="en-US" dirty="0" err="1"/>
              <a:t>alu</a:t>
            </a:r>
            <a:r>
              <a:rPr lang="en-US" dirty="0"/>
              <a:t> operations will have 16 bits in the control word</a:t>
            </a:r>
          </a:p>
          <a:p>
            <a:pPr marL="0" indent="0">
              <a:buNone/>
            </a:pPr>
            <a:r>
              <a:rPr lang="en-US" dirty="0">
                <a:solidFill>
                  <a:srgbClr val="FFC000"/>
                </a:solidFill>
              </a:rPr>
              <a:t>Vertical microcode:</a:t>
            </a:r>
          </a:p>
          <a:p>
            <a:r>
              <a:rPr lang="en-US" dirty="0"/>
              <a:t>Signals are grouped into fields</a:t>
            </a:r>
          </a:p>
          <a:p>
            <a:r>
              <a:rPr lang="en-US" dirty="0"/>
              <a:t>Requires decoder between ROM and </a:t>
            </a:r>
            <a:r>
              <a:rPr lang="en-US" dirty="0" err="1"/>
              <a:t>datapath</a:t>
            </a:r>
            <a:endParaRPr lang="en-US" dirty="0"/>
          </a:p>
          <a:p>
            <a:r>
              <a:rPr lang="en-US" dirty="0"/>
              <a:t>Example: 16 different </a:t>
            </a:r>
            <a:r>
              <a:rPr lang="en-US" dirty="0" err="1"/>
              <a:t>alu</a:t>
            </a:r>
            <a:r>
              <a:rPr lang="en-US" dirty="0"/>
              <a:t> ops encoded in 4-bits in control word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493B57-A9A8-48A3-960D-F50717E55D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DD22E3-52C0-483F-A7FE-2B6BFB310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1172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41D97-8700-46A6-B929-1500887A4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 err="1"/>
              <a:t>microcoded</a:t>
            </a:r>
            <a:r>
              <a:rPr lang="en-US" dirty="0"/>
              <a:t> RISC-V implementation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011D8FF-54A9-4A24-82F9-832D84B26C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8596" y="1446213"/>
            <a:ext cx="8626808" cy="501491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01F9E-F45D-4716-B641-776ADC23A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CAC272-6821-414D-BF97-5AA65FFC6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69711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79542-6697-4D04-884C-BD9D62FF5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</a:t>
            </a:r>
            <a:r>
              <a:rPr lang="en-US" dirty="0" err="1"/>
              <a:t>microcoding</a:t>
            </a:r>
            <a:r>
              <a:rPr lang="en-US" dirty="0"/>
              <a:t> relevant today?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872B4-7C4B-4F5C-B346-C9E6733F7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CISC legacy: modern Intel/AMD processors are CISC outside, RISC inside</a:t>
            </a:r>
          </a:p>
          <a:p>
            <a:pPr lvl="1"/>
            <a:r>
              <a:rPr lang="en-US" dirty="0"/>
              <a:t>Provide complex instructions in ISA, which are actually decoded into simpler RISC-like microoperation sequences</a:t>
            </a:r>
          </a:p>
          <a:p>
            <a:r>
              <a:rPr lang="en-US" dirty="0"/>
              <a:t>Patching hardware bugs: updates distributed via BIOS/OS upgrades to modify ROM (also called WCS – writable control store) to fix bugs</a:t>
            </a:r>
          </a:p>
          <a:p>
            <a:pPr lvl="1"/>
            <a:r>
              <a:rPr lang="en-US" dirty="0" err="1"/>
              <a:t>Spectre</a:t>
            </a:r>
            <a:r>
              <a:rPr lang="en-US" dirty="0"/>
              <a:t> / meltdown mitigations from Intel</a:t>
            </a:r>
          </a:p>
          <a:p>
            <a:r>
              <a:rPr lang="en-US" dirty="0"/>
              <a:t>Managing complex system-level algorithms</a:t>
            </a:r>
          </a:p>
          <a:p>
            <a:pPr lvl="1"/>
            <a:r>
              <a:rPr lang="en-US" dirty="0"/>
              <a:t>Boot sequences, frequency scaling and power management</a:t>
            </a:r>
          </a:p>
          <a:p>
            <a:r>
              <a:rPr lang="en-US" dirty="0"/>
              <a:t>Hybrid designs: Fast frequent path (hardwired and pipelined) + slow rare path (complex and </a:t>
            </a:r>
            <a:r>
              <a:rPr lang="en-US" dirty="0" err="1"/>
              <a:t>microcoded</a:t>
            </a:r>
            <a:r>
              <a:rPr lang="en-US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45115-CC17-48FD-B19B-A44A31756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914484-F556-4A96-9A5A-7B0C26A02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887A73-1AE0-46F8-856A-18EA1CF30A1B}" type="slidenum">
              <a:rPr lang="en-US" altLang="en-US" smtClean="0"/>
              <a:pPr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64776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14327</TotalTime>
  <Words>1337</Words>
  <Application>Microsoft Office PowerPoint</Application>
  <PresentationFormat>On-screen Show (4:3)</PresentationFormat>
  <Paragraphs>331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Computer Architecture</vt:lpstr>
      <vt:lpstr>The shortcomings of a single cycle CPU</vt:lpstr>
      <vt:lpstr>Long monolithic datapath – the root problem with single cycle CPU</vt:lpstr>
      <vt:lpstr>The single cycle RV32l datapath</vt:lpstr>
      <vt:lpstr>How to break the datapath?</vt:lpstr>
      <vt:lpstr>Where to break the datapath? Avoid unnecessary computations</vt:lpstr>
      <vt:lpstr>Where to break the datapath Reuse datapath components</vt:lpstr>
      <vt:lpstr>Where to break the datapath? Optimize critical path length</vt:lpstr>
      <vt:lpstr>Where to break the datapath?</vt:lpstr>
      <vt:lpstr>Example: lw execution</vt:lpstr>
      <vt:lpstr>Average execution time</vt:lpstr>
      <vt:lpstr>Evaluating multicycle</vt:lpstr>
      <vt:lpstr>Control becomes sequential  FSM based control</vt:lpstr>
      <vt:lpstr>What states do we need in our RV32I multicycle processor?</vt:lpstr>
      <vt:lpstr>Implementing control</vt:lpstr>
      <vt:lpstr>Transition table</vt:lpstr>
      <vt:lpstr>The challenge with a hardwired FSM</vt:lpstr>
      <vt:lpstr>Structure vs behavior</vt:lpstr>
      <vt:lpstr>Updated evaluation</vt:lpstr>
      <vt:lpstr>Microprogramming</vt:lpstr>
      <vt:lpstr>A computer inside the computer – making control itself a program</vt:lpstr>
      <vt:lpstr>Microprogramming – datapath</vt:lpstr>
      <vt:lpstr>Microprogramming – control</vt:lpstr>
      <vt:lpstr>Microsequencer</vt:lpstr>
      <vt:lpstr>Horizontal vs vertical microcode</vt:lpstr>
      <vt:lpstr>Example microcoded RISC-V implementation</vt:lpstr>
      <vt:lpstr>Is microcoding relevant today?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720</cp:revision>
  <dcterms:created xsi:type="dcterms:W3CDTF">2010-01-15T20:22:21Z</dcterms:created>
  <dcterms:modified xsi:type="dcterms:W3CDTF">2026-02-16T09:06:24Z</dcterms:modified>
</cp:coreProperties>
</file>