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337" r:id="rId2"/>
    <p:sldId id="354" r:id="rId3"/>
    <p:sldId id="342" r:id="rId4"/>
    <p:sldId id="340" r:id="rId5"/>
    <p:sldId id="341" r:id="rId6"/>
    <p:sldId id="343" r:id="rId7"/>
    <p:sldId id="344" r:id="rId8"/>
    <p:sldId id="345" r:id="rId9"/>
    <p:sldId id="346" r:id="rId10"/>
    <p:sldId id="347" r:id="rId11"/>
    <p:sldId id="349" r:id="rId12"/>
    <p:sldId id="350" r:id="rId13"/>
    <p:sldId id="348" r:id="rId14"/>
    <p:sldId id="351" r:id="rId15"/>
    <p:sldId id="352" r:id="rId16"/>
    <p:sldId id="353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110" d="100"/>
          <a:sy n="110" d="100"/>
        </p:scale>
        <p:origin x="156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3719-E81E-4B4F-949F-DB36C1DF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class 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😭😭😭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9A95-238E-4077-B5A6-F80D51D82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Please give your preference on the phone.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B9CE-776E-425A-A152-3031843E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9BC49-DBE2-47D4-930C-706ACFF9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990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A618-D073-49B1-9988-AC18CCF7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things that compute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1FE8-90F6-4108-8DB8-F36639D2A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Digital design</a:t>
            </a:r>
          </a:p>
          <a:p>
            <a:r>
              <a:rPr lang="en-US" dirty="0"/>
              <a:t>Combinational logic</a:t>
            </a:r>
          </a:p>
          <a:p>
            <a:r>
              <a:rPr lang="en-US" dirty="0"/>
              <a:t>Memory elements (registers)</a:t>
            </a:r>
          </a:p>
          <a:p>
            <a:r>
              <a:rPr lang="en-US" dirty="0"/>
              <a:t>Synchronous sequential circuits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 do we go from here to the modern computer?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00DF7-75AF-4B3B-8B19-2E917459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81B45-C52D-4A36-AA04-604312C8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020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680A-7D1E-4C45-BB54-0E793B1D6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things that compute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AE3C-5716-409D-B3F7-CF9184FC5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5030789"/>
          </a:xfrm>
        </p:spPr>
        <p:txBody>
          <a:bodyPr/>
          <a:lstStyle/>
          <a:p>
            <a:r>
              <a:rPr lang="en-US" sz="2800" dirty="0"/>
              <a:t>Sequential circuits</a:t>
            </a:r>
          </a:p>
          <a:p>
            <a:pPr lvl="1"/>
            <a:r>
              <a:rPr lang="en-US" sz="2400" dirty="0"/>
              <a:t>Sequence detector – is it a computer? Sequence generator?</a:t>
            </a:r>
          </a:p>
          <a:p>
            <a:pPr lvl="1"/>
            <a:r>
              <a:rPr lang="en-US" sz="2400" dirty="0"/>
              <a:t>Can we generalize?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Finite State machines</a:t>
            </a:r>
          </a:p>
          <a:p>
            <a:pPr lvl="1"/>
            <a:r>
              <a:rPr lang="en-US" sz="2400" dirty="0"/>
              <a:t>Storage for current state</a:t>
            </a:r>
          </a:p>
          <a:p>
            <a:pPr lvl="1"/>
            <a:r>
              <a:rPr lang="en-US" sz="2400" dirty="0"/>
              <a:t>Combinational circuit to generate o/p and next state based on </a:t>
            </a:r>
            <a:r>
              <a:rPr lang="en-US" sz="2400" dirty="0" err="1"/>
              <a:t>i</a:t>
            </a:r>
            <a:r>
              <a:rPr lang="en-US" sz="2400" dirty="0"/>
              <a:t>/p and current state</a:t>
            </a:r>
          </a:p>
          <a:p>
            <a:pPr lvl="1"/>
            <a:r>
              <a:rPr lang="en-US" sz="2400" dirty="0"/>
              <a:t>Implement the combinational circuit using a ROM (or PLA/PAL)</a:t>
            </a: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F59D4-1919-4434-928B-44025D754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2D9BB-AAC6-4595-B967-1E7C487F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BEF856-3AD9-468A-B86F-0B3FE0DBA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590800"/>
            <a:ext cx="5382422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474B71-67D0-4491-BE78-D0A7E10DC7E5}"/>
              </a:ext>
            </a:extLst>
          </p:cNvPr>
          <p:cNvSpPr txBox="1"/>
          <p:nvPr/>
        </p:nvSpPr>
        <p:spPr>
          <a:xfrm>
            <a:off x="6096000" y="6574730"/>
            <a:ext cx="2263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computationstructures.org</a:t>
            </a:r>
          </a:p>
        </p:txBody>
      </p:sp>
    </p:spTree>
    <p:extLst>
      <p:ext uri="{BB962C8B-B14F-4D97-AF65-F5344CB8AC3E}">
        <p14:creationId xmlns:p14="http://schemas.microsoft.com/office/powerpoint/2010/main" val="127564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5CBB-059E-48BC-9278-161506489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Machines can accept instructions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59D0E-ACE7-4643-81D9-05269EF5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1ACD4-403A-45E8-90C0-BDAEEE19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D1FF6F0-0C74-4D28-B57C-8B449E86E2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958" y="1447800"/>
            <a:ext cx="5584083" cy="38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EA9302A-76A9-4F2A-9106-9DC771B312C0}"/>
              </a:ext>
            </a:extLst>
          </p:cNvPr>
          <p:cNvSpPr txBox="1">
            <a:spLocks/>
          </p:cNvSpPr>
          <p:nvPr/>
        </p:nvSpPr>
        <p:spPr bwMode="auto">
          <a:xfrm>
            <a:off x="152400" y="5181600"/>
            <a:ext cx="88392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Write a ROM that takes 2 2-bit numbers from registers as inputs, reads an operation from a 2-bit encoder (+/- buttons pressed by user) and puts the result back in one of the two registers (again specified by user button). It should execute only when the +/- button is pressed, and otherwise go to a ‘waiting’ state.</a:t>
            </a:r>
          </a:p>
        </p:txBody>
      </p:sp>
    </p:spTree>
    <p:extLst>
      <p:ext uri="{BB962C8B-B14F-4D97-AF65-F5344CB8AC3E}">
        <p14:creationId xmlns:p14="http://schemas.microsoft.com/office/powerpoint/2010/main" val="218004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00B5-2E44-40B2-9DF9-90E7993F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FSMs with instructions stored in memory = programmable computer!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8D24-A992-46C2-8341-286C5B08C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read user input (+/-) and executed…</a:t>
            </a:r>
          </a:p>
          <a:p>
            <a:r>
              <a:rPr lang="en-US" dirty="0"/>
              <a:t>Read ‘instruction’ from another memory instead</a:t>
            </a:r>
          </a:p>
          <a:p>
            <a:r>
              <a:rPr lang="en-US" dirty="0"/>
              <a:t>What should instructions specify?</a:t>
            </a:r>
          </a:p>
          <a:p>
            <a:pPr lvl="1"/>
            <a:r>
              <a:rPr lang="en-US" dirty="0"/>
              <a:t>What operation to perform</a:t>
            </a:r>
          </a:p>
          <a:p>
            <a:pPr lvl="1"/>
            <a:r>
              <a:rPr lang="en-US" dirty="0"/>
              <a:t>What data to use?</a:t>
            </a:r>
          </a:p>
          <a:p>
            <a:pPr lvl="1"/>
            <a:r>
              <a:rPr lang="en-US" dirty="0"/>
              <a:t>Where to put results?</a:t>
            </a:r>
          </a:p>
          <a:p>
            <a:pPr lvl="1"/>
            <a:endParaRPr lang="en-US" dirty="0"/>
          </a:p>
          <a:p>
            <a:r>
              <a:rPr lang="en-US" dirty="0"/>
              <a:t>An instruction is a compact description of the above three in a standardized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E66E9-CEF7-4580-B1F6-B7D209AC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DCB66-A854-4F0C-8155-1877C570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61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5925B-C0BC-4FC6-8D70-29E185EE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Implementing the programmable computer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4D6D-3914-4FAB-8A8B-B1C743598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Remember designing sequential circuits in DD? After making the state table, what did you build?</a:t>
            </a:r>
          </a:p>
          <a:p>
            <a:pPr>
              <a:buFontTx/>
              <a:buChar char="-"/>
            </a:pPr>
            <a:r>
              <a:rPr lang="en-US" dirty="0"/>
              <a:t>Data path</a:t>
            </a:r>
          </a:p>
          <a:p>
            <a:pPr lvl="1">
              <a:buFontTx/>
              <a:buChar char="-"/>
            </a:pPr>
            <a:r>
              <a:rPr lang="en-US" dirty="0"/>
              <a:t>Registers</a:t>
            </a:r>
          </a:p>
          <a:p>
            <a:pPr lvl="1">
              <a:buFontTx/>
              <a:buChar char="-"/>
            </a:pPr>
            <a:r>
              <a:rPr lang="en-US" dirty="0"/>
              <a:t>Memory</a:t>
            </a:r>
          </a:p>
          <a:p>
            <a:pPr lvl="1">
              <a:buFontTx/>
              <a:buChar char="-"/>
            </a:pPr>
            <a:r>
              <a:rPr lang="en-US" dirty="0"/>
              <a:t>ALU</a:t>
            </a:r>
          </a:p>
          <a:p>
            <a:pPr>
              <a:buFontTx/>
              <a:buChar char="-"/>
            </a:pPr>
            <a:r>
              <a:rPr lang="en-US" dirty="0"/>
              <a:t>Control</a:t>
            </a:r>
          </a:p>
          <a:p>
            <a:pPr lvl="1">
              <a:buFontTx/>
              <a:buChar char="-"/>
            </a:pPr>
            <a:r>
              <a:rPr lang="en-US" dirty="0"/>
              <a:t>Which is the FSM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49BD2-057C-43E2-8460-81D566CA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9B056-9337-4828-BC8D-B124D023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8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F471-139C-4F72-8DB3-8CDFA0A2D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instructions to implement?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50F2-07D6-412F-B16C-5885A788F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Toy example: FSM to control a traffic light</a:t>
            </a:r>
          </a:p>
          <a:p>
            <a:pPr>
              <a:spcBef>
                <a:spcPts val="1000"/>
              </a:spcBef>
            </a:pPr>
            <a:r>
              <a:rPr lang="en-US" dirty="0"/>
              <a:t>Instructions: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Turn on red light (turns it on for 30 seconds)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Turn on green light (turns it on for 10 seconds)</a:t>
            </a:r>
          </a:p>
          <a:p>
            <a:pPr>
              <a:spcBef>
                <a:spcPts val="1000"/>
              </a:spcBef>
            </a:pPr>
            <a:r>
              <a:rPr lang="en-US" dirty="0"/>
              <a:t>New functionality: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Blink green light on (1s) - off (1s) for 5 seconds (to indicate about to turn red)</a:t>
            </a:r>
          </a:p>
          <a:p>
            <a:pPr lvl="1">
              <a:spcBef>
                <a:spcPts val="1000"/>
              </a:spcBef>
              <a:buFontTx/>
              <a:buChar char="-"/>
            </a:pPr>
            <a:r>
              <a:rPr lang="en-US" dirty="0"/>
              <a:t>Blink red light on (3s) - off (3s) continuously (signal not working)</a:t>
            </a:r>
          </a:p>
          <a:p>
            <a:pPr>
              <a:spcBef>
                <a:spcPts val="1000"/>
              </a:spcBef>
            </a:pPr>
            <a:r>
              <a:rPr lang="en-US" dirty="0"/>
              <a:t>Even more functionality, simply based on toggling lights – even more complexity of FSM!</a:t>
            </a:r>
          </a:p>
          <a:p>
            <a:pPr>
              <a:spcBef>
                <a:spcPts val="1000"/>
              </a:spcBef>
            </a:pPr>
            <a:r>
              <a:rPr lang="en-US" dirty="0"/>
              <a:t>How can we simplify?</a:t>
            </a:r>
          </a:p>
          <a:p>
            <a:pPr>
              <a:spcBef>
                <a:spcPts val="1000"/>
              </a:spcBef>
            </a:pPr>
            <a:r>
              <a:rPr lang="en-US" dirty="0"/>
              <a:t>Only 3 instructions are needed, can you identify?</a:t>
            </a:r>
          </a:p>
          <a:p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31FB-A62A-4C16-B30C-183F12D1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08995-EA0C-4216-9651-7FEE5E6B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22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8342-DD28-4D70-8C47-CE1372C3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Instruction Set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8B92D-262E-4672-9605-6E27792F4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763000" cy="50149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Choice of instructions to implement critical for building efficient computers</a:t>
            </a:r>
          </a:p>
          <a:p>
            <a:pPr lvl="1"/>
            <a:r>
              <a:rPr lang="en-US" dirty="0"/>
              <a:t>Few very basic instructions?</a:t>
            </a:r>
          </a:p>
          <a:p>
            <a:pPr lvl="1"/>
            <a:r>
              <a:rPr lang="en-US" dirty="0"/>
              <a:t>Many complex instructions?</a:t>
            </a:r>
          </a:p>
          <a:p>
            <a:pPr lvl="2"/>
            <a:r>
              <a:rPr lang="en-US" dirty="0"/>
              <a:t>Effect on program size?</a:t>
            </a:r>
          </a:p>
          <a:p>
            <a:pPr lvl="2"/>
            <a:r>
              <a:rPr lang="en-US" dirty="0"/>
              <a:t>Effect on hardware complexity?</a:t>
            </a:r>
          </a:p>
          <a:p>
            <a:pPr lvl="2"/>
            <a:r>
              <a:rPr lang="en-US" dirty="0"/>
              <a:t>Many other parameters that we will discuss later!</a:t>
            </a:r>
          </a:p>
          <a:p>
            <a:r>
              <a:rPr lang="en-US" dirty="0"/>
              <a:t>ISA is a formal specification of allowed instructions, their meaning and behavior</a:t>
            </a:r>
          </a:p>
          <a:p>
            <a:r>
              <a:rPr lang="en-US" dirty="0"/>
              <a:t>ISA defines what the computer does (not how)!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26694-89BE-43C0-8B74-2667F2D7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41A55-F41B-4C98-B6BB-BB6419D6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714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A20A-B028-4E75-AED7-0896150A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ISA = Hardware – Software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C772D-D23E-47AE-B180-992DAC798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assumes instructions behave exactly as specified</a:t>
            </a:r>
          </a:p>
          <a:p>
            <a:r>
              <a:rPr lang="en-US" dirty="0"/>
              <a:t>Hardware guarantees correct execution of instructions</a:t>
            </a:r>
          </a:p>
          <a:p>
            <a:r>
              <a:rPr lang="en-US" dirty="0"/>
              <a:t>As long as ISA remains the same, software need not care about the hardware design!</a:t>
            </a:r>
          </a:p>
          <a:p>
            <a:r>
              <a:rPr lang="en-US" dirty="0"/>
              <a:t>Stable boundary between hardware and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48A7F-CC65-4CFF-855B-4E26F217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CDBCB-7E94-460D-B2BF-8D506F4D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31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5C8E-BE79-4AF8-B6A7-0C14CCF1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all does an ISA specify?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27EAF-152D-47DD-B275-41B694F0A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Operations: Add, Load, Store, Branch etc.</a:t>
            </a:r>
          </a:p>
          <a:p>
            <a:r>
              <a:rPr lang="en-US" dirty="0"/>
              <a:t>Storage: How many registers? How big?</a:t>
            </a:r>
          </a:p>
          <a:p>
            <a:r>
              <a:rPr lang="en-US" dirty="0"/>
              <a:t>Storage: How much memory to support?</a:t>
            </a:r>
          </a:p>
          <a:p>
            <a:r>
              <a:rPr lang="en-US" dirty="0"/>
              <a:t>Data types: Integers, Floats, 32-bit, 64-bit etc.</a:t>
            </a:r>
          </a:p>
          <a:p>
            <a:r>
              <a:rPr lang="en-US" dirty="0"/>
              <a:t>Addressing modes: How to refer to different locations in the memory?</a:t>
            </a:r>
          </a:p>
          <a:p>
            <a:r>
              <a:rPr lang="en-US" dirty="0"/>
              <a:t>Measuring success: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3C9C5-CA36-4322-9B53-313FA9A8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24170D-40E5-4B79-BE30-33EF73BC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9D09C-65F8-4DCB-95B6-F37B114D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5486400"/>
            <a:ext cx="600158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F6EE9-9B61-4F36-86FF-4D1948ED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Great Debate: RISC vs. CISC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F242-9A93-4F56-ADE6-05AC27E0F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CISC (Complex Instruction Set): Make instructions powerful (e.g., "Multiply memory address X by Y").</a:t>
            </a:r>
          </a:p>
          <a:p>
            <a:pPr lvl="1"/>
            <a:r>
              <a:rPr lang="en-US" sz="2400" dirty="0"/>
              <a:t>Goal: Reduce Instructions/Program.</a:t>
            </a:r>
          </a:p>
          <a:p>
            <a:pPr lvl="1"/>
            <a:endParaRPr lang="en-US" sz="2400" dirty="0"/>
          </a:p>
          <a:p>
            <a:r>
              <a:rPr lang="en-US" sz="2800" dirty="0"/>
              <a:t>RISC (Reduced Instruction Set): Make instructions simple (e.g., "Load," then "Multiply").</a:t>
            </a:r>
          </a:p>
          <a:p>
            <a:pPr lvl="1"/>
            <a:r>
              <a:rPr lang="en-US" sz="2400" dirty="0"/>
              <a:t>Goal: Reduce CPI and Seconds/Cycle.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6D434-9D89-4E64-AD13-AF1DAF21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966F8-61B1-4ACE-9C51-8C9F11A8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0EEB4-28F5-43AF-A24D-4121687B1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5486400"/>
            <a:ext cx="600158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6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BF98-0F2C-4D29-9001-D63E4132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RISC design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D329-2C40-4CCF-B4B5-DF390A596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8839200" cy="5014912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Simplicity Favors Regularity:</a:t>
            </a:r>
          </a:p>
          <a:p>
            <a:pPr lvl="1"/>
            <a:r>
              <a:rPr lang="en-US" sz="2400" dirty="0"/>
              <a:t>All instructions are the same length (usually 32-bit).</a:t>
            </a:r>
          </a:p>
          <a:p>
            <a:pPr lvl="1"/>
            <a:r>
              <a:rPr lang="en-US" sz="2400" dirty="0"/>
              <a:t>Easier to decode.</a:t>
            </a:r>
          </a:p>
          <a:p>
            <a:r>
              <a:rPr lang="en-US" sz="2800" dirty="0"/>
              <a:t>Smaller is Faster:</a:t>
            </a:r>
          </a:p>
          <a:p>
            <a:pPr lvl="1"/>
            <a:r>
              <a:rPr lang="en-US" sz="2400" dirty="0"/>
              <a:t>Limited number of registers</a:t>
            </a:r>
          </a:p>
          <a:p>
            <a:pPr lvl="1"/>
            <a:r>
              <a:rPr lang="en-US" sz="2400" dirty="0"/>
              <a:t>Smaller instruction sets allow higher clock speeds. </a:t>
            </a:r>
          </a:p>
          <a:p>
            <a:r>
              <a:rPr lang="en-US" sz="2800" dirty="0"/>
              <a:t>Make the Common Case Fast:</a:t>
            </a:r>
          </a:p>
          <a:p>
            <a:pPr lvl="1"/>
            <a:r>
              <a:rPr lang="en-US" sz="2400" dirty="0"/>
              <a:t>Focus on the instructions used 90% of the time (Load, Store, Add).</a:t>
            </a:r>
          </a:p>
          <a:p>
            <a:r>
              <a:rPr lang="en-US" sz="2800" dirty="0"/>
              <a:t>Good Design Demands Good Compromises:</a:t>
            </a:r>
          </a:p>
          <a:p>
            <a:pPr lvl="1"/>
            <a:r>
              <a:rPr lang="en-US" sz="2400" dirty="0"/>
              <a:t>Use a Load-Store architecture (Memory only accessed via Load/Store, never directly in an ALU op).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B1068-57DB-4E4E-B883-59F6E6BB2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21CC9-E1AE-4D14-A4AF-D22618EEA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03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AF05-73FD-4F69-9FEE-05406F12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Multiplying two memory locations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A2EF04-37B1-4BED-9FF0-D01D9E29BA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396682"/>
              </p:ext>
            </p:extLst>
          </p:nvPr>
        </p:nvGraphicFramePr>
        <p:xfrm>
          <a:off x="917919" y="1429162"/>
          <a:ext cx="7308162" cy="5049014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2436054">
                  <a:extLst>
                    <a:ext uri="{9D8B030D-6E8A-4147-A177-3AD203B41FA5}">
                      <a16:colId xmlns:a16="http://schemas.microsoft.com/office/drawing/2014/main" val="788328691"/>
                    </a:ext>
                  </a:extLst>
                </a:gridCol>
                <a:gridCol w="2436054">
                  <a:extLst>
                    <a:ext uri="{9D8B030D-6E8A-4147-A177-3AD203B41FA5}">
                      <a16:colId xmlns:a16="http://schemas.microsoft.com/office/drawing/2014/main" val="1524041230"/>
                    </a:ext>
                  </a:extLst>
                </a:gridCol>
                <a:gridCol w="2436054">
                  <a:extLst>
                    <a:ext uri="{9D8B030D-6E8A-4147-A177-3AD203B41FA5}">
                      <a16:colId xmlns:a16="http://schemas.microsoft.com/office/drawing/2014/main" val="1841731485"/>
                    </a:ext>
                  </a:extLst>
                </a:gridCol>
              </a:tblGrid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RISC (e.g., RISC-V / MIPS / ARM)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CISC (e.g., Intel x86)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396390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Philosophy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"Small, fast, uniform steps."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"Do more with a single command."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2709245228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Instruction Count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High</a:t>
                      </a: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 (requires 4 separate instructions)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Low</a:t>
                      </a: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 (can be done in 1 instruction)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4222597770"/>
                  </a:ext>
                </a:extLst>
              </a:tr>
              <a:tr h="1688438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Example Code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LOAD R1, addr_A </a:t>
                      </a:r>
                    </a:p>
                    <a:p>
                      <a:pPr rtl="0"/>
                      <a:b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LOAD R2, addr_B </a:t>
                      </a:r>
                    </a:p>
                    <a:p>
                      <a:pPr rtl="0"/>
                      <a:b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PROD R1, R2 </a:t>
                      </a:r>
                    </a:p>
                    <a:p>
                      <a:pPr rtl="0"/>
                      <a:b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</a:br>
                      <a:r>
                        <a:rPr lang="pt-BR" sz="1500">
                          <a:solidFill>
                            <a:srgbClr val="1F1F1F"/>
                          </a:solidFill>
                          <a:effectLst/>
                        </a:rPr>
                        <a:t>STORE addr_A, R1</a:t>
                      </a:r>
                      <a:endParaRPr lang="pt-BR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MULT 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addr_A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addr_B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1131686274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Memory Access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Only LOAD and STORE touch memory.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Computation instructions can touch memory directly.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3348477581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Execution Time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Each instruction typically takes </a:t>
                      </a:r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1 cycle</a:t>
                      </a:r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Instruction takes </a:t>
                      </a:r>
                      <a:r>
                        <a:rPr lang="en-US" sz="1500" b="1" dirty="0">
                          <a:solidFill>
                            <a:srgbClr val="1F1F1F"/>
                          </a:solidFill>
                          <a:effectLst/>
                        </a:rPr>
                        <a:t>multiple cycles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 to finish.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3427217617"/>
                  </a:ext>
                </a:extLst>
              </a:tr>
              <a:tr h="554412">
                <a:tc>
                  <a:txBody>
                    <a:bodyPr/>
                    <a:lstStyle/>
                    <a:p>
                      <a:pPr rtl="0"/>
                      <a:r>
                        <a:rPr lang="en-US" sz="1500" b="1">
                          <a:solidFill>
                            <a:srgbClr val="1F1F1F"/>
                          </a:solidFill>
                          <a:effectLst/>
                        </a:rPr>
                        <a:t>Addressing Modes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>
                          <a:solidFill>
                            <a:srgbClr val="1F1F1F"/>
                          </a:solidFill>
                          <a:effectLst/>
                        </a:rPr>
                        <a:t>Very few (usually just "Base + Offset").</a:t>
                      </a:r>
                      <a:endParaRPr lang="en-US" sz="15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Dozens of complex modes (e.g., [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ebx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 + </a:t>
                      </a:r>
                      <a:r>
                        <a:rPr lang="en-US" sz="1500" dirty="0" err="1">
                          <a:solidFill>
                            <a:srgbClr val="1F1F1F"/>
                          </a:solidFill>
                          <a:effectLst/>
                        </a:rPr>
                        <a:t>esi</a:t>
                      </a:r>
                      <a:r>
                        <a:rPr lang="en-US" sz="1500" dirty="0">
                          <a:solidFill>
                            <a:srgbClr val="1F1F1F"/>
                          </a:solidFill>
                          <a:effectLst/>
                        </a:rPr>
                        <a:t>*4 + 10]).</a:t>
                      </a:r>
                      <a:endParaRPr lang="en-US" sz="15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602" marR="75602" marT="50401" marB="50401" anchor="ctr"/>
                </a:tc>
                <a:extLst>
                  <a:ext uri="{0D108BD9-81ED-4DB2-BD59-A6C34878D82A}">
                    <a16:rowId xmlns:a16="http://schemas.microsoft.com/office/drawing/2014/main" val="285022984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A2D8F-6E4B-42C2-AAB3-CCD08F35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9FC0D-3EF5-4210-BD2A-BCB3175B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065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FD93-0A16-40A1-9D41-421D6DD46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ISA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EB88E-6294-492D-88CC-E991806C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Density: CISC wins (smaller binaries).</a:t>
            </a:r>
          </a:p>
          <a:p>
            <a:r>
              <a:rPr lang="en-US" dirty="0"/>
              <a:t>Power Efficiency: RISC wins (simpler logic, fewer transistors).</a:t>
            </a:r>
          </a:p>
          <a:p>
            <a:r>
              <a:rPr lang="en-US" dirty="0"/>
              <a:t>Compiler Complexity: RISC requires smarter compilers to optimize instruction sequences.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384CC-F3E5-4B75-B545-3492B0AB7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A608C-E0DA-4076-8ABB-E9FB42DD1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69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A8750-9E3A-42FA-B98B-7296523F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RISC-V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6D06-389B-4CA2-80E6-1EA21A2DB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RISC is the dominant philosophy today (ARM in phones, RISC-V in research/IoT).</a:t>
            </a:r>
          </a:p>
          <a:p>
            <a:r>
              <a:rPr lang="en-US" dirty="0"/>
              <a:t>RISC-V:</a:t>
            </a:r>
          </a:p>
          <a:p>
            <a:pPr lvl="1"/>
            <a:r>
              <a:rPr lang="en-US" dirty="0"/>
              <a:t>Open and clean specification</a:t>
            </a:r>
          </a:p>
          <a:p>
            <a:pPr lvl="1"/>
            <a:r>
              <a:rPr lang="en-US" dirty="0"/>
              <a:t>Minimal complexity</a:t>
            </a:r>
          </a:p>
          <a:p>
            <a:pPr lvl="1"/>
            <a:r>
              <a:rPr lang="en-US" dirty="0"/>
              <a:t>Ideal for learning</a:t>
            </a:r>
          </a:p>
          <a:p>
            <a:pPr lvl="1"/>
            <a:r>
              <a:rPr lang="en-US" dirty="0"/>
              <a:t>Widely adopted in industry</a:t>
            </a:r>
          </a:p>
          <a:p>
            <a:pPr lvl="1"/>
            <a:endParaRPr lang="en-US" dirty="0"/>
          </a:p>
          <a:p>
            <a:r>
              <a:rPr lang="en-US" dirty="0"/>
              <a:t>RISC-V details: next class!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204A-A65E-473F-A921-9D6B46D4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BCF5A-C926-4F47-8525-27A1AF65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9705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11394</TotalTime>
  <Words>977</Words>
  <Application>Microsoft Office PowerPoint</Application>
  <PresentationFormat>On-screen Show (4:3)</PresentationFormat>
  <Paragraphs>160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Google Sans</vt:lpstr>
      <vt:lpstr>Google Sans Text</vt:lpstr>
      <vt:lpstr>Office Theme</vt:lpstr>
      <vt:lpstr>Computer Architecture</vt:lpstr>
      <vt:lpstr>Extra class 😭😭😭</vt:lpstr>
      <vt:lpstr>Designing things that compute</vt:lpstr>
      <vt:lpstr>Designing things that compute</vt:lpstr>
      <vt:lpstr>Finite State Machines can accept instructions</vt:lpstr>
      <vt:lpstr>FSMs with instructions stored in memory = programmable computer!</vt:lpstr>
      <vt:lpstr>Implementing the programmable computer </vt:lpstr>
      <vt:lpstr>What instructions to implement?</vt:lpstr>
      <vt:lpstr>The Instruction Set Architecture</vt:lpstr>
      <vt:lpstr>ISA = Hardware – Software Contract</vt:lpstr>
      <vt:lpstr>What all does an ISA specify?</vt:lpstr>
      <vt:lpstr>The Great Debate: RISC vs. CISC</vt:lpstr>
      <vt:lpstr>The RISC design philosophy</vt:lpstr>
      <vt:lpstr>Multiplying two memory locations</vt:lpstr>
      <vt:lpstr>Implications of ISA choice</vt:lpstr>
      <vt:lpstr>Why RISC-V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608</cp:revision>
  <dcterms:created xsi:type="dcterms:W3CDTF">2010-01-15T20:22:21Z</dcterms:created>
  <dcterms:modified xsi:type="dcterms:W3CDTF">2026-01-12T09:16:01Z</dcterms:modified>
</cp:coreProperties>
</file>