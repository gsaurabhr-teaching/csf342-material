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wmf" ContentType="image/x-wm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ink/ink1.xml" ContentType="application/inkml+xml"/>
  <Override PartName="/ppt/ink/ink2.xml" ContentType="application/inkml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84"/>
  </p:notesMasterIdLst>
  <p:sldIdLst>
    <p:sldId id="337" r:id="rId2"/>
    <p:sldId id="507" r:id="rId3"/>
    <p:sldId id="470" r:id="rId4"/>
    <p:sldId id="537" r:id="rId5"/>
    <p:sldId id="538" r:id="rId6"/>
    <p:sldId id="539" r:id="rId7"/>
    <p:sldId id="540" r:id="rId8"/>
    <p:sldId id="541" r:id="rId9"/>
    <p:sldId id="369" r:id="rId10"/>
    <p:sldId id="361" r:id="rId11"/>
    <p:sldId id="542" r:id="rId12"/>
    <p:sldId id="363" r:id="rId13"/>
    <p:sldId id="364" r:id="rId14"/>
    <p:sldId id="365" r:id="rId15"/>
    <p:sldId id="548" r:id="rId16"/>
    <p:sldId id="549" r:id="rId17"/>
    <p:sldId id="368" r:id="rId18"/>
    <p:sldId id="366" r:id="rId19"/>
    <p:sldId id="367" r:id="rId20"/>
    <p:sldId id="370" r:id="rId21"/>
    <p:sldId id="371" r:id="rId22"/>
    <p:sldId id="372" r:id="rId23"/>
    <p:sldId id="373" r:id="rId24"/>
    <p:sldId id="374" r:id="rId25"/>
    <p:sldId id="376" r:id="rId26"/>
    <p:sldId id="377" r:id="rId27"/>
    <p:sldId id="378" r:id="rId28"/>
    <p:sldId id="379" r:id="rId29"/>
    <p:sldId id="380" r:id="rId30"/>
    <p:sldId id="381" r:id="rId31"/>
    <p:sldId id="382" r:id="rId32"/>
    <p:sldId id="383" r:id="rId33"/>
    <p:sldId id="384" r:id="rId34"/>
    <p:sldId id="385" r:id="rId35"/>
    <p:sldId id="387" r:id="rId36"/>
    <p:sldId id="389" r:id="rId37"/>
    <p:sldId id="394" r:id="rId38"/>
    <p:sldId id="403" r:id="rId39"/>
    <p:sldId id="388" r:id="rId40"/>
    <p:sldId id="393" r:id="rId41"/>
    <p:sldId id="395" r:id="rId42"/>
    <p:sldId id="397" r:id="rId43"/>
    <p:sldId id="398" r:id="rId44"/>
    <p:sldId id="399" r:id="rId45"/>
    <p:sldId id="400" r:id="rId46"/>
    <p:sldId id="401" r:id="rId47"/>
    <p:sldId id="402" r:id="rId48"/>
    <p:sldId id="390" r:id="rId49"/>
    <p:sldId id="386" r:id="rId50"/>
    <p:sldId id="404" r:id="rId51"/>
    <p:sldId id="405" r:id="rId52"/>
    <p:sldId id="406" r:id="rId53"/>
    <p:sldId id="396" r:id="rId54"/>
    <p:sldId id="408" r:id="rId55"/>
    <p:sldId id="392" r:id="rId56"/>
    <p:sldId id="409" r:id="rId57"/>
    <p:sldId id="410" r:id="rId58"/>
    <p:sldId id="411" r:id="rId59"/>
    <p:sldId id="412" r:id="rId60"/>
    <p:sldId id="413" r:id="rId61"/>
    <p:sldId id="414" r:id="rId62"/>
    <p:sldId id="415" r:id="rId63"/>
    <p:sldId id="416" r:id="rId64"/>
    <p:sldId id="417" r:id="rId65"/>
    <p:sldId id="418" r:id="rId66"/>
    <p:sldId id="422" r:id="rId67"/>
    <p:sldId id="423" r:id="rId68"/>
    <p:sldId id="424" r:id="rId69"/>
    <p:sldId id="419" r:id="rId70"/>
    <p:sldId id="420" r:id="rId71"/>
    <p:sldId id="421" r:id="rId72"/>
    <p:sldId id="425" r:id="rId73"/>
    <p:sldId id="426" r:id="rId74"/>
    <p:sldId id="427" r:id="rId75"/>
    <p:sldId id="428" r:id="rId76"/>
    <p:sldId id="429" r:id="rId77"/>
    <p:sldId id="430" r:id="rId78"/>
    <p:sldId id="431" r:id="rId79"/>
    <p:sldId id="432" r:id="rId80"/>
    <p:sldId id="436" r:id="rId81"/>
    <p:sldId id="437" r:id="rId82"/>
    <p:sldId id="438" r:id="rId83"/>
  </p:sldIdLst>
  <p:sldSz cx="9144000" cy="6858000" type="screen4x3"/>
  <p:notesSz cx="6858000" cy="9144000"/>
  <p:defaultTextStyle>
    <a:defPPr>
      <a:defRPr lang="en-US"/>
    </a:defPPr>
    <a:lvl1pPr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1pPr>
    <a:lvl2pPr marL="4572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2pPr>
    <a:lvl3pPr marL="9144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3pPr>
    <a:lvl4pPr marL="13716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4pPr>
    <a:lvl5pPr marL="18288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72C3E8"/>
    <a:srgbClr val="00FF00"/>
    <a:srgbClr val="EA3F26"/>
    <a:srgbClr val="FCD5B5"/>
    <a:srgbClr val="8EB4E3"/>
    <a:srgbClr val="D7E4B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12C8C85-51F0-491E-9774-3900AFEF0FD7}" styleName="Light Style 2 - Accent 6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</a:tcStyle>
    </a:band1H>
    <a:band1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1V>
    <a:band2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6"/>
        </a:fillRef>
      </a:tcStyle>
    </a:firstRow>
  </a:tblStyle>
  <a:tblStyle styleId="{10A1B5D5-9B99-4C35-A422-299274C87663}" styleName="Medium Style 1 - Accent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6">
              <a:tint val="20000"/>
            </a:schemeClr>
          </a:solidFill>
        </a:fill>
      </a:tcStyle>
    </a:band1H>
    <a:band1V>
      <a:tcStyle>
        <a:tcBdr/>
        <a:fill>
          <a:solidFill>
            <a:schemeClr val="accent6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7004" autoAdjust="0"/>
    <p:restoredTop sz="88284" autoAdjust="0"/>
  </p:normalViewPr>
  <p:slideViewPr>
    <p:cSldViewPr>
      <p:cViewPr varScale="1">
        <p:scale>
          <a:sx n="91" d="100"/>
          <a:sy n="91" d="100"/>
        </p:scale>
        <p:origin x="369" y="5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00" d="100"/>
        <a:sy n="100" d="100"/>
      </p:scale>
      <p:origin x="0" y="5556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openxmlformats.org/officeDocument/2006/relationships/notesMaster" Target="notesMasters/notesMaster1.xml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5" Type="http://schemas.openxmlformats.org/officeDocument/2006/relationships/slide" Target="slides/slide4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77" Type="http://schemas.openxmlformats.org/officeDocument/2006/relationships/slide" Target="slides/slide76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80" Type="http://schemas.openxmlformats.org/officeDocument/2006/relationships/slide" Target="slides/slide79.xml"/><Relationship Id="rId85" Type="http://schemas.openxmlformats.org/officeDocument/2006/relationships/presProps" Target="presProp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83" Type="http://schemas.openxmlformats.org/officeDocument/2006/relationships/slide" Target="slides/slide82.xml"/><Relationship Id="rId88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81" Type="http://schemas.openxmlformats.org/officeDocument/2006/relationships/slide" Target="slides/slide80.xml"/><Relationship Id="rId86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theme" Target="theme/theme1.xml"/><Relationship Id="rId61" Type="http://schemas.openxmlformats.org/officeDocument/2006/relationships/slide" Target="slides/slide60.xml"/><Relationship Id="rId82" Type="http://schemas.openxmlformats.org/officeDocument/2006/relationships/slide" Target="slides/slide81.xml"/></Relationships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ax="3840" units="cm"/>
          <inkml:channel name="Y" type="integer" max="1080" units="cm"/>
          <inkml:channel name="T" type="integer" max="2.14748E9" units="dev"/>
        </inkml:traceFormat>
        <inkml:channelProperties>
          <inkml:channelProperty channel="X" name="resolution" value="130.61224" units="1/cm"/>
          <inkml:channelProperty channel="Y" name="resolution" value="65.45454" units="1/cm"/>
          <inkml:channelProperty channel="T" name="resolution" value="1" units="1/dev"/>
        </inkml:channelProperties>
      </inkml:inkSource>
      <inkml:timestamp xml:id="ts0" timeString="2023-10-31T05:15:10.465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23067 14565 0,'-13'-13'469,"0"0"-438,13-13-15,0 12-1,-14 14-15,14-13 31,0 0 1,-12 13-32,12-14 15,0 2 48,-14 12-32,14-14 0,0-12 235</inkml:trace>
  <inkml:trace contextRef="#ctx0" brushRef="#br0" timeOffset="2043.82">23240 14367 0,'12'0'140,"15"0"-124,-27 13 0,13-13-16,-13 13 15,14 14 16,-2 26 1,2-53-17,-14 26 1,13 14 15,0-27 0,-13 0-31,0 1 32,0-1-17,27 0 17,-27 13-17,0 1 16,0-14 1,0 0-1</inkml:trace>
  <inkml:trace contextRef="#ctx0" brushRef="#br0" timeOffset="4997.03">23583 14340 0,'0'14'93,"0"-1"-77,14-13-16,-14 26 16,0-12-1,12-1 16,-12 0-15,0 13 15,0-12 1,14 12-17,-14 0 16,0-12 1,0-1-17,0 0 17,0 1 30,0 12-31,13-26 1,-13 13-1</inkml:trace>
  <inkml:trace contextRef="#ctx0" brushRef="#br0" timeOffset="8266.79">23861 14367 0,'0'13'172,"0"14"-141,0-14-16,0 0 17,0 1 30,0-2-31,13-12-15,-13 14 15,0-1 16,0 14-31,14-27 15,-14 12 47,13 2-31,-13-1 47,0 0 0,0 1-32,13-14-46,-13 13-1,0 13 32,0-13-16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ax="3408" units="cm"/>
          <inkml:channel name="Y" type="integer" max="1968" units="cm"/>
          <inkml:channel name="T" type="integer" max="2.14748E9" units="dev"/>
        </inkml:traceFormat>
        <inkml:channelProperties>
          <inkml:channelProperty channel="X" name="resolution" value="115.91837" units="1/cm"/>
          <inkml:channelProperty channel="Y" name="resolution" value="118.55421" units="1/cm"/>
          <inkml:channelProperty channel="T" name="resolution" value="1" units="1/dev"/>
        </inkml:channelProperties>
      </inkml:inkSource>
      <inkml:timestamp xml:id="ts0" timeString="2023-10-31T05:28:37.858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0 17724 0,'0'0'0,"0"152"0,0-152 0,0 0 0,0 95 0,0-95 0,8 51 0,-8 115 0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130" name="Rectangle 2">
            <a:extLst>
              <a:ext uri="{FF2B5EF4-FFF2-40B4-BE49-F238E27FC236}">
                <a16:creationId xmlns:a16="http://schemas.microsoft.com/office/drawing/2014/main" id="{9BA1A87E-813F-AF0F-041D-CE232B7A18C3}"/>
              </a:ext>
            </a:extLst>
          </p:cNvPr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eaLnBrk="1" hangingPunct="1">
              <a:defRPr sz="1200">
                <a:latin typeface="Calibri" pitchFamily="34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48131" name="Rectangle 3">
            <a:extLst>
              <a:ext uri="{FF2B5EF4-FFF2-40B4-BE49-F238E27FC236}">
                <a16:creationId xmlns:a16="http://schemas.microsoft.com/office/drawing/2014/main" id="{90A33BCA-FF2B-904A-6ACB-421B4697E719}"/>
              </a:ext>
            </a:extLst>
          </p:cNvPr>
          <p:cNvSpPr>
            <a:spLocks noGrp="1" noChangeArrowheads="1"/>
          </p:cNvSpPr>
          <p:nvPr>
            <p:ph type="dt" idx="1"/>
          </p:nvPr>
        </p:nvSpPr>
        <p:spPr bwMode="auto">
          <a:xfrm>
            <a:off x="3884613" y="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 eaLnBrk="1" hangingPunct="1">
              <a:defRPr sz="1200">
                <a:latin typeface="Calibri" pitchFamily="34" charset="0"/>
              </a:defRPr>
            </a:lvl1pPr>
          </a:lstStyle>
          <a:p>
            <a:pPr>
              <a:defRPr/>
            </a:pPr>
            <a:fld id="{864C4CF4-219F-4C78-A5BA-B2F154A2CDD2}" type="datetimeFigureOut">
              <a:rPr lang="en-US"/>
              <a:pPr>
                <a:defRPr/>
              </a:pPr>
              <a:t>3/25/2026</a:t>
            </a:fld>
            <a:endParaRPr lang="en-US"/>
          </a:p>
        </p:txBody>
      </p:sp>
      <p:sp>
        <p:nvSpPr>
          <p:cNvPr id="19460" name="Rectangle 4">
            <a:extLst>
              <a:ext uri="{FF2B5EF4-FFF2-40B4-BE49-F238E27FC236}">
                <a16:creationId xmlns:a16="http://schemas.microsoft.com/office/drawing/2014/main" id="{E6881BB2-A257-BEB2-B237-5C60E2FE8C72}"/>
              </a:ext>
            </a:extLst>
          </p:cNvPr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1143000" y="685800"/>
            <a:ext cx="4572000" cy="3429000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48133" name="Rectangle 5">
            <a:extLst>
              <a:ext uri="{FF2B5EF4-FFF2-40B4-BE49-F238E27FC236}">
                <a16:creationId xmlns:a16="http://schemas.microsoft.com/office/drawing/2014/main" id="{84E1F9B0-0E05-EEE3-8B09-3292F5E58FDD}"/>
              </a:ext>
            </a:extLst>
          </p:cNvPr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48134" name="Rectangle 6">
            <a:extLst>
              <a:ext uri="{FF2B5EF4-FFF2-40B4-BE49-F238E27FC236}">
                <a16:creationId xmlns:a16="http://schemas.microsoft.com/office/drawing/2014/main" id="{FD94DB07-1FBF-48D8-BE9B-EAD1CA856026}"/>
              </a:ext>
            </a:extLst>
          </p:cNvPr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8685213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eaLnBrk="1" hangingPunct="1">
              <a:defRPr sz="1200">
                <a:latin typeface="Calibri" pitchFamily="34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48135" name="Rectangle 7">
            <a:extLst>
              <a:ext uri="{FF2B5EF4-FFF2-40B4-BE49-F238E27FC236}">
                <a16:creationId xmlns:a16="http://schemas.microsoft.com/office/drawing/2014/main" id="{B2D67A9F-79F1-685B-B7CE-85E68E027A3D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884613" y="8685213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 eaLnBrk="1" hangingPunct="1">
              <a:defRPr sz="1200">
                <a:latin typeface="Calibri" panose="020F0502020204030204" pitchFamily="34" charset="0"/>
              </a:defRPr>
            </a:lvl1pPr>
          </a:lstStyle>
          <a:p>
            <a:pPr>
              <a:defRPr/>
            </a:pPr>
            <a:fld id="{082BB320-F13B-41AF-BB84-306DCE92248C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 pitchFamily="34" charset="0"/>
        <a:ea typeface="+mn-ea"/>
        <a:cs typeface="+mn-cs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 pitchFamily="34" charset="0"/>
        <a:ea typeface="+mn-ea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 pitchFamily="34" charset="0"/>
        <a:ea typeface="+mn-ea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 pitchFamily="34" charset="0"/>
        <a:ea typeface="+mn-ea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 pitchFamily="34" charset="0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06" name="Slide Image Placeholder 1">
            <a:extLst>
              <a:ext uri="{FF2B5EF4-FFF2-40B4-BE49-F238E27FC236}">
                <a16:creationId xmlns:a16="http://schemas.microsoft.com/office/drawing/2014/main" id="{44FFA8F6-8FBE-2312-B2D6-012FDBF058E2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1507" name="Notes Placeholder 2">
            <a:extLst>
              <a:ext uri="{FF2B5EF4-FFF2-40B4-BE49-F238E27FC236}">
                <a16:creationId xmlns:a16="http://schemas.microsoft.com/office/drawing/2014/main" id="{60994F52-302D-250C-116C-52081CB94A4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 altLang="en-US"/>
          </a:p>
        </p:txBody>
      </p:sp>
      <p:sp>
        <p:nvSpPr>
          <p:cNvPr id="21508" name="Slide Number Placeholder 3">
            <a:extLst>
              <a:ext uri="{FF2B5EF4-FFF2-40B4-BE49-F238E27FC236}">
                <a16:creationId xmlns:a16="http://schemas.microsoft.com/office/drawing/2014/main" id="{B92E2681-B4AB-B23F-9CED-5892333F865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fld id="{89A8604D-9FA4-4914-BD57-93266632D9AF}" type="slidenum">
              <a:rPr lang="en-US" altLang="en-US" smtClean="0">
                <a:latin typeface="Calibri" panose="020F0502020204030204" pitchFamily="34" charset="0"/>
              </a:rPr>
              <a:pPr/>
              <a:t>1</a:t>
            </a:fld>
            <a:endParaRPr lang="en-US" altLang="en-US">
              <a:latin typeface="Calibri" panose="020F0502020204030204" pitchFamily="34" charset="0"/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514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3038786" cy="465341"/>
          </a:xfrm>
          <a:noFill/>
          <a:ln>
            <a:miter lim="800000"/>
            <a:headEnd/>
            <a:tailEnd/>
          </a:ln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r>
              <a:rPr lang="en-US" dirty="0"/>
              <a:t>CS2100 Computer </a:t>
            </a:r>
            <a:r>
              <a:rPr lang="en-US" dirty="0" err="1"/>
              <a:t>Organisation</a:t>
            </a:r>
            <a:endParaRPr lang="en-US" dirty="0"/>
          </a:p>
        </p:txBody>
      </p:sp>
      <p:sp>
        <p:nvSpPr>
          <p:cNvPr id="64515" name="Rectangle 2"/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xfrm>
            <a:off x="1182688" y="696913"/>
            <a:ext cx="4648200" cy="348615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64516" name="Rectangle 3"/>
          <p:cNvSpPr>
            <a:spLocks noGrp="1" noChangeArrowheads="1"/>
          </p:cNvSpPr>
          <p:nvPr>
            <p:ph type="body" idx="1"/>
          </p:nvPr>
        </p:nvSpPr>
        <p:spPr>
          <a:ln w="9525"/>
        </p:spPr>
        <p:txBody>
          <a:bodyPr/>
          <a:lstStyle/>
          <a:p>
            <a:pPr eaLnBrk="1" hangingPunct="1">
              <a:defRPr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1789784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514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3038786" cy="465341"/>
          </a:xfrm>
          <a:noFill/>
          <a:ln>
            <a:miter lim="800000"/>
            <a:headEnd/>
            <a:tailEnd/>
          </a:ln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r>
              <a:rPr lang="en-US" dirty="0"/>
              <a:t>CS2100 Computer </a:t>
            </a:r>
            <a:r>
              <a:rPr lang="en-US" dirty="0" err="1"/>
              <a:t>Organisation</a:t>
            </a:r>
            <a:endParaRPr lang="en-US" dirty="0"/>
          </a:p>
        </p:txBody>
      </p:sp>
      <p:sp>
        <p:nvSpPr>
          <p:cNvPr id="64515" name="Rectangle 2"/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xfrm>
            <a:off x="1182688" y="696913"/>
            <a:ext cx="4648200" cy="348615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64516" name="Rectangle 3"/>
          <p:cNvSpPr>
            <a:spLocks noGrp="1" noChangeArrowheads="1"/>
          </p:cNvSpPr>
          <p:nvPr>
            <p:ph type="body" idx="1"/>
          </p:nvPr>
        </p:nvSpPr>
        <p:spPr>
          <a:ln w="9525"/>
        </p:spPr>
        <p:txBody>
          <a:bodyPr/>
          <a:lstStyle/>
          <a:p>
            <a:pPr eaLnBrk="1" hangingPunct="1">
              <a:defRPr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9702510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514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3038786" cy="465341"/>
          </a:xfrm>
          <a:noFill/>
          <a:ln>
            <a:miter lim="800000"/>
            <a:headEnd/>
            <a:tailEnd/>
          </a:ln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r>
              <a:rPr lang="en-US" dirty="0"/>
              <a:t>CS2100 Computer </a:t>
            </a:r>
            <a:r>
              <a:rPr lang="en-US" dirty="0" err="1"/>
              <a:t>Organisation</a:t>
            </a:r>
            <a:endParaRPr lang="en-US" dirty="0"/>
          </a:p>
        </p:txBody>
      </p:sp>
      <p:sp>
        <p:nvSpPr>
          <p:cNvPr id="64515" name="Rectangle 2"/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xfrm>
            <a:off x="1182688" y="696913"/>
            <a:ext cx="4648200" cy="348615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64516" name="Rectangle 3"/>
          <p:cNvSpPr>
            <a:spLocks noGrp="1" noChangeArrowheads="1"/>
          </p:cNvSpPr>
          <p:nvPr>
            <p:ph type="body" idx="1"/>
          </p:nvPr>
        </p:nvSpPr>
        <p:spPr>
          <a:ln w="9525"/>
        </p:spPr>
        <p:txBody>
          <a:bodyPr/>
          <a:lstStyle/>
          <a:p>
            <a:pPr eaLnBrk="1" hangingPunct="1">
              <a:defRPr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6364638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514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3038786" cy="465341"/>
          </a:xfrm>
          <a:noFill/>
          <a:ln>
            <a:miter lim="800000"/>
            <a:headEnd/>
            <a:tailEnd/>
          </a:ln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r>
              <a:rPr lang="en-US" dirty="0"/>
              <a:t>CS2100 Computer </a:t>
            </a:r>
            <a:r>
              <a:rPr lang="en-US" dirty="0" err="1"/>
              <a:t>Organisation</a:t>
            </a:r>
            <a:endParaRPr lang="en-US" dirty="0"/>
          </a:p>
        </p:txBody>
      </p:sp>
      <p:sp>
        <p:nvSpPr>
          <p:cNvPr id="64515" name="Rectangle 2"/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xfrm>
            <a:off x="1182688" y="696913"/>
            <a:ext cx="4648200" cy="348615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64516" name="Rectangle 3"/>
          <p:cNvSpPr>
            <a:spLocks noGrp="1" noChangeArrowheads="1"/>
          </p:cNvSpPr>
          <p:nvPr>
            <p:ph type="body" idx="1"/>
          </p:nvPr>
        </p:nvSpPr>
        <p:spPr>
          <a:ln w="9525"/>
        </p:spPr>
        <p:txBody>
          <a:bodyPr/>
          <a:lstStyle/>
          <a:p>
            <a:pPr eaLnBrk="1" hangingPunct="1">
              <a:defRPr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4116897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514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3038786" cy="465341"/>
          </a:xfrm>
          <a:noFill/>
          <a:ln>
            <a:miter lim="800000"/>
            <a:headEnd/>
            <a:tailEnd/>
          </a:ln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r>
              <a:rPr lang="en-US" dirty="0"/>
              <a:t>CS2100 Computer </a:t>
            </a:r>
            <a:r>
              <a:rPr lang="en-US" dirty="0" err="1"/>
              <a:t>Organisation</a:t>
            </a:r>
            <a:endParaRPr lang="en-US" dirty="0"/>
          </a:p>
        </p:txBody>
      </p:sp>
      <p:sp>
        <p:nvSpPr>
          <p:cNvPr id="64515" name="Rectangle 2"/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xfrm>
            <a:off x="1182688" y="696913"/>
            <a:ext cx="4648200" cy="348615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64516" name="Rectangle 3"/>
          <p:cNvSpPr>
            <a:spLocks noGrp="1" noChangeArrowheads="1"/>
          </p:cNvSpPr>
          <p:nvPr>
            <p:ph type="body" idx="1"/>
          </p:nvPr>
        </p:nvSpPr>
        <p:spPr>
          <a:ln w="9525"/>
        </p:spPr>
        <p:txBody>
          <a:bodyPr/>
          <a:lstStyle/>
          <a:p>
            <a:pPr eaLnBrk="1" hangingPunct="1">
              <a:defRPr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241915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514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3038786" cy="465341"/>
          </a:xfrm>
          <a:noFill/>
          <a:ln>
            <a:miter lim="800000"/>
            <a:headEnd/>
            <a:tailEnd/>
          </a:ln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r>
              <a:rPr lang="en-US" dirty="0"/>
              <a:t>CS2100 Computer </a:t>
            </a:r>
            <a:r>
              <a:rPr lang="en-US" dirty="0" err="1"/>
              <a:t>Organisation</a:t>
            </a:r>
            <a:endParaRPr lang="en-US" dirty="0"/>
          </a:p>
        </p:txBody>
      </p:sp>
      <p:sp>
        <p:nvSpPr>
          <p:cNvPr id="64515" name="Rectangle 2"/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xfrm>
            <a:off x="1182688" y="696913"/>
            <a:ext cx="4648200" cy="348615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64516" name="Rectangle 3"/>
          <p:cNvSpPr>
            <a:spLocks noGrp="1" noChangeArrowheads="1"/>
          </p:cNvSpPr>
          <p:nvPr>
            <p:ph type="body" idx="1"/>
          </p:nvPr>
        </p:nvSpPr>
        <p:spPr>
          <a:ln w="9525"/>
        </p:spPr>
        <p:txBody>
          <a:bodyPr/>
          <a:lstStyle/>
          <a:p>
            <a:pPr eaLnBrk="1" hangingPunct="1">
              <a:defRPr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7480115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514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3038786" cy="465341"/>
          </a:xfrm>
          <a:noFill/>
          <a:ln>
            <a:miter lim="800000"/>
            <a:headEnd/>
            <a:tailEnd/>
          </a:ln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r>
              <a:rPr lang="en-US" dirty="0"/>
              <a:t>CS2100 Computer </a:t>
            </a:r>
            <a:r>
              <a:rPr lang="en-US" dirty="0" err="1"/>
              <a:t>Organisation</a:t>
            </a:r>
            <a:endParaRPr lang="en-US" dirty="0"/>
          </a:p>
        </p:txBody>
      </p:sp>
      <p:sp>
        <p:nvSpPr>
          <p:cNvPr id="64515" name="Rectangle 2"/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xfrm>
            <a:off x="1182688" y="696913"/>
            <a:ext cx="4648200" cy="348615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64516" name="Rectangle 3"/>
          <p:cNvSpPr>
            <a:spLocks noGrp="1" noChangeArrowheads="1"/>
          </p:cNvSpPr>
          <p:nvPr>
            <p:ph type="body" idx="1"/>
          </p:nvPr>
        </p:nvSpPr>
        <p:spPr>
          <a:ln w="9525"/>
        </p:spPr>
        <p:txBody>
          <a:bodyPr/>
          <a:lstStyle/>
          <a:p>
            <a:pPr eaLnBrk="1" hangingPunct="1">
              <a:defRPr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7382823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514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3038786" cy="465341"/>
          </a:xfrm>
          <a:noFill/>
          <a:ln>
            <a:miter lim="800000"/>
            <a:headEnd/>
            <a:tailEnd/>
          </a:ln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r>
              <a:rPr lang="en-US" dirty="0"/>
              <a:t>CS2100 Computer </a:t>
            </a:r>
            <a:r>
              <a:rPr lang="en-US" dirty="0" err="1"/>
              <a:t>Organisation</a:t>
            </a:r>
            <a:endParaRPr lang="en-US" dirty="0"/>
          </a:p>
        </p:txBody>
      </p:sp>
      <p:sp>
        <p:nvSpPr>
          <p:cNvPr id="64515" name="Rectangle 2"/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xfrm>
            <a:off x="1182688" y="696913"/>
            <a:ext cx="4648200" cy="348615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64516" name="Rectangle 3"/>
          <p:cNvSpPr>
            <a:spLocks noGrp="1" noChangeArrowheads="1"/>
          </p:cNvSpPr>
          <p:nvPr>
            <p:ph type="body" idx="1"/>
          </p:nvPr>
        </p:nvSpPr>
        <p:spPr>
          <a:ln w="9525"/>
        </p:spPr>
        <p:txBody>
          <a:bodyPr/>
          <a:lstStyle/>
          <a:p>
            <a:pPr eaLnBrk="1" hangingPunct="1">
              <a:defRPr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82868972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514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3038786" cy="465341"/>
          </a:xfrm>
          <a:noFill/>
          <a:ln>
            <a:miter lim="800000"/>
            <a:headEnd/>
            <a:tailEnd/>
          </a:ln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r>
              <a:rPr lang="en-US" dirty="0"/>
              <a:t>CS2100 Computer </a:t>
            </a:r>
            <a:r>
              <a:rPr lang="en-US" dirty="0" err="1"/>
              <a:t>Organisation</a:t>
            </a:r>
            <a:endParaRPr lang="en-US" dirty="0"/>
          </a:p>
        </p:txBody>
      </p:sp>
      <p:sp>
        <p:nvSpPr>
          <p:cNvPr id="64515" name="Rectangle 2"/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xfrm>
            <a:off x="1182688" y="696913"/>
            <a:ext cx="4648200" cy="348615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64516" name="Rectangle 3"/>
          <p:cNvSpPr>
            <a:spLocks noGrp="1" noChangeArrowheads="1"/>
          </p:cNvSpPr>
          <p:nvPr>
            <p:ph type="body" idx="1"/>
          </p:nvPr>
        </p:nvSpPr>
        <p:spPr>
          <a:ln w="9525"/>
        </p:spPr>
        <p:txBody>
          <a:bodyPr/>
          <a:lstStyle/>
          <a:p>
            <a:pPr eaLnBrk="1" hangingPunct="1">
              <a:defRPr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40847209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514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3038786" cy="465341"/>
          </a:xfrm>
          <a:noFill/>
          <a:ln>
            <a:miter lim="800000"/>
            <a:headEnd/>
            <a:tailEnd/>
          </a:ln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r>
              <a:rPr lang="en-US" dirty="0"/>
              <a:t>CS2100 Computer </a:t>
            </a:r>
            <a:r>
              <a:rPr lang="en-US" dirty="0" err="1"/>
              <a:t>Organisation</a:t>
            </a:r>
            <a:endParaRPr lang="en-US" dirty="0"/>
          </a:p>
        </p:txBody>
      </p:sp>
      <p:sp>
        <p:nvSpPr>
          <p:cNvPr id="64515" name="Rectangle 2"/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xfrm>
            <a:off x="1182688" y="696913"/>
            <a:ext cx="4648200" cy="348615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64516" name="Rectangle 3"/>
          <p:cNvSpPr>
            <a:spLocks noGrp="1" noChangeArrowheads="1"/>
          </p:cNvSpPr>
          <p:nvPr>
            <p:ph type="body" idx="1"/>
          </p:nvPr>
        </p:nvSpPr>
        <p:spPr>
          <a:ln w="9525"/>
        </p:spPr>
        <p:txBody>
          <a:bodyPr/>
          <a:lstStyle/>
          <a:p>
            <a:pPr eaLnBrk="1" hangingPunct="1">
              <a:defRPr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8627266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1.png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90210E9-01D5-7472-677A-3B0AA2AD0F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CCD2DDE-7A51-A1A8-5C34-99C6FAA2B3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0FD8106-2EFE-B03C-0DCC-E1803F83D0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67F5451D-6138-4BA6-B687-6C9F908488A2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60183270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Custom Layout">
    <p:bg>
      <p:bgPr>
        <a:blipFill dpi="0" rotWithShape="0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AFFBFFBE-14B2-F0AF-F4AC-4976B5EA7B3E}"/>
              </a:ext>
            </a:extLst>
          </p:cNvPr>
          <p:cNvSpPr/>
          <p:nvPr userDrawn="1"/>
        </p:nvSpPr>
        <p:spPr>
          <a:xfrm>
            <a:off x="0" y="3352800"/>
            <a:ext cx="8686800" cy="2743200"/>
          </a:xfrm>
          <a:prstGeom prst="rect">
            <a:avLst/>
          </a:prstGeom>
          <a:solidFill>
            <a:srgbClr val="1011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hangingPunct="1">
              <a:defRPr/>
            </a:pPr>
            <a:endParaRPr lang="en-US" dirty="0">
              <a:latin typeface="Arial" pitchFamily="34" charset="0"/>
              <a:cs typeface="Arial" pitchFamily="34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FA176F73-2534-EA66-9BA3-389159441E1E}"/>
              </a:ext>
            </a:extLst>
          </p:cNvPr>
          <p:cNvSpPr/>
          <p:nvPr userDrawn="1"/>
        </p:nvSpPr>
        <p:spPr>
          <a:xfrm>
            <a:off x="2895600" y="6096000"/>
            <a:ext cx="2895600" cy="76200"/>
          </a:xfrm>
          <a:prstGeom prst="rect">
            <a:avLst/>
          </a:prstGeom>
          <a:solidFill>
            <a:srgbClr val="76C2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hangingPunct="1">
              <a:defRPr/>
            </a:pPr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1143B4A-14C2-1094-BE58-15BD80B6D446}"/>
              </a:ext>
            </a:extLst>
          </p:cNvPr>
          <p:cNvSpPr/>
          <p:nvPr userDrawn="1"/>
        </p:nvSpPr>
        <p:spPr>
          <a:xfrm>
            <a:off x="0" y="6096000"/>
            <a:ext cx="2895600" cy="76200"/>
          </a:xfrm>
          <a:prstGeom prst="rect">
            <a:avLst/>
          </a:prstGeom>
          <a:solidFill>
            <a:srgbClr val="FCB0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hangingPunct="1">
              <a:defRPr/>
            </a:pPr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A2D759AA-21D7-ABA4-D5D7-76848EAA814B}"/>
              </a:ext>
            </a:extLst>
          </p:cNvPr>
          <p:cNvSpPr/>
          <p:nvPr userDrawn="1"/>
        </p:nvSpPr>
        <p:spPr>
          <a:xfrm>
            <a:off x="5791200" y="6096000"/>
            <a:ext cx="2895600" cy="76200"/>
          </a:xfrm>
          <a:prstGeom prst="rect">
            <a:avLst/>
          </a:prstGeom>
          <a:solidFill>
            <a:srgbClr val="FF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hangingPunct="1">
              <a:defRPr/>
            </a:pPr>
            <a:endParaRPr lang="en-US"/>
          </a:p>
        </p:txBody>
      </p:sp>
      <p:pic>
        <p:nvPicPr>
          <p:cNvPr id="8" name="Picture 10" descr="BITS_university_logo_whitevert.png">
            <a:extLst>
              <a:ext uri="{FF2B5EF4-FFF2-40B4-BE49-F238E27FC236}">
                <a16:creationId xmlns:a16="http://schemas.microsoft.com/office/drawing/2014/main" id="{4AC502B5-9275-C45A-F485-E98B733254DA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" b="28592"/>
          <a:stretch>
            <a:fillRect/>
          </a:stretch>
        </p:blipFill>
        <p:spPr bwMode="auto">
          <a:xfrm>
            <a:off x="76200" y="3352800"/>
            <a:ext cx="2057400" cy="19796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68A90F2E-DD9A-35C4-D90C-49EB0FD21D5D}"/>
              </a:ext>
            </a:extLst>
          </p:cNvPr>
          <p:cNvSpPr txBox="1"/>
          <p:nvPr userDrawn="1"/>
        </p:nvSpPr>
        <p:spPr>
          <a:xfrm>
            <a:off x="-76200" y="5257800"/>
            <a:ext cx="2209800" cy="554038"/>
          </a:xfrm>
          <a:prstGeom prst="rect">
            <a:avLst/>
          </a:prstGeom>
          <a:noFill/>
        </p:spPr>
        <p:txBody>
          <a:bodyPr>
            <a:spAutoFit/>
          </a:bodyPr>
          <a:lstStyle/>
          <a:p>
            <a:pPr algn="ctr" eaLnBrk="1" hangingPunct="1">
              <a:defRPr/>
            </a:pPr>
            <a:r>
              <a:rPr lang="en-US" sz="2900" b="1" spc="-150" dirty="0">
                <a:solidFill>
                  <a:schemeClr val="bg1"/>
                </a:solidFill>
                <a:latin typeface="Arial"/>
                <a:cs typeface="Arial"/>
              </a:rPr>
              <a:t>BITS</a:t>
            </a:r>
            <a:r>
              <a:rPr lang="en-US" sz="2900" spc="-150" dirty="0">
                <a:solidFill>
                  <a:schemeClr val="bg1"/>
                </a:solidFill>
                <a:latin typeface="Arial"/>
                <a:cs typeface="Arial"/>
              </a:rPr>
              <a:t> Pilani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E235B97-BCD1-B200-8B0C-6E7F31A5DD6E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152400" y="5667375"/>
            <a:ext cx="1905000" cy="276225"/>
          </a:xfrm>
          <a:prstGeom prst="rect">
            <a:avLst/>
          </a:prstGeom>
          <a:noFill/>
          <a:ln>
            <a:noFill/>
          </a:ln>
        </p:spPr>
        <p:txBody>
          <a:bodyPr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defRPr/>
            </a:pPr>
            <a:r>
              <a:rPr lang="en-US" sz="1200">
                <a:solidFill>
                  <a:srgbClr val="FFFFFF"/>
                </a:solidFill>
                <a:cs typeface="Arial" charset="0"/>
              </a:rPr>
              <a:t>Pilani Campus</a:t>
            </a:r>
          </a:p>
        </p:txBody>
      </p:sp>
      <p:sp>
        <p:nvSpPr>
          <p:cNvPr id="7" name="Content Placeholder 6"/>
          <p:cNvSpPr>
            <a:spLocks noGrp="1"/>
          </p:cNvSpPr>
          <p:nvPr>
            <p:ph sz="quarter" idx="13"/>
          </p:nvPr>
        </p:nvSpPr>
        <p:spPr>
          <a:xfrm>
            <a:off x="2514600" y="5410200"/>
            <a:ext cx="6019800" cy="533400"/>
          </a:xfrm>
        </p:spPr>
        <p:txBody>
          <a:bodyPr anchor="b">
            <a:noAutofit/>
          </a:bodyPr>
          <a:lstStyle>
            <a:lvl1pPr marL="0" indent="0" algn="r">
              <a:lnSpc>
                <a:spcPts val="1800"/>
              </a:lnSpc>
              <a:spcBef>
                <a:spcPts val="0"/>
              </a:spcBef>
              <a:buNone/>
              <a:defRPr sz="1800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14600" y="3810000"/>
            <a:ext cx="6019800" cy="1524000"/>
          </a:xfrm>
        </p:spPr>
        <p:txBody>
          <a:bodyPr>
            <a:noAutofit/>
          </a:bodyPr>
          <a:lstStyle>
            <a:lvl1pPr algn="l">
              <a:lnSpc>
                <a:spcPts val="4000"/>
              </a:lnSpc>
              <a:defRPr sz="4400" baseline="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11" name="Picture 11" descr="Picture 7.png">
            <a:extLst>
              <a:ext uri="{FF2B5EF4-FFF2-40B4-BE49-F238E27FC236}">
                <a16:creationId xmlns:a16="http://schemas.microsoft.com/office/drawing/2014/main" id="{69F4A35B-A00F-8EED-48E9-204F14156994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923" b="5336"/>
          <a:stretch>
            <a:fillRect/>
          </a:stretch>
        </p:blipFill>
        <p:spPr bwMode="auto">
          <a:xfrm>
            <a:off x="6629400" y="0"/>
            <a:ext cx="2193925" cy="6921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62737192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rgbClr val="72C3E8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2pPr>
            <a:lvl3pPr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3pPr>
            <a:lvl4pPr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4pPr>
            <a:lvl5pPr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23E8660-BD03-9DBA-9F27-92B953591E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B170716-1DFD-E96E-77AC-224DB37BB5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F0094D3-6482-D516-F215-AAD295B6F9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CA887A73-1AE0-46F8-856A-18EA1CF30A1B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75623073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1544638"/>
            <a:ext cx="7772400" cy="1362075"/>
          </a:xfrm>
        </p:spPr>
        <p:txBody>
          <a:bodyPr anchor="t"/>
          <a:lstStyle>
            <a:lvl1pPr algn="l">
              <a:defRPr sz="4000" b="1" cap="all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9DE40EF-D719-C1DF-C21A-2CF2ACF954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0154D67-7283-208E-229E-EF4878C71D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87FBDCE-B7CC-6ED6-F37D-087059BBCD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E79D9D01-1391-45E0-A9C5-C04635A43651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DEFD4032-0DCD-4B56-8C1A-A046DCFB4D2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85800" y="3048000"/>
            <a:ext cx="7772400" cy="3124200"/>
          </a:xfrm>
        </p:spPr>
        <p:txBody>
          <a:bodyPr/>
          <a:lstStyle>
            <a:lvl1pPr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2pPr>
            <a:lvl3pPr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3pPr>
            <a:lvl4pPr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4pPr>
            <a:lvl5pPr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93880321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3">
            <a:extLst>
              <a:ext uri="{FF2B5EF4-FFF2-40B4-BE49-F238E27FC236}">
                <a16:creationId xmlns:a16="http://schemas.microsoft.com/office/drawing/2014/main" id="{8A1B8B84-BA43-81F2-03D3-23F157EDDE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9C23C139-D613-6FE7-8352-A2E3C1C6D2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D763CA6A-FAB2-9598-5FD6-5C5FFE4CC8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84877344-E1C7-49F4-9630-5A0F623202D9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72023579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3">
            <a:extLst>
              <a:ext uri="{FF2B5EF4-FFF2-40B4-BE49-F238E27FC236}">
                <a16:creationId xmlns:a16="http://schemas.microsoft.com/office/drawing/2014/main" id="{AC99FE01-5AE9-7CCB-1DBD-1304A57ADB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3A2B8239-FCBD-23CF-FA37-CDC50DB052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7E3DACE7-853A-4CB8-B825-278E151B17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9ED20D7B-F2AF-465A-8627-050A33B6A2E6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89979719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3">
            <a:extLst>
              <a:ext uri="{FF2B5EF4-FFF2-40B4-BE49-F238E27FC236}">
                <a16:creationId xmlns:a16="http://schemas.microsoft.com/office/drawing/2014/main" id="{70E68BBE-9DA8-9C9C-D822-7FC9D3829C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3BD6A7CF-E35D-4F42-293C-8BAB3F1350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5D87C34F-2852-49F1-C32D-490DE97430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3FB3AC73-65EA-4970-A755-094E5C634C8C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59938790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3">
            <a:extLst>
              <a:ext uri="{FF2B5EF4-FFF2-40B4-BE49-F238E27FC236}">
                <a16:creationId xmlns:a16="http://schemas.microsoft.com/office/drawing/2014/main" id="{D25E5740-931D-F5B1-D23F-DCBD0C38C02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F48D1279-085F-FADC-9335-EE951FC2FE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2FCD80BA-8A05-EF30-056C-D3B895E354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605AE7E5-2F0D-40CB-89DC-60190FE7F765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12596058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>
            <a:extLst>
              <a:ext uri="{FF2B5EF4-FFF2-40B4-BE49-F238E27FC236}">
                <a16:creationId xmlns:a16="http://schemas.microsoft.com/office/drawing/2014/main" id="{B0265D46-A9C7-CD06-5134-985F832761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C8A55F7D-AFEF-402F-45C6-533ED83EFE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FF7864CC-5912-595A-947D-86ED4368FB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48715581-CD01-4CEC-BC8F-7353CE826851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82044642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>
            <a:extLst>
              <a:ext uri="{FF2B5EF4-FFF2-40B4-BE49-F238E27FC236}">
                <a16:creationId xmlns:a16="http://schemas.microsoft.com/office/drawing/2014/main" id="{AE467ABF-5DBD-0F44-6269-D1296B6693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31729259-95EB-ABB4-8CC1-6AAA526DCD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762D7086-DF65-36F8-E6B6-082068B3EE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FB2052F0-E69A-488D-AA78-DE7ABB9591C3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226502669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049C7B9-97C1-73C5-069B-8304F71A59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D44205D-B0EA-B535-1BCB-C052B27F31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38810C2-A27B-66A7-0574-10C225192F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1F29212A-F0D7-4AFF-A386-0ACFB0AAC5E4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79841231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599E6BE-7F7F-94ED-1232-D89436CBCA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B9733A2-CB01-A6CE-B5D3-DB2ECAFBBC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5721FBA-0C17-A4B8-E194-E3AAE05723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FED9BE82-4715-4ACA-919F-DBB11A70F4E4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955708143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82C9B9BC-953C-D5FF-84B2-8746933A017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4575" y="814121"/>
            <a:ext cx="4393976" cy="5473392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DAFCF747-434E-9F6C-30A6-9CFB599919F8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4673151" y="781998"/>
            <a:ext cx="4393976" cy="5473392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7BC8947D-B27D-863E-0CE6-7D2DCA690C3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4575" y="6420597"/>
            <a:ext cx="2057400" cy="365125"/>
          </a:xfrm>
        </p:spPr>
        <p:txBody>
          <a:bodyPr/>
          <a:lstStyle/>
          <a:p>
            <a:fld id="{07E0464C-7207-4298-A27C-0CEAF85D3DD1}" type="datetime3">
              <a:rPr lang="en-US" smtClean="0"/>
              <a:t>25 March 2026</a:t>
            </a:fld>
            <a:endParaRPr lang="en-US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88284EFB-2AB5-88D2-5273-CFE54A241B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028950" y="6420597"/>
            <a:ext cx="3086100" cy="365125"/>
          </a:xfrm>
        </p:spPr>
        <p:txBody>
          <a:bodyPr/>
          <a:lstStyle/>
          <a:p>
            <a:r>
              <a:rPr lang="en-US"/>
              <a:t>ELL305: Computer Architecture</a:t>
            </a:r>
            <a:endParaRPr lang="en-US" dirty="0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6A081971-637C-596A-30C6-0FCC711F78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992025" y="6420597"/>
            <a:ext cx="2057400" cy="365125"/>
          </a:xfrm>
        </p:spPr>
        <p:txBody>
          <a:bodyPr/>
          <a:lstStyle/>
          <a:p>
            <a:fld id="{98AC3541-01C1-4CA5-B68F-FEE868C7D1AF}" type="slidenum">
              <a:rPr lang="en-US" smtClean="0"/>
              <a:t>‹#›</a:t>
            </a:fld>
            <a:endParaRPr lang="en-US"/>
          </a:p>
        </p:txBody>
      </p:sp>
      <p:sp>
        <p:nvSpPr>
          <p:cNvPr id="14" name="Title 1">
            <a:extLst>
              <a:ext uri="{FF2B5EF4-FFF2-40B4-BE49-F238E27FC236}">
                <a16:creationId xmlns:a16="http://schemas.microsoft.com/office/drawing/2014/main" id="{6D75F4B2-8EEA-F0D1-8F92-07F8868D82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4576" y="136526"/>
            <a:ext cx="8972550" cy="544512"/>
          </a:xfrm>
        </p:spPr>
        <p:txBody>
          <a:bodyPr>
            <a:normAutofit/>
          </a:bodyPr>
          <a:lstStyle>
            <a:lvl1pPr>
              <a:defRPr sz="2400">
                <a:solidFill>
                  <a:srgbClr val="FFC000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2432355915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82C9B9BC-953C-D5FF-84B2-8746933A017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4575" y="814121"/>
            <a:ext cx="4393976" cy="5473392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DAFCF747-434E-9F6C-30A6-9CFB599919F8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4673151" y="781998"/>
            <a:ext cx="4393976" cy="5473392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7BC8947D-B27D-863E-0CE6-7D2DCA690C3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4575" y="6420597"/>
            <a:ext cx="2057400" cy="365125"/>
          </a:xfrm>
        </p:spPr>
        <p:txBody>
          <a:bodyPr/>
          <a:lstStyle/>
          <a:p>
            <a:fld id="{07E0464C-7207-4298-A27C-0CEAF85D3DD1}" type="datetime3">
              <a:rPr lang="en-US" smtClean="0"/>
              <a:t>25 March 2026</a:t>
            </a:fld>
            <a:endParaRPr lang="en-US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88284EFB-2AB5-88D2-5273-CFE54A241B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028950" y="6420597"/>
            <a:ext cx="3086100" cy="365125"/>
          </a:xfrm>
        </p:spPr>
        <p:txBody>
          <a:bodyPr/>
          <a:lstStyle/>
          <a:p>
            <a:r>
              <a:rPr lang="en-US"/>
              <a:t>ELL305: Computer Architecture</a:t>
            </a:r>
            <a:endParaRPr lang="en-US" dirty="0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6A081971-637C-596A-30C6-0FCC711F78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992025" y="6420597"/>
            <a:ext cx="2057400" cy="365125"/>
          </a:xfrm>
        </p:spPr>
        <p:txBody>
          <a:bodyPr/>
          <a:lstStyle/>
          <a:p>
            <a:fld id="{98AC3541-01C1-4CA5-B68F-FEE868C7D1AF}" type="slidenum">
              <a:rPr lang="en-US" smtClean="0"/>
              <a:t>‹#›</a:t>
            </a:fld>
            <a:endParaRPr lang="en-US"/>
          </a:p>
        </p:txBody>
      </p:sp>
      <p:sp>
        <p:nvSpPr>
          <p:cNvPr id="14" name="Title 1">
            <a:extLst>
              <a:ext uri="{FF2B5EF4-FFF2-40B4-BE49-F238E27FC236}">
                <a16:creationId xmlns:a16="http://schemas.microsoft.com/office/drawing/2014/main" id="{6D75F4B2-8EEA-F0D1-8F92-07F8868D82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4576" y="136526"/>
            <a:ext cx="8972550" cy="544512"/>
          </a:xfrm>
        </p:spPr>
        <p:txBody>
          <a:bodyPr>
            <a:normAutofit/>
          </a:bodyPr>
          <a:lstStyle>
            <a:lvl1pPr>
              <a:defRPr sz="2400">
                <a:solidFill>
                  <a:srgbClr val="FFC000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3267554390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_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82C9B9BC-953C-D5FF-84B2-8746933A017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4575" y="814121"/>
            <a:ext cx="4393976" cy="5473392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DAFCF747-434E-9F6C-30A6-9CFB599919F8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4673151" y="781998"/>
            <a:ext cx="4393976" cy="5473392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7BC8947D-B27D-863E-0CE6-7D2DCA690C3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4575" y="6420597"/>
            <a:ext cx="2057400" cy="365125"/>
          </a:xfrm>
        </p:spPr>
        <p:txBody>
          <a:bodyPr/>
          <a:lstStyle/>
          <a:p>
            <a:fld id="{07E0464C-7207-4298-A27C-0CEAF85D3DD1}" type="datetime3">
              <a:rPr lang="en-US" smtClean="0"/>
              <a:t>25 March 2026</a:t>
            </a:fld>
            <a:endParaRPr lang="en-US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88284EFB-2AB5-88D2-5273-CFE54A241B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028950" y="6420597"/>
            <a:ext cx="3086100" cy="365125"/>
          </a:xfrm>
        </p:spPr>
        <p:txBody>
          <a:bodyPr/>
          <a:lstStyle/>
          <a:p>
            <a:r>
              <a:rPr lang="en-US"/>
              <a:t>ELL305: Computer Architecture</a:t>
            </a:r>
            <a:endParaRPr lang="en-US" dirty="0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6A081971-637C-596A-30C6-0FCC711F78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992025" y="6420597"/>
            <a:ext cx="2057400" cy="365125"/>
          </a:xfrm>
        </p:spPr>
        <p:txBody>
          <a:bodyPr/>
          <a:lstStyle/>
          <a:p>
            <a:fld id="{98AC3541-01C1-4CA5-B68F-FEE868C7D1AF}" type="slidenum">
              <a:rPr lang="en-US" smtClean="0"/>
              <a:t>‹#›</a:t>
            </a:fld>
            <a:endParaRPr lang="en-US"/>
          </a:p>
        </p:txBody>
      </p:sp>
      <p:sp>
        <p:nvSpPr>
          <p:cNvPr id="14" name="Title 1">
            <a:extLst>
              <a:ext uri="{FF2B5EF4-FFF2-40B4-BE49-F238E27FC236}">
                <a16:creationId xmlns:a16="http://schemas.microsoft.com/office/drawing/2014/main" id="{6D75F4B2-8EEA-F0D1-8F92-07F8868D82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4576" y="136526"/>
            <a:ext cx="8972550" cy="544512"/>
          </a:xfrm>
        </p:spPr>
        <p:txBody>
          <a:bodyPr>
            <a:normAutofit/>
          </a:bodyPr>
          <a:lstStyle>
            <a:lvl1pPr>
              <a:defRPr sz="2400">
                <a:solidFill>
                  <a:srgbClr val="FFC000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197373246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16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itle Placeholder 1">
            <a:extLst>
              <a:ext uri="{FF2B5EF4-FFF2-40B4-BE49-F238E27FC236}">
                <a16:creationId xmlns:a16="http://schemas.microsoft.com/office/drawing/2014/main" id="{BA203AAE-04EA-FB40-EB07-8B5C207984B1}"/>
              </a:ext>
            </a:extLst>
          </p:cNvPr>
          <p:cNvSpPr>
            <a:spLocks noGrp="1"/>
          </p:cNvSpPr>
          <p:nvPr>
            <p:ph type="title"/>
          </p:nvPr>
        </p:nvSpPr>
        <p:spPr bwMode="auto">
          <a:xfrm>
            <a:off x="152400" y="53975"/>
            <a:ext cx="6324600" cy="119538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en-US" dirty="0"/>
              <a:t>Click to edit Master title style</a:t>
            </a:r>
          </a:p>
        </p:txBody>
      </p:sp>
      <p:sp>
        <p:nvSpPr>
          <p:cNvPr id="1027" name="Text Placeholder 2">
            <a:extLst>
              <a:ext uri="{FF2B5EF4-FFF2-40B4-BE49-F238E27FC236}">
                <a16:creationId xmlns:a16="http://schemas.microsoft.com/office/drawing/2014/main" id="{B0F4528A-9CB7-CDAF-ED2B-34ED92441136}"/>
              </a:ext>
            </a:extLst>
          </p:cNvPr>
          <p:cNvSpPr>
            <a:spLocks noGrp="1"/>
          </p:cNvSpPr>
          <p:nvPr>
            <p:ph type="body" idx="1"/>
          </p:nvPr>
        </p:nvSpPr>
        <p:spPr bwMode="auto">
          <a:xfrm>
            <a:off x="152400" y="1446211"/>
            <a:ext cx="8839200" cy="50149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en-US" dirty="0"/>
              <a:t>Click to edit Master text styles</a:t>
            </a:r>
          </a:p>
          <a:p>
            <a:pPr lvl="1"/>
            <a:r>
              <a:rPr lang="en-US" altLang="en-US" dirty="0"/>
              <a:t>Second level</a:t>
            </a:r>
          </a:p>
          <a:p>
            <a:pPr lvl="2"/>
            <a:r>
              <a:rPr lang="en-US" altLang="en-US" dirty="0"/>
              <a:t>Third level</a:t>
            </a:r>
          </a:p>
          <a:p>
            <a:pPr lvl="3"/>
            <a:r>
              <a:rPr lang="en-US" altLang="en-US" dirty="0"/>
              <a:t>Fourth level</a:t>
            </a:r>
          </a:p>
          <a:p>
            <a:pPr lvl="4"/>
            <a:r>
              <a:rPr lang="en-US" alt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1C94811-E68F-A5B1-AEDA-C6AFA290A81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0" y="6599238"/>
            <a:ext cx="1828800" cy="25876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+mn-lt"/>
              </a:defRPr>
            </a:lvl1pPr>
          </a:lstStyle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D210422-B7F7-81EF-261E-27508681B4B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124200" y="6599238"/>
            <a:ext cx="2895600" cy="258762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ctr" eaLnBrk="1" hangingPunct="1">
              <a:defRPr sz="1200">
                <a:solidFill>
                  <a:srgbClr val="898989"/>
                </a:solidFill>
                <a:latin typeface="Calibri" pitchFamily="34" charset="0"/>
              </a:defRPr>
            </a:lvl1pPr>
          </a:lstStyle>
          <a:p>
            <a:pPr>
              <a:defRPr/>
            </a:pPr>
            <a:r>
              <a:rPr lang="en-US" b="1" dirty="0">
                <a:solidFill>
                  <a:srgbClr val="101141"/>
                </a:solidFill>
                <a:cs typeface="Arial" charset="0"/>
              </a:rPr>
              <a:t>BITS </a:t>
            </a:r>
            <a:r>
              <a:rPr lang="en-US" dirty="0" err="1">
                <a:solidFill>
                  <a:srgbClr val="101141"/>
                </a:solidFill>
                <a:cs typeface="Arial" charset="0"/>
              </a:rPr>
              <a:t>Pilani</a:t>
            </a:r>
            <a:r>
              <a:rPr lang="en-US" dirty="0">
                <a:solidFill>
                  <a:srgbClr val="101141"/>
                </a:solidFill>
                <a:cs typeface="Arial" charset="0"/>
              </a:rPr>
              <a:t>, </a:t>
            </a:r>
            <a:r>
              <a:rPr lang="en-US" dirty="0" err="1">
                <a:solidFill>
                  <a:srgbClr val="101141"/>
                </a:solidFill>
                <a:cs typeface="Arial" charset="0"/>
              </a:rPr>
              <a:t>Pilani</a:t>
            </a:r>
            <a:r>
              <a:rPr lang="en-US" dirty="0">
                <a:solidFill>
                  <a:srgbClr val="101141"/>
                </a:solidFill>
                <a:cs typeface="Arial" charset="0"/>
              </a:rPr>
              <a:t> Campus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2938BB7-5B9C-07D9-CEF5-0333C505508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86800" y="6599238"/>
            <a:ext cx="457200" cy="258762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r" eaLnBrk="1" hangingPunct="1">
              <a:defRPr sz="1200">
                <a:solidFill>
                  <a:srgbClr val="898989"/>
                </a:solidFill>
                <a:latin typeface="Calibri" panose="020F0502020204030204" pitchFamily="34" charset="0"/>
              </a:defRPr>
            </a:lvl1pPr>
          </a:lstStyle>
          <a:p>
            <a:pPr>
              <a:defRPr/>
            </a:pPr>
            <a:fld id="{5875A4CA-FE82-4068-9563-37A5A44B5871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  <p:pic>
        <p:nvPicPr>
          <p:cNvPr id="7" name="Picture 11" descr="Picture 7.png">
            <a:extLst>
              <a:ext uri="{FF2B5EF4-FFF2-40B4-BE49-F238E27FC236}">
                <a16:creationId xmlns:a16="http://schemas.microsoft.com/office/drawing/2014/main" id="{B1A82462-8175-42D8-B46C-67766E05E740}"/>
              </a:ext>
            </a:extLst>
          </p:cNvPr>
          <p:cNvPicPr>
            <a:picLocks noChangeAspect="1"/>
          </p:cNvPicPr>
          <p:nvPr userDrawn="1"/>
        </p:nvPicPr>
        <p:blipFill>
          <a:blip r:embed="rId1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923" b="5336"/>
          <a:stretch>
            <a:fillRect/>
          </a:stretch>
        </p:blipFill>
        <p:spPr bwMode="auto">
          <a:xfrm>
            <a:off x="6629400" y="0"/>
            <a:ext cx="2193925" cy="6921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8" name="Group 18">
            <a:extLst>
              <a:ext uri="{FF2B5EF4-FFF2-40B4-BE49-F238E27FC236}">
                <a16:creationId xmlns:a16="http://schemas.microsoft.com/office/drawing/2014/main" id="{F71B9737-4DA8-4B8F-9335-5F2A7C906531}"/>
              </a:ext>
            </a:extLst>
          </p:cNvPr>
          <p:cNvGrpSpPr>
            <a:grpSpLocks/>
          </p:cNvGrpSpPr>
          <p:nvPr userDrawn="1"/>
        </p:nvGrpSpPr>
        <p:grpSpPr bwMode="auto">
          <a:xfrm>
            <a:off x="2133600" y="6553200"/>
            <a:ext cx="7010400" cy="46038"/>
            <a:chOff x="1905000" y="6553200"/>
            <a:chExt cx="7010400" cy="45719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F32335E3-1C88-4FEB-B3EA-2686D6520BDF}"/>
                </a:ext>
              </a:extLst>
            </p:cNvPr>
            <p:cNvSpPr/>
            <p:nvPr/>
          </p:nvSpPr>
          <p:spPr>
            <a:xfrm>
              <a:off x="4267200" y="6553200"/>
              <a:ext cx="2328863" cy="45719"/>
            </a:xfrm>
            <a:prstGeom prst="rect">
              <a:avLst/>
            </a:prstGeom>
            <a:solidFill>
              <a:srgbClr val="76C2E5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>
                <a:solidFill>
                  <a:prstClr val="white"/>
                </a:solidFill>
              </a:endParaRPr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E57711E8-77A4-4937-A983-1A5FDBFC0894}"/>
                </a:ext>
              </a:extLst>
            </p:cNvPr>
            <p:cNvSpPr/>
            <p:nvPr/>
          </p:nvSpPr>
          <p:spPr>
            <a:xfrm>
              <a:off x="1905000" y="6553200"/>
              <a:ext cx="2362200" cy="45719"/>
            </a:xfrm>
            <a:prstGeom prst="rect">
              <a:avLst/>
            </a:prstGeom>
            <a:solidFill>
              <a:srgbClr val="FCB017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>
                <a:solidFill>
                  <a:prstClr val="white"/>
                </a:solidFill>
              </a:endParaRPr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2C71875C-BA0F-4B96-BF59-4025A49FA021}"/>
                </a:ext>
              </a:extLst>
            </p:cNvPr>
            <p:cNvSpPr/>
            <p:nvPr userDrawn="1"/>
          </p:nvSpPr>
          <p:spPr>
            <a:xfrm>
              <a:off x="6586538" y="6553200"/>
              <a:ext cx="2328862" cy="45719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>
                <a:solidFill>
                  <a:prstClr val="white"/>
                </a:solidFill>
              </a:endParaRPr>
            </a:p>
          </p:txBody>
        </p:sp>
      </p:grpSp>
      <p:grpSp>
        <p:nvGrpSpPr>
          <p:cNvPr id="12" name="Group 22">
            <a:extLst>
              <a:ext uri="{FF2B5EF4-FFF2-40B4-BE49-F238E27FC236}">
                <a16:creationId xmlns:a16="http://schemas.microsoft.com/office/drawing/2014/main" id="{C2B4447A-9437-4C8F-B654-838CD5BB8615}"/>
              </a:ext>
            </a:extLst>
          </p:cNvPr>
          <p:cNvGrpSpPr>
            <a:grpSpLocks/>
          </p:cNvGrpSpPr>
          <p:nvPr userDrawn="1"/>
        </p:nvGrpSpPr>
        <p:grpSpPr bwMode="auto">
          <a:xfrm>
            <a:off x="0" y="1295400"/>
            <a:ext cx="7010400" cy="46038"/>
            <a:chOff x="1905000" y="6553200"/>
            <a:chExt cx="7010400" cy="45719"/>
          </a:xfrm>
        </p:grpSpPr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56377527-4981-49F2-8F12-B5DB6F066126}"/>
                </a:ext>
              </a:extLst>
            </p:cNvPr>
            <p:cNvSpPr/>
            <p:nvPr/>
          </p:nvSpPr>
          <p:spPr>
            <a:xfrm>
              <a:off x="4267200" y="6553200"/>
              <a:ext cx="2328863" cy="45719"/>
            </a:xfrm>
            <a:prstGeom prst="rect">
              <a:avLst/>
            </a:prstGeom>
            <a:solidFill>
              <a:srgbClr val="76C2E5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>
                <a:solidFill>
                  <a:prstClr val="white"/>
                </a:solidFill>
              </a:endParaRPr>
            </a:p>
          </p:txBody>
        </p:sp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85B94671-9EEF-4175-9164-57B69291B8A6}"/>
                </a:ext>
              </a:extLst>
            </p:cNvPr>
            <p:cNvSpPr/>
            <p:nvPr/>
          </p:nvSpPr>
          <p:spPr>
            <a:xfrm>
              <a:off x="1905000" y="6553200"/>
              <a:ext cx="2362200" cy="45719"/>
            </a:xfrm>
            <a:prstGeom prst="rect">
              <a:avLst/>
            </a:prstGeom>
            <a:solidFill>
              <a:srgbClr val="FCB017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>
                <a:solidFill>
                  <a:prstClr val="white"/>
                </a:solidFill>
              </a:endParaRPr>
            </a:p>
          </p:txBody>
        </p:sp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CD2EC7A3-548A-4998-81D6-DC9D9CECAAD8}"/>
                </a:ext>
              </a:extLst>
            </p:cNvPr>
            <p:cNvSpPr/>
            <p:nvPr userDrawn="1"/>
          </p:nvSpPr>
          <p:spPr>
            <a:xfrm>
              <a:off x="6586538" y="6553200"/>
              <a:ext cx="2328862" cy="45719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>
                <a:solidFill>
                  <a:prstClr val="white"/>
                </a:solidFill>
              </a:endParaRPr>
            </a:p>
          </p:txBody>
        </p:sp>
      </p:grpSp>
    </p:spTree>
  </p:cSld>
  <p:clrMap bg1="lt1" tx1="dk1" bg2="lt2" tx2="dk2" accent1="accent1" accent2="accent2" accent3="accent3" accent4="accent4" accent5="accent5" accent6="accent6" hlink="hlink" folHlink="folHlink"/>
  <p:sldLayoutIdLst>
    <p:sldLayoutId id="2147484833" r:id="rId1"/>
    <p:sldLayoutId id="2147484844" r:id="rId2"/>
    <p:sldLayoutId id="2147484834" r:id="rId3"/>
    <p:sldLayoutId id="2147484835" r:id="rId4"/>
    <p:sldLayoutId id="2147484836" r:id="rId5"/>
    <p:sldLayoutId id="2147484837" r:id="rId6"/>
    <p:sldLayoutId id="2147484838" r:id="rId7"/>
    <p:sldLayoutId id="2147484839" r:id="rId8"/>
    <p:sldLayoutId id="2147484840" r:id="rId9"/>
    <p:sldLayoutId id="2147484841" r:id="rId10"/>
    <p:sldLayoutId id="2147484842" r:id="rId11"/>
    <p:sldLayoutId id="2147484843" r:id="rId12"/>
    <p:sldLayoutId id="2147484845" r:id="rId13"/>
    <p:sldLayoutId id="2147484846" r:id="rId14"/>
    <p:sldLayoutId id="2147484847" r:id="rId15"/>
  </p:sldLayoutIdLst>
  <p:hf hdr="0" ftr="0"/>
  <p:txStyles>
    <p:titleStyle>
      <a:lvl1pPr algn="l" rtl="0" eaLnBrk="0" fontAlgn="base" hangingPunct="0">
        <a:spcBef>
          <a:spcPct val="0"/>
        </a:spcBef>
        <a:spcAft>
          <a:spcPct val="0"/>
        </a:spcAft>
        <a:defRPr sz="3600" b="1" kern="1200">
          <a:solidFill>
            <a:srgbClr val="72C3E8"/>
          </a:solidFill>
          <a:latin typeface="+mj-lt"/>
          <a:ea typeface="+mj-ea"/>
          <a:cs typeface="+mj-cs"/>
        </a:defRPr>
      </a:lvl1pPr>
      <a:lvl2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2pPr>
      <a:lvl3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3pPr>
      <a:lvl4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4pPr>
      <a:lvl5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5pPr>
      <a:lvl6pPr marL="4572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6pPr>
      <a:lvl7pPr marL="9144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7pPr>
      <a:lvl8pPr marL="13716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8pPr>
      <a:lvl9pPr marL="18288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•"/>
        <a:defRPr sz="3200" kern="1200">
          <a:solidFill>
            <a:schemeClr val="tx1">
              <a:lumMod val="50000"/>
              <a:lumOff val="50000"/>
            </a:schemeClr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–"/>
        <a:defRPr sz="2800" kern="1200">
          <a:solidFill>
            <a:schemeClr val="tx1">
              <a:lumMod val="50000"/>
              <a:lumOff val="50000"/>
            </a:schemeClr>
          </a:solidFill>
          <a:latin typeface="+mn-lt"/>
          <a:ea typeface="+mn-ea"/>
          <a:cs typeface="+mn-cs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•"/>
        <a:defRPr sz="2400" kern="1200">
          <a:solidFill>
            <a:schemeClr val="tx1">
              <a:lumMod val="50000"/>
              <a:lumOff val="50000"/>
            </a:schemeClr>
          </a:solidFill>
          <a:latin typeface="+mn-lt"/>
          <a:ea typeface="+mn-ea"/>
          <a:cs typeface="+mn-cs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–"/>
        <a:defRPr sz="2000" kern="1200">
          <a:solidFill>
            <a:schemeClr val="tx1">
              <a:lumMod val="50000"/>
              <a:lumOff val="50000"/>
            </a:schemeClr>
          </a:solidFill>
          <a:latin typeface="+mn-lt"/>
          <a:ea typeface="+mn-ea"/>
          <a:cs typeface="+mn-cs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»"/>
        <a:defRPr sz="2000" kern="1200">
          <a:solidFill>
            <a:schemeClr val="tx1">
              <a:lumMod val="50000"/>
              <a:lumOff val="50000"/>
            </a:schemeClr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7.jpeg"/><Relationship Id="rId5" Type="http://schemas.openxmlformats.org/officeDocument/2006/relationships/image" Target="../media/image6.jpeg"/><Relationship Id="rId4" Type="http://schemas.openxmlformats.org/officeDocument/2006/relationships/image" Target="../media/image5.jpe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0.jp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4.wmf"/><Relationship Id="rId5" Type="http://schemas.openxmlformats.org/officeDocument/2006/relationships/image" Target="../media/image13.png"/><Relationship Id="rId4" Type="http://schemas.openxmlformats.org/officeDocument/2006/relationships/image" Target="../media/image12.wmf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17.wmf"/><Relationship Id="rId4" Type="http://schemas.openxmlformats.org/officeDocument/2006/relationships/image" Target="../media/image16.jpe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wmf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17.wmf"/><Relationship Id="rId4" Type="http://schemas.openxmlformats.org/officeDocument/2006/relationships/image" Target="../media/image14.wmf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wmf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5.jpe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29.png"/><Relationship Id="rId5" Type="http://schemas.openxmlformats.org/officeDocument/2006/relationships/image" Target="../media/image28.jpeg"/><Relationship Id="rId4" Type="http://schemas.openxmlformats.org/officeDocument/2006/relationships/image" Target="../media/image27.jpeg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3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3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3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3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3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3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39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41.png"/><Relationship Id="rId4" Type="http://schemas.openxmlformats.org/officeDocument/2006/relationships/image" Target="../media/image40.png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3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3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3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3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3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png"/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50.png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360.png"/><Relationship Id="rId5" Type="http://schemas.openxmlformats.org/officeDocument/2006/relationships/customXml" Target="../ink/ink1.xml"/><Relationship Id="rId4" Type="http://schemas.openxmlformats.org/officeDocument/2006/relationships/image" Target="../media/image51.png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2.png"/><Relationship Id="rId1" Type="http://schemas.openxmlformats.org/officeDocument/2006/relationships/slideLayout" Target="../slideLayouts/slideLayout3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4.png"/><Relationship Id="rId2" Type="http://schemas.openxmlformats.org/officeDocument/2006/relationships/image" Target="../media/image53.png"/><Relationship Id="rId1" Type="http://schemas.openxmlformats.org/officeDocument/2006/relationships/slideLayout" Target="../slideLayouts/slideLayout3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6.png"/><Relationship Id="rId2" Type="http://schemas.openxmlformats.org/officeDocument/2006/relationships/image" Target="../media/image55.pn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59.png"/><Relationship Id="rId5" Type="http://schemas.openxmlformats.org/officeDocument/2006/relationships/image" Target="../media/image58.png"/><Relationship Id="rId4" Type="http://schemas.openxmlformats.org/officeDocument/2006/relationships/image" Target="../media/image57.png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customXml" Target="../ink/ink2.xml"/><Relationship Id="rId2" Type="http://schemas.openxmlformats.org/officeDocument/2006/relationships/hyperlink" Target="https://en.wikipedia.org/wiki/Cache_replacement_policies" TargetMode="Externa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450.png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0.png"/><Relationship Id="rId1" Type="http://schemas.openxmlformats.org/officeDocument/2006/relationships/slideLayout" Target="../slideLayouts/slideLayout3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2.png"/><Relationship Id="rId2" Type="http://schemas.openxmlformats.org/officeDocument/2006/relationships/image" Target="../media/image61.png"/><Relationship Id="rId1" Type="http://schemas.openxmlformats.org/officeDocument/2006/relationships/slideLayout" Target="../slideLayouts/slideLayout3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4.png"/><Relationship Id="rId7" Type="http://schemas.openxmlformats.org/officeDocument/2006/relationships/image" Target="../media/image68.png"/><Relationship Id="rId2" Type="http://schemas.openxmlformats.org/officeDocument/2006/relationships/image" Target="../media/image63.pn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67.png"/><Relationship Id="rId5" Type="http://schemas.openxmlformats.org/officeDocument/2006/relationships/image" Target="../media/image66.png"/><Relationship Id="rId4" Type="http://schemas.openxmlformats.org/officeDocument/2006/relationships/image" Target="../media/image65.png"/></Relationships>
</file>

<file path=ppt/slides/_rels/slide44.xml.rels><?xml version="1.0" encoding="UTF-8" standalone="yes"?>
<Relationships xmlns="http://schemas.openxmlformats.org/package/2006/relationships"><Relationship Id="rId8" Type="http://schemas.openxmlformats.org/officeDocument/2006/relationships/image" Target="../media/image75.png"/><Relationship Id="rId3" Type="http://schemas.openxmlformats.org/officeDocument/2006/relationships/image" Target="../media/image70.png"/><Relationship Id="rId7" Type="http://schemas.openxmlformats.org/officeDocument/2006/relationships/image" Target="../media/image74.png"/><Relationship Id="rId12" Type="http://schemas.openxmlformats.org/officeDocument/2006/relationships/image" Target="../media/image79.png"/><Relationship Id="rId2" Type="http://schemas.openxmlformats.org/officeDocument/2006/relationships/image" Target="../media/image69.pn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73.png"/><Relationship Id="rId11" Type="http://schemas.openxmlformats.org/officeDocument/2006/relationships/image" Target="../media/image78.png"/><Relationship Id="rId5" Type="http://schemas.openxmlformats.org/officeDocument/2006/relationships/image" Target="../media/image72.png"/><Relationship Id="rId10" Type="http://schemas.openxmlformats.org/officeDocument/2006/relationships/image" Target="../media/image77.png"/><Relationship Id="rId4" Type="http://schemas.openxmlformats.org/officeDocument/2006/relationships/image" Target="../media/image71.png"/><Relationship Id="rId9" Type="http://schemas.openxmlformats.org/officeDocument/2006/relationships/image" Target="../media/image76.png"/></Relationships>
</file>

<file path=ppt/slides/_rels/slide45.xml.rels><?xml version="1.0" encoding="UTF-8" standalone="yes"?>
<Relationships xmlns="http://schemas.openxmlformats.org/package/2006/relationships"><Relationship Id="rId8" Type="http://schemas.openxmlformats.org/officeDocument/2006/relationships/image" Target="../media/image86.png"/><Relationship Id="rId3" Type="http://schemas.openxmlformats.org/officeDocument/2006/relationships/image" Target="../media/image81.png"/><Relationship Id="rId7" Type="http://schemas.openxmlformats.org/officeDocument/2006/relationships/image" Target="../media/image85.png"/><Relationship Id="rId2" Type="http://schemas.openxmlformats.org/officeDocument/2006/relationships/image" Target="../media/image80.pn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84.png"/><Relationship Id="rId11" Type="http://schemas.openxmlformats.org/officeDocument/2006/relationships/image" Target="../media/image89.png"/><Relationship Id="rId5" Type="http://schemas.openxmlformats.org/officeDocument/2006/relationships/image" Target="../media/image83.png"/><Relationship Id="rId10" Type="http://schemas.openxmlformats.org/officeDocument/2006/relationships/image" Target="../media/image88.png"/><Relationship Id="rId4" Type="http://schemas.openxmlformats.org/officeDocument/2006/relationships/image" Target="../media/image82.png"/><Relationship Id="rId9" Type="http://schemas.openxmlformats.org/officeDocument/2006/relationships/image" Target="../media/image87.png"/></Relationships>
</file>

<file path=ppt/slides/_rels/slide46.xml.rels><?xml version="1.0" encoding="UTF-8" standalone="yes"?>
<Relationships xmlns="http://schemas.openxmlformats.org/package/2006/relationships"><Relationship Id="rId8" Type="http://schemas.openxmlformats.org/officeDocument/2006/relationships/image" Target="../media/image96.png"/><Relationship Id="rId3" Type="http://schemas.openxmlformats.org/officeDocument/2006/relationships/image" Target="../media/image91.png"/><Relationship Id="rId7" Type="http://schemas.openxmlformats.org/officeDocument/2006/relationships/image" Target="../media/image95.png"/><Relationship Id="rId2" Type="http://schemas.openxmlformats.org/officeDocument/2006/relationships/image" Target="../media/image90.pn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94.png"/><Relationship Id="rId11" Type="http://schemas.openxmlformats.org/officeDocument/2006/relationships/image" Target="../media/image99.png"/><Relationship Id="rId5" Type="http://schemas.openxmlformats.org/officeDocument/2006/relationships/image" Target="../media/image93.png"/><Relationship Id="rId10" Type="http://schemas.openxmlformats.org/officeDocument/2006/relationships/image" Target="../media/image98.png"/><Relationship Id="rId4" Type="http://schemas.openxmlformats.org/officeDocument/2006/relationships/image" Target="../media/image92.png"/><Relationship Id="rId9" Type="http://schemas.openxmlformats.org/officeDocument/2006/relationships/image" Target="../media/image97.png"/></Relationships>
</file>

<file path=ppt/slides/_rels/slide4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5.png"/><Relationship Id="rId3" Type="http://schemas.openxmlformats.org/officeDocument/2006/relationships/image" Target="../media/image100.png"/><Relationship Id="rId7" Type="http://schemas.openxmlformats.org/officeDocument/2006/relationships/image" Target="../media/image104.png"/><Relationship Id="rId2" Type="http://schemas.openxmlformats.org/officeDocument/2006/relationships/image" Target="../media/image90.pn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03.png"/><Relationship Id="rId11" Type="http://schemas.openxmlformats.org/officeDocument/2006/relationships/image" Target="../media/image108.png"/><Relationship Id="rId5" Type="http://schemas.openxmlformats.org/officeDocument/2006/relationships/image" Target="../media/image102.png"/><Relationship Id="rId10" Type="http://schemas.openxmlformats.org/officeDocument/2006/relationships/image" Target="../media/image107.png"/><Relationship Id="rId4" Type="http://schemas.openxmlformats.org/officeDocument/2006/relationships/image" Target="../media/image101.png"/><Relationship Id="rId9" Type="http://schemas.openxmlformats.org/officeDocument/2006/relationships/image" Target="../media/image106.png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9.png"/><Relationship Id="rId1" Type="http://schemas.openxmlformats.org/officeDocument/2006/relationships/slideLayout" Target="../slideLayouts/slideLayout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0.png"/><Relationship Id="rId1" Type="http://schemas.openxmlformats.org/officeDocument/2006/relationships/slideLayout" Target="../slideLayouts/slideLayout3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2.png"/><Relationship Id="rId2" Type="http://schemas.openxmlformats.org/officeDocument/2006/relationships/image" Target="../media/image111.png"/><Relationship Id="rId1" Type="http://schemas.openxmlformats.org/officeDocument/2006/relationships/slideLayout" Target="../slideLayouts/slideLayout3.xml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4.png"/><Relationship Id="rId2" Type="http://schemas.openxmlformats.org/officeDocument/2006/relationships/image" Target="../media/image113.png"/><Relationship Id="rId1" Type="http://schemas.openxmlformats.org/officeDocument/2006/relationships/slideLayout" Target="../slideLayouts/slideLayout3.xml"/><Relationship Id="rId4" Type="http://schemas.openxmlformats.org/officeDocument/2006/relationships/hyperlink" Target="https://medium.com/software-design/why-software-developers-should-care-about-cpu-caches-8da04355bb8a" TargetMode="External"/></Relationships>
</file>

<file path=ppt/slides/_rels/slide6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5.png"/><Relationship Id="rId1" Type="http://schemas.openxmlformats.org/officeDocument/2006/relationships/slideLayout" Target="../slideLayouts/slideLayout3.xml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6.png"/><Relationship Id="rId1" Type="http://schemas.openxmlformats.org/officeDocument/2006/relationships/slideLayout" Target="../slideLayouts/slideLayout8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7.png"/><Relationship Id="rId1" Type="http://schemas.openxmlformats.org/officeDocument/2006/relationships/slideLayout" Target="../slideLayouts/slideLayout8.xm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8.png"/><Relationship Id="rId1" Type="http://schemas.openxmlformats.org/officeDocument/2006/relationships/slideLayout" Target="../slideLayouts/slideLayout8.xml"/></Relationships>
</file>

<file path=ppt/slides/_rels/slide6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9.png"/><Relationship Id="rId1" Type="http://schemas.openxmlformats.org/officeDocument/2006/relationships/slideLayout" Target="../slideLayouts/slideLayout8.xml"/></Relationships>
</file>

<file path=ppt/slides/_rels/slide6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0.png"/><Relationship Id="rId1" Type="http://schemas.openxmlformats.org/officeDocument/2006/relationships/slideLayout" Target="../slideLayouts/slideLayout8.xml"/></Relationships>
</file>

<file path=ppt/slides/_rels/slide6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1.png"/><Relationship Id="rId1" Type="http://schemas.openxmlformats.org/officeDocument/2006/relationships/slideLayout" Target="../slideLayouts/slideLayout8.xml"/></Relationships>
</file>

<file path=ppt/slides/_rels/slide6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2.png"/><Relationship Id="rId1" Type="http://schemas.openxmlformats.org/officeDocument/2006/relationships/slideLayout" Target="../slideLayouts/slideLayout8.xml"/></Relationships>
</file>

<file path=ppt/slides/_rels/slide6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3.png"/><Relationship Id="rId1" Type="http://schemas.openxmlformats.org/officeDocument/2006/relationships/slideLayout" Target="../slideLayouts/slideLayout8.xml"/></Relationships>
</file>

<file path=ppt/slides/_rels/slide7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4.png"/><Relationship Id="rId1" Type="http://schemas.openxmlformats.org/officeDocument/2006/relationships/slideLayout" Target="../slideLayouts/slideLayout8.xml"/></Relationships>
</file>

<file path=ppt/slides/_rels/slide7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6.png"/><Relationship Id="rId2" Type="http://schemas.openxmlformats.org/officeDocument/2006/relationships/image" Target="../media/image125.png"/><Relationship Id="rId1" Type="http://schemas.openxmlformats.org/officeDocument/2006/relationships/slideLayout" Target="../slideLayouts/slideLayout8.xml"/></Relationships>
</file>

<file path=ppt/slides/_rels/slide7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7.png"/><Relationship Id="rId1" Type="http://schemas.openxmlformats.org/officeDocument/2006/relationships/slideLayout" Target="../slideLayouts/slideLayout8.xml"/></Relationships>
</file>

<file path=ppt/slides/_rels/slide7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8.png"/><Relationship Id="rId1" Type="http://schemas.openxmlformats.org/officeDocument/2006/relationships/slideLayout" Target="../slideLayouts/slideLayout8.xml"/></Relationships>
</file>

<file path=ppt/slides/_rels/slide7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9.png"/><Relationship Id="rId1" Type="http://schemas.openxmlformats.org/officeDocument/2006/relationships/slideLayout" Target="../slideLayouts/slideLayout8.xml"/></Relationships>
</file>

<file path=ppt/slides/_rels/slide7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0.png"/><Relationship Id="rId1" Type="http://schemas.openxmlformats.org/officeDocument/2006/relationships/slideLayout" Target="../slideLayouts/slideLayout8.xml"/></Relationships>
</file>

<file path=ppt/slides/_rels/slide7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1.png"/><Relationship Id="rId1" Type="http://schemas.openxmlformats.org/officeDocument/2006/relationships/slideLayout" Target="../slideLayouts/slideLayout8.xml"/></Relationships>
</file>

<file path=ppt/slides/_rels/slide7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2.png"/><Relationship Id="rId1" Type="http://schemas.openxmlformats.org/officeDocument/2006/relationships/slideLayout" Target="../slideLayouts/slideLayout8.xml"/></Relationships>
</file>

<file path=ppt/slides/_rels/slide7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3.png"/><Relationship Id="rId1" Type="http://schemas.openxmlformats.org/officeDocument/2006/relationships/slideLayout" Target="../slideLayouts/slideLayout8.xml"/></Relationships>
</file>

<file path=ppt/slides/_rels/slide7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4.png"/><Relationship Id="rId1" Type="http://schemas.openxmlformats.org/officeDocument/2006/relationships/slideLayout" Target="../slideLayouts/slideLayout8.xml"/></Relationships>
</file>

<file path=ppt/slides/_rels/slide8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5.png"/><Relationship Id="rId1" Type="http://schemas.openxmlformats.org/officeDocument/2006/relationships/slideLayout" Target="../slideLayouts/slideLayout8.xml"/></Relationships>
</file>

<file path=ppt/slides/_rels/slide8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6.png"/><Relationship Id="rId1" Type="http://schemas.openxmlformats.org/officeDocument/2006/relationships/slideLayout" Target="../slideLayouts/slideLayout8.xml"/></Relationships>
</file>

<file path=ppt/slides/_rels/slide8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7.png"/><Relationship Id="rId1" Type="http://schemas.openxmlformats.org/officeDocument/2006/relationships/slideLayout" Target="../slideLayouts/slideLayout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82" name="Title 4">
            <a:extLst>
              <a:ext uri="{FF2B5EF4-FFF2-40B4-BE49-F238E27FC236}">
                <a16:creationId xmlns:a16="http://schemas.microsoft.com/office/drawing/2014/main" id="{82CCF8E8-8D44-B829-5D34-BCFE6E2C94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altLang="en-US" dirty="0"/>
              <a:t>Computer Architecture</a:t>
            </a: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E4BD772D-9840-4762-E3C3-128057D3E943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en-US" sz="2000" dirty="0"/>
              <a:t>Prof. Saurabh Gandhi (EEE department)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8" name="Rectangle 2"/>
          <p:cNvSpPr>
            <a:spLocks noGrp="1" noChangeArrowheads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1976438" indent="-1976438"/>
            <a:r>
              <a:rPr lang="en-GB" sz="3600" dirty="0"/>
              <a:t>Memory Technology: 1950s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>
            <a:noAutofit/>
          </a:bodyPr>
          <a:lstStyle/>
          <a:p>
            <a:pPr algn="r">
              <a:defRPr/>
            </a:pPr>
            <a:fld id="{F7EC234A-9094-4BB8-9EA4-75ECDA8A365B}" type="slidenum">
              <a:rPr smtClean="0"/>
              <a:pPr algn="r">
                <a:defRPr/>
              </a:pPr>
              <a:t>2</a:t>
            </a:fld>
            <a:endParaRPr dirty="0"/>
          </a:p>
        </p:txBody>
      </p:sp>
      <p:pic>
        <p:nvPicPr>
          <p:cNvPr id="10" name="Picture 6" descr="102637027_sm">
            <a:extLst>
              <a:ext uri="{FF2B5EF4-FFF2-40B4-BE49-F238E27FC236}">
                <a16:creationId xmlns:a16="http://schemas.microsoft.com/office/drawing/2014/main" id="{E7E5696B-E2AF-4A4B-AF3C-15BDFC7A601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1228986" y="1346417"/>
            <a:ext cx="1476375" cy="1905000"/>
          </a:xfrm>
          <a:prstGeom prst="rect">
            <a:avLst/>
          </a:prstGeom>
          <a:noFill/>
        </p:spPr>
      </p:pic>
      <p:sp>
        <p:nvSpPr>
          <p:cNvPr id="11" name="Rectangle 7">
            <a:extLst>
              <a:ext uri="{FF2B5EF4-FFF2-40B4-BE49-F238E27FC236}">
                <a16:creationId xmlns:a16="http://schemas.microsoft.com/office/drawing/2014/main" id="{140BBB5C-55E2-4EB8-ABB0-492AEFC7C964}"/>
              </a:ext>
            </a:extLst>
          </p:cNvPr>
          <p:cNvSpPr>
            <a:spLocks noChangeArrowheads="1"/>
          </p:cNvSpPr>
          <p:nvPr/>
        </p:nvSpPr>
        <p:spPr bwMode="auto">
          <a:xfrm>
            <a:off x="238386" y="3324869"/>
            <a:ext cx="3916457" cy="830997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none" anchor="ctr">
            <a:spAutoFit/>
          </a:bodyPr>
          <a:lstStyle/>
          <a:p>
            <a:pPr algn="l"/>
            <a:r>
              <a:rPr lang="en-US" sz="1600" b="1" dirty="0"/>
              <a:t>1948: Maurice Wilkes examining </a:t>
            </a:r>
          </a:p>
          <a:p>
            <a:pPr algn="l"/>
            <a:r>
              <a:rPr lang="en-US" sz="1600" b="1" dirty="0"/>
              <a:t>EDSAC’s delay line memory tubes</a:t>
            </a:r>
          </a:p>
          <a:p>
            <a:pPr algn="l"/>
            <a:r>
              <a:rPr lang="en-US" sz="1600" b="1" dirty="0"/>
              <a:t>16-tubes each storing 32 17-bit words </a:t>
            </a:r>
          </a:p>
        </p:txBody>
      </p:sp>
      <p:pic>
        <p:nvPicPr>
          <p:cNvPr id="13" name="Picture 10" descr="MauriceWilkes">
            <a:extLst>
              <a:ext uri="{FF2B5EF4-FFF2-40B4-BE49-F238E27FC236}">
                <a16:creationId xmlns:a16="http://schemas.microsoft.com/office/drawing/2014/main" id="{B4C5326E-67B6-44EC-B1BD-A97C20A697C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1152786" y="4513063"/>
            <a:ext cx="1276350" cy="1390650"/>
          </a:xfrm>
          <a:prstGeom prst="rect">
            <a:avLst/>
          </a:prstGeom>
          <a:noFill/>
        </p:spPr>
      </p:pic>
      <p:sp>
        <p:nvSpPr>
          <p:cNvPr id="14" name="Text Box 11">
            <a:extLst>
              <a:ext uri="{FF2B5EF4-FFF2-40B4-BE49-F238E27FC236}">
                <a16:creationId xmlns:a16="http://schemas.microsoft.com/office/drawing/2014/main" id="{A51863A7-B236-41DC-AB8F-4E3B244A483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71786" y="5884663"/>
            <a:ext cx="2249142" cy="338554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r>
              <a:rPr lang="en-US" sz="1600" b="1" dirty="0"/>
              <a:t>Maurice Wilkes: 2005</a:t>
            </a:r>
          </a:p>
        </p:txBody>
      </p:sp>
      <p:pic>
        <p:nvPicPr>
          <p:cNvPr id="15" name="Picture 13" descr="Photo">
            <a:extLst>
              <a:ext uri="{FF2B5EF4-FFF2-40B4-BE49-F238E27FC236}">
                <a16:creationId xmlns:a16="http://schemas.microsoft.com/office/drawing/2014/main" id="{5317CFD7-3F0B-4778-A902-17EAB179A8A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print"/>
          <a:srcRect/>
          <a:stretch>
            <a:fillRect/>
          </a:stretch>
        </p:blipFill>
        <p:spPr bwMode="auto">
          <a:xfrm>
            <a:off x="4124586" y="2489417"/>
            <a:ext cx="2347913" cy="1833563"/>
          </a:xfrm>
          <a:prstGeom prst="rect">
            <a:avLst/>
          </a:prstGeom>
          <a:noFill/>
        </p:spPr>
      </p:pic>
      <p:pic>
        <p:nvPicPr>
          <p:cNvPr id="16" name="Picture 15" descr="Photo">
            <a:extLst>
              <a:ext uri="{FF2B5EF4-FFF2-40B4-BE49-F238E27FC236}">
                <a16:creationId xmlns:a16="http://schemas.microsoft.com/office/drawing/2014/main" id="{1F3AE2CD-583C-4F41-8DA2-C9A5C91A21F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 cstate="print"/>
          <a:srcRect/>
          <a:stretch>
            <a:fillRect/>
          </a:stretch>
        </p:blipFill>
        <p:spPr bwMode="auto">
          <a:xfrm>
            <a:off x="6562986" y="2032217"/>
            <a:ext cx="2146300" cy="2514600"/>
          </a:xfrm>
          <a:prstGeom prst="rect">
            <a:avLst/>
          </a:prstGeom>
          <a:noFill/>
        </p:spPr>
      </p:pic>
      <p:sp>
        <p:nvSpPr>
          <p:cNvPr id="17" name="Text Box 16">
            <a:extLst>
              <a:ext uri="{FF2B5EF4-FFF2-40B4-BE49-F238E27FC236}">
                <a16:creationId xmlns:a16="http://schemas.microsoft.com/office/drawing/2014/main" id="{E4483870-97FF-40EB-B353-0359C0BACCE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124586" y="4623017"/>
            <a:ext cx="4541628" cy="338554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r>
              <a:rPr lang="en-US" sz="1600" b="1" dirty="0"/>
              <a:t>1952: IBM 2361 16KB magnetic core memory</a:t>
            </a:r>
          </a:p>
        </p:txBody>
      </p:sp>
      <p:sp>
        <p:nvSpPr>
          <p:cNvPr id="3" name="[Date Placeholder 3]"/>
          <p:cNvSpPr>
            <a:spLocks noGrp="1"/>
          </p:cNvSpPr>
          <p:nvPr>
            <p:ph type="dt" sz="half" idx="10"/>
          </p:nvPr>
        </p:nvSpPr>
        <p:spPr>
          <a:xfrm>
            <a:off x="0" y="6599238"/>
            <a:ext cx="1828800" cy="258762"/>
          </a:xfrm>
        </p:spPr>
        <p:txBody>
          <a:bodyPr/>
          <a:lstStyle/>
          <a:p>
            <a:pPr>
              <a:defRPr/>
            </a:pPr>
            <a:r>
              <a:rPr lang="en-US"/>
              <a:t>Aaron Tan, NUS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5665609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8" name="Rectangle 2"/>
          <p:cNvSpPr>
            <a:spLocks noGrp="1" noChangeArrowheads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1976438" indent="-1976438"/>
            <a:r>
              <a:rPr lang="en-GB" sz="3600" dirty="0"/>
              <a:t>Memory Technology Today</a:t>
            </a:r>
            <a:r>
              <a:rPr lang="en-GB" dirty="0"/>
              <a:t>: </a:t>
            </a:r>
            <a:r>
              <a:rPr lang="en-GB" sz="3600" b="1" dirty="0"/>
              <a:t>DRAM</a:t>
            </a:r>
          </a:p>
        </p:txBody>
      </p:sp>
      <p:sp>
        <p:nvSpPr>
          <p:cNvPr id="131" name="Content Placeholder 4">
            <a:extLst>
              <a:ext uri="{FF2B5EF4-FFF2-40B4-BE49-F238E27FC236}">
                <a16:creationId xmlns:a16="http://schemas.microsoft.com/office/drawing/2014/main" id="{7F6268AF-8611-4D17-AFE1-684DAA63BF7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266700" indent="-266700">
              <a:spcBef>
                <a:spcPts val="600"/>
              </a:spcBef>
              <a:buSzPct val="100000"/>
              <a:buFont typeface="Wingdings" panose="05000000000000000000" pitchFamily="2" charset="2"/>
              <a:buChar char="§"/>
            </a:pPr>
            <a:r>
              <a:rPr lang="en-US" sz="2800" b="1" dirty="0">
                <a:solidFill>
                  <a:srgbClr val="C00000"/>
                </a:solidFill>
              </a:rPr>
              <a:t>DDR SDRAM</a:t>
            </a:r>
            <a:r>
              <a:rPr lang="en-US" sz="2800" dirty="0">
                <a:solidFill>
                  <a:srgbClr val="C00000"/>
                </a:solidFill>
              </a:rPr>
              <a:t> </a:t>
            </a:r>
          </a:p>
          <a:p>
            <a:pPr marL="625475" lvl="1" indent="-266700">
              <a:spcBef>
                <a:spcPts val="600"/>
              </a:spcBef>
              <a:buSzPct val="100000"/>
              <a:buFont typeface="Wingdings" panose="05000000000000000000" pitchFamily="2" charset="2"/>
              <a:buChar char="§"/>
            </a:pPr>
            <a:r>
              <a:rPr lang="en-US" sz="2400" b="1" dirty="0"/>
              <a:t>D</a:t>
            </a:r>
            <a:r>
              <a:rPr lang="en-US" sz="2400" dirty="0"/>
              <a:t>ouble </a:t>
            </a:r>
            <a:r>
              <a:rPr lang="en-US" sz="2400" b="1" dirty="0"/>
              <a:t>D</a:t>
            </a:r>
            <a:r>
              <a:rPr lang="en-US" sz="2400" dirty="0"/>
              <a:t>ata </a:t>
            </a:r>
            <a:r>
              <a:rPr lang="en-US" sz="2400" b="1" dirty="0"/>
              <a:t>R</a:t>
            </a:r>
            <a:r>
              <a:rPr lang="en-US" sz="2400" dirty="0"/>
              <a:t>ate </a:t>
            </a:r>
          </a:p>
          <a:p>
            <a:pPr lvl="1">
              <a:spcBef>
                <a:spcPts val="600"/>
              </a:spcBef>
              <a:buNone/>
            </a:pPr>
            <a:r>
              <a:rPr lang="en-US" sz="2400" dirty="0"/>
              <a:t>          – </a:t>
            </a:r>
            <a:r>
              <a:rPr lang="en-US" sz="2400" b="1" dirty="0"/>
              <a:t>S</a:t>
            </a:r>
            <a:r>
              <a:rPr lang="en-US" sz="2400" dirty="0"/>
              <a:t>ynchronous </a:t>
            </a:r>
            <a:r>
              <a:rPr lang="en-US" sz="2400" b="1" dirty="0"/>
              <a:t>D</a:t>
            </a:r>
            <a:r>
              <a:rPr lang="en-US" sz="2400" dirty="0"/>
              <a:t>ynamic </a:t>
            </a:r>
            <a:r>
              <a:rPr lang="en-US" sz="2400" b="1" dirty="0"/>
              <a:t>RAM</a:t>
            </a:r>
          </a:p>
          <a:p>
            <a:pPr marL="625475" lvl="1" indent="-266700">
              <a:spcBef>
                <a:spcPts val="600"/>
              </a:spcBef>
              <a:buFont typeface="Wingdings" panose="05000000000000000000" pitchFamily="2" charset="2"/>
              <a:buChar char="§"/>
            </a:pPr>
            <a:r>
              <a:rPr lang="en-US" sz="2400" dirty="0"/>
              <a:t>The dominant memory technology in PC market</a:t>
            </a:r>
          </a:p>
          <a:p>
            <a:pPr marL="625475" lvl="1" indent="-266700">
              <a:spcBef>
                <a:spcPts val="600"/>
              </a:spcBef>
              <a:buFont typeface="Wingdings" panose="05000000000000000000" pitchFamily="2" charset="2"/>
              <a:buChar char="§"/>
            </a:pPr>
            <a:r>
              <a:rPr lang="en-US" sz="2400" dirty="0"/>
              <a:t>Delivers memory on the positive and negative edge of a clock (double rate)</a:t>
            </a:r>
          </a:p>
          <a:p>
            <a:pPr marL="625475" lvl="1" indent="-266700">
              <a:spcBef>
                <a:spcPts val="600"/>
              </a:spcBef>
              <a:buFont typeface="Wingdings" panose="05000000000000000000" pitchFamily="2" charset="2"/>
              <a:buChar char="§"/>
            </a:pPr>
            <a:r>
              <a:rPr lang="en-US" sz="2400" dirty="0"/>
              <a:t>Generations:</a:t>
            </a:r>
          </a:p>
          <a:p>
            <a:pPr marL="984250" lvl="2" indent="-266700">
              <a:spcBef>
                <a:spcPts val="600"/>
              </a:spcBef>
              <a:buFont typeface="Wingdings" panose="05000000000000000000" pitchFamily="2" charset="2"/>
              <a:buChar char="§"/>
            </a:pPr>
            <a:r>
              <a:rPr lang="en-US" sz="2000" dirty="0"/>
              <a:t>DDR    (</a:t>
            </a:r>
            <a:r>
              <a:rPr lang="en-US" sz="2000" dirty="0" err="1"/>
              <a:t>MemClkFreq</a:t>
            </a:r>
            <a:r>
              <a:rPr lang="en-US" sz="2000" dirty="0"/>
              <a:t> x 2(double rate) x 8 words)</a:t>
            </a:r>
          </a:p>
          <a:p>
            <a:pPr marL="984250" lvl="2" indent="-266700">
              <a:spcBef>
                <a:spcPts val="600"/>
              </a:spcBef>
              <a:buFont typeface="Wingdings" panose="05000000000000000000" pitchFamily="2" charset="2"/>
              <a:buChar char="§"/>
            </a:pPr>
            <a:r>
              <a:rPr lang="en-US" sz="2000" dirty="0" err="1"/>
              <a:t>DDR2</a:t>
            </a:r>
            <a:r>
              <a:rPr lang="en-US" sz="2000" dirty="0"/>
              <a:t>  (</a:t>
            </a:r>
            <a:r>
              <a:rPr lang="en-US" sz="2000" dirty="0" err="1"/>
              <a:t>MemClkFreq</a:t>
            </a:r>
            <a:r>
              <a:rPr lang="en-US" sz="2000" dirty="0"/>
              <a:t> x 2(multiplier) x 2 x 8 words)</a:t>
            </a:r>
          </a:p>
          <a:p>
            <a:pPr marL="984250" lvl="2" indent="-266700">
              <a:spcBef>
                <a:spcPts val="600"/>
              </a:spcBef>
              <a:buFont typeface="Wingdings" panose="05000000000000000000" pitchFamily="2" charset="2"/>
              <a:buChar char="§"/>
            </a:pPr>
            <a:r>
              <a:rPr lang="en-US" sz="2000" dirty="0" err="1"/>
              <a:t>DDR3</a:t>
            </a:r>
            <a:r>
              <a:rPr lang="en-US" sz="2000" dirty="0"/>
              <a:t>  (</a:t>
            </a:r>
            <a:r>
              <a:rPr lang="en-US" sz="2000" dirty="0" err="1"/>
              <a:t>MemClkFreq</a:t>
            </a:r>
            <a:r>
              <a:rPr lang="en-US" sz="2000" dirty="0"/>
              <a:t> x 4(multiplier) x 2 x 8 words)</a:t>
            </a:r>
          </a:p>
          <a:p>
            <a:pPr marL="984250" lvl="2" indent="-266700">
              <a:spcBef>
                <a:spcPts val="600"/>
              </a:spcBef>
              <a:buFont typeface="Wingdings" panose="05000000000000000000" pitchFamily="2" charset="2"/>
              <a:buChar char="§"/>
            </a:pPr>
            <a:r>
              <a:rPr lang="en-US" sz="2000" dirty="0" err="1"/>
              <a:t>DDR4</a:t>
            </a:r>
            <a:r>
              <a:rPr lang="en-US" sz="2000" dirty="0"/>
              <a:t>  (released in 2014)</a:t>
            </a:r>
          </a:p>
          <a:p>
            <a:pPr marL="984250" lvl="2" indent="-266700">
              <a:spcBef>
                <a:spcPts val="600"/>
              </a:spcBef>
              <a:buFont typeface="Wingdings" panose="05000000000000000000" pitchFamily="2" charset="2"/>
              <a:buChar char="§"/>
            </a:pPr>
            <a:r>
              <a:rPr lang="en-US" sz="2000" dirty="0" err="1"/>
              <a:t>DDR5</a:t>
            </a:r>
            <a:r>
              <a:rPr lang="en-US" sz="2000" dirty="0"/>
              <a:t> 	(in </a:t>
            </a:r>
            <a:r>
              <a:rPr lang="en-US" sz="2000" dirty="0" err="1"/>
              <a:t>Q3</a:t>
            </a:r>
            <a:r>
              <a:rPr lang="en-US" sz="2000" dirty="0"/>
              <a:t> 2021)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>
            <a:noAutofit/>
          </a:bodyPr>
          <a:lstStyle/>
          <a:p>
            <a:pPr algn="r">
              <a:defRPr/>
            </a:pPr>
            <a:fld id="{F7EC234A-9094-4BB8-9EA4-75ECDA8A365B}" type="slidenum">
              <a:rPr smtClean="0"/>
              <a:pPr algn="r">
                <a:defRPr/>
              </a:pPr>
              <a:t>3</a:t>
            </a:fld>
            <a:endParaRPr dirty="0"/>
          </a:p>
        </p:txBody>
      </p:sp>
      <p:pic>
        <p:nvPicPr>
          <p:cNvPr id="132" name="Picture 3">
            <a:extLst>
              <a:ext uri="{FF2B5EF4-FFF2-40B4-BE49-F238E27FC236}">
                <a16:creationId xmlns:a16="http://schemas.microsoft.com/office/drawing/2014/main" id="{0534EE82-E2DD-4AF8-93FD-740AC2B71C7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6667042" y="1346417"/>
            <a:ext cx="2133600" cy="1282980"/>
          </a:xfrm>
          <a:prstGeom prst="rect">
            <a:avLst/>
          </a:prstGeom>
          <a:noFill/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</p:spPr>
      </p:pic>
      <p:sp>
        <p:nvSpPr>
          <p:cNvPr id="2" name="[Date Placeholder 3]">
            <a:extLst>
              <a:ext uri="{FF2B5EF4-FFF2-40B4-BE49-F238E27FC236}">
                <a16:creationId xmlns:a16="http://schemas.microsoft.com/office/drawing/2014/main" id="{A461448E-2360-7FC8-EBB0-E2D0AFBD95C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599238"/>
            <a:ext cx="1828800" cy="258762"/>
          </a:xfrm>
        </p:spPr>
        <p:txBody>
          <a:bodyPr/>
          <a:lstStyle/>
          <a:p>
            <a:pPr>
              <a:defRPr/>
            </a:pPr>
            <a:r>
              <a:rPr lang="en-US"/>
              <a:t>Aaron Tan, NUS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7318491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8" name="Rectangle 2"/>
          <p:cNvSpPr>
            <a:spLocks noGrp="1" noChangeArrowheads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1976438" indent="-1976438"/>
            <a:r>
              <a:rPr lang="en-GB" sz="3600" dirty="0"/>
              <a:t>DRAM Capacity Growth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>
            <a:noAutofit/>
          </a:bodyPr>
          <a:lstStyle/>
          <a:p>
            <a:pPr algn="r">
              <a:defRPr/>
            </a:pPr>
            <a:fld id="{F7EC234A-9094-4BB8-9EA4-75ECDA8A365B}" type="slidenum">
              <a:rPr smtClean="0"/>
              <a:pPr algn="r">
                <a:defRPr/>
              </a:pPr>
              <a:t>4</a:t>
            </a:fld>
            <a:endParaRPr dirty="0"/>
          </a:p>
        </p:txBody>
      </p:sp>
      <p:sp>
        <p:nvSpPr>
          <p:cNvPr id="9" name="Rectangle 6">
            <a:extLst>
              <a:ext uri="{FF2B5EF4-FFF2-40B4-BE49-F238E27FC236}">
                <a16:creationId xmlns:a16="http://schemas.microsoft.com/office/drawing/2014/main" id="{18CBFC40-5244-4DAC-B9B7-E514CFAA3D26}"/>
              </a:ext>
            </a:extLst>
          </p:cNvPr>
          <p:cNvSpPr txBox="1">
            <a:spLocks noChangeArrowheads="1"/>
          </p:cNvSpPr>
          <p:nvPr/>
        </p:nvSpPr>
        <p:spPr>
          <a:xfrm>
            <a:off x="478564" y="4851617"/>
            <a:ext cx="8229600" cy="924150"/>
          </a:xfrm>
          <a:prstGeom prst="rect">
            <a:avLst/>
          </a:prstGeom>
        </p:spPr>
        <p:txBody>
          <a:bodyPr/>
          <a:lstStyle>
            <a:lvl1pPr marL="182880" indent="-18288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SzPct val="85000"/>
              <a:buFont typeface="Arial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-18288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SzPct val="85000"/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31520" indent="-18288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SzPct val="90000"/>
              <a:buFont typeface="Arial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5840" indent="-18288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Font typeface="Arial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188720" indent="-13716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SzPct val="100000"/>
              <a:buFont typeface="Arial" pitchFamily="34" charset="0"/>
              <a:buChar char="•"/>
              <a:defRPr sz="14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371600" indent="-18288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Font typeface="Arial" pitchFamily="34" charset="0"/>
              <a:buChar char="•"/>
              <a:defRPr sz="13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554480" indent="-18288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Font typeface="Arial" pitchFamily="34" charset="0"/>
              <a:buChar char="•"/>
              <a:defRPr sz="13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737360" indent="-18288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Font typeface="Arial" pitchFamily="34" charset="0"/>
              <a:buChar char="•"/>
              <a:defRPr sz="13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920240" indent="-18288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Font typeface="Arial" pitchFamily="34" charset="0"/>
              <a:buChar char="•"/>
              <a:defRPr sz="13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66700" indent="-266700" fontAlgn="auto">
              <a:spcAft>
                <a:spcPts val="0"/>
              </a:spcAft>
              <a:buSzPct val="100000"/>
              <a:buFont typeface="Wingdings" panose="05000000000000000000" pitchFamily="2" charset="2"/>
              <a:buChar char="§"/>
            </a:pPr>
            <a:r>
              <a:rPr lang="en-US" dirty="0"/>
              <a:t>Unprecedented growth in density, but we still have a problem</a:t>
            </a:r>
          </a:p>
          <a:p>
            <a:pPr fontAlgn="auto">
              <a:spcAft>
                <a:spcPts val="0"/>
              </a:spcAft>
            </a:pPr>
            <a:endParaRPr lang="en-US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2DFDA933-F474-4B98-9DD8-877B6C3C6FF3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69" r="2111"/>
          <a:stretch/>
        </p:blipFill>
        <p:spPr>
          <a:xfrm>
            <a:off x="457200" y="1422617"/>
            <a:ext cx="3913974" cy="3086100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1A199993-E5F2-465F-BCDF-9CE3939B2C7B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272" r="13656"/>
          <a:stretch/>
        </p:blipFill>
        <p:spPr>
          <a:xfrm>
            <a:off x="4534256" y="1346417"/>
            <a:ext cx="3733800" cy="3162300"/>
          </a:xfrm>
          <a:prstGeom prst="rect">
            <a:avLst/>
          </a:prstGeom>
        </p:spPr>
      </p:pic>
      <p:sp>
        <p:nvSpPr>
          <p:cNvPr id="3" name="[Date Placeholder 3]">
            <a:extLst>
              <a:ext uri="{FF2B5EF4-FFF2-40B4-BE49-F238E27FC236}">
                <a16:creationId xmlns:a16="http://schemas.microsoft.com/office/drawing/2014/main" id="{9685CA83-8E44-9A6B-59CF-0D3894B6811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599238"/>
            <a:ext cx="1828800" cy="258762"/>
          </a:xfrm>
        </p:spPr>
        <p:txBody>
          <a:bodyPr/>
          <a:lstStyle/>
          <a:p>
            <a:pPr>
              <a:defRPr/>
            </a:pPr>
            <a:r>
              <a:rPr lang="en-US"/>
              <a:t>Aaron Tan, NUS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7432476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8" name="Rectangle 2"/>
          <p:cNvSpPr>
            <a:spLocks noGrp="1" noChangeArrowheads="1"/>
          </p:cNvSpPr>
          <p:nvPr>
            <p:ph type="title"/>
          </p:nvPr>
        </p:nvSpPr>
        <p:spPr/>
        <p:txBody>
          <a:bodyPr numCol="1">
            <a:normAutofit/>
          </a:bodyPr>
          <a:lstStyle/>
          <a:p>
            <a:pPr marL="1976438" indent="-1976438"/>
            <a:r>
              <a:rPr lang="en-GB" sz="3600" dirty="0"/>
              <a:t>Processor-DRAM Performance Gap</a:t>
            </a:r>
          </a:p>
        </p:txBody>
      </p:sp>
      <p:sp>
        <p:nvSpPr>
          <p:cNvPr id="12" name="[Date Placeholder 3]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Aaron Tan, NUS</a:t>
            </a:r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>
            <a:noAutofit/>
          </a:bodyPr>
          <a:lstStyle/>
          <a:p>
            <a:pPr algn="r">
              <a:defRPr/>
            </a:pPr>
            <a:fld id="{F7EC234A-9094-4BB8-9EA4-75ECDA8A365B}" type="slidenum">
              <a:rPr smtClean="0"/>
              <a:pPr algn="r">
                <a:defRPr/>
              </a:pPr>
              <a:t>5</a:t>
            </a:fld>
            <a:endParaRPr dirty="0"/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D3C10BC6-CB35-45D0-BD04-E7283B9A58C7}"/>
              </a:ext>
            </a:extLst>
          </p:cNvPr>
          <p:cNvGrpSpPr/>
          <p:nvPr/>
        </p:nvGrpSpPr>
        <p:grpSpPr>
          <a:xfrm>
            <a:off x="517525" y="2638425"/>
            <a:ext cx="7788275" cy="3838575"/>
            <a:chOff x="381000" y="2508250"/>
            <a:chExt cx="7788275" cy="3838575"/>
          </a:xfrm>
        </p:grpSpPr>
        <p:sp>
          <p:nvSpPr>
            <p:cNvPr id="14" name="Line 6">
              <a:extLst>
                <a:ext uri="{FF2B5EF4-FFF2-40B4-BE49-F238E27FC236}">
                  <a16:creationId xmlns:a16="http://schemas.microsoft.com/office/drawing/2014/main" id="{A61327C3-BE53-4F05-AFEA-A9CCFB92701F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619250" y="46974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5" name="Line 7">
              <a:extLst>
                <a:ext uri="{FF2B5EF4-FFF2-40B4-BE49-F238E27FC236}">
                  <a16:creationId xmlns:a16="http://schemas.microsoft.com/office/drawing/2014/main" id="{170AFC52-211F-4086-8B26-D9A18D10B982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695450" y="46974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6" name="Line 8">
              <a:extLst>
                <a:ext uri="{FF2B5EF4-FFF2-40B4-BE49-F238E27FC236}">
                  <a16:creationId xmlns:a16="http://schemas.microsoft.com/office/drawing/2014/main" id="{4B8ED799-F786-4668-9694-D1E10E25FAC0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771650" y="46974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7" name="Line 9">
              <a:extLst>
                <a:ext uri="{FF2B5EF4-FFF2-40B4-BE49-F238E27FC236}">
                  <a16:creationId xmlns:a16="http://schemas.microsoft.com/office/drawing/2014/main" id="{63E17059-7002-4642-AF5D-41929A3BC48D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847850" y="46974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8" name="Line 10">
              <a:extLst>
                <a:ext uri="{FF2B5EF4-FFF2-40B4-BE49-F238E27FC236}">
                  <a16:creationId xmlns:a16="http://schemas.microsoft.com/office/drawing/2014/main" id="{25AA933A-AD9A-4DDC-89F9-55F2FE8BACD6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924050" y="46974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9" name="Line 11">
              <a:extLst>
                <a:ext uri="{FF2B5EF4-FFF2-40B4-BE49-F238E27FC236}">
                  <a16:creationId xmlns:a16="http://schemas.microsoft.com/office/drawing/2014/main" id="{239BE144-6948-426F-B94D-7F64EFAFBFC4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000250" y="46974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20" name="Line 12">
              <a:extLst>
                <a:ext uri="{FF2B5EF4-FFF2-40B4-BE49-F238E27FC236}">
                  <a16:creationId xmlns:a16="http://schemas.microsoft.com/office/drawing/2014/main" id="{E0CAA776-7FF1-4333-85E4-3DE8E8F13780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076450" y="46974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21" name="Line 13">
              <a:extLst>
                <a:ext uri="{FF2B5EF4-FFF2-40B4-BE49-F238E27FC236}">
                  <a16:creationId xmlns:a16="http://schemas.microsoft.com/office/drawing/2014/main" id="{421599EB-DD60-42A0-B9A2-8C8A367C468D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152650" y="46974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22" name="Line 14">
              <a:extLst>
                <a:ext uri="{FF2B5EF4-FFF2-40B4-BE49-F238E27FC236}">
                  <a16:creationId xmlns:a16="http://schemas.microsoft.com/office/drawing/2014/main" id="{2E9C8672-7B98-4706-8FFA-6264B8E25421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228850" y="46974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23" name="Line 15">
              <a:extLst>
                <a:ext uri="{FF2B5EF4-FFF2-40B4-BE49-F238E27FC236}">
                  <a16:creationId xmlns:a16="http://schemas.microsoft.com/office/drawing/2014/main" id="{DFC75CEF-579B-43B6-83A7-73A27C64927F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305050" y="46974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24" name="Line 16">
              <a:extLst>
                <a:ext uri="{FF2B5EF4-FFF2-40B4-BE49-F238E27FC236}">
                  <a16:creationId xmlns:a16="http://schemas.microsoft.com/office/drawing/2014/main" id="{3AA12DBC-323D-4B7B-9713-8278EB3E483A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381250" y="46974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25" name="Line 17">
              <a:extLst>
                <a:ext uri="{FF2B5EF4-FFF2-40B4-BE49-F238E27FC236}">
                  <a16:creationId xmlns:a16="http://schemas.microsoft.com/office/drawing/2014/main" id="{06755E6A-EC6C-41B0-89D4-E77228D64813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457450" y="46974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26" name="Line 18">
              <a:extLst>
                <a:ext uri="{FF2B5EF4-FFF2-40B4-BE49-F238E27FC236}">
                  <a16:creationId xmlns:a16="http://schemas.microsoft.com/office/drawing/2014/main" id="{E44172BC-D6CA-4286-9696-927B6A20D206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533650" y="46974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27" name="Line 19">
              <a:extLst>
                <a:ext uri="{FF2B5EF4-FFF2-40B4-BE49-F238E27FC236}">
                  <a16:creationId xmlns:a16="http://schemas.microsoft.com/office/drawing/2014/main" id="{A21F942B-6BBD-432D-B3B0-ACE4D3C094C0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609850" y="46974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28" name="Line 20">
              <a:extLst>
                <a:ext uri="{FF2B5EF4-FFF2-40B4-BE49-F238E27FC236}">
                  <a16:creationId xmlns:a16="http://schemas.microsoft.com/office/drawing/2014/main" id="{763074B7-2F34-4BC6-B613-568FC3C5E192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686050" y="46974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29" name="Line 21">
              <a:extLst>
                <a:ext uri="{FF2B5EF4-FFF2-40B4-BE49-F238E27FC236}">
                  <a16:creationId xmlns:a16="http://schemas.microsoft.com/office/drawing/2014/main" id="{06C6DFE3-BBD6-4930-B72C-30F9E95679DA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762250" y="46974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30" name="Line 22">
              <a:extLst>
                <a:ext uri="{FF2B5EF4-FFF2-40B4-BE49-F238E27FC236}">
                  <a16:creationId xmlns:a16="http://schemas.microsoft.com/office/drawing/2014/main" id="{6D785C6C-8899-46D3-90E0-22CA61BFBE58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838450" y="46974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31" name="Line 23">
              <a:extLst>
                <a:ext uri="{FF2B5EF4-FFF2-40B4-BE49-F238E27FC236}">
                  <a16:creationId xmlns:a16="http://schemas.microsoft.com/office/drawing/2014/main" id="{1A6383AE-9523-4988-A3CE-8543B66220A7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914650" y="46974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32" name="Line 24">
              <a:extLst>
                <a:ext uri="{FF2B5EF4-FFF2-40B4-BE49-F238E27FC236}">
                  <a16:creationId xmlns:a16="http://schemas.microsoft.com/office/drawing/2014/main" id="{D4DF871B-0E73-48FD-BBAE-CAB0255EC02C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990850" y="46974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33" name="Line 25">
              <a:extLst>
                <a:ext uri="{FF2B5EF4-FFF2-40B4-BE49-F238E27FC236}">
                  <a16:creationId xmlns:a16="http://schemas.microsoft.com/office/drawing/2014/main" id="{8D1B2E36-1B29-41CC-8FC0-31A51E1411A8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067050" y="46974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34" name="Line 26">
              <a:extLst>
                <a:ext uri="{FF2B5EF4-FFF2-40B4-BE49-F238E27FC236}">
                  <a16:creationId xmlns:a16="http://schemas.microsoft.com/office/drawing/2014/main" id="{847C32F8-774B-46D5-8759-AC6B9D7FFBF4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143250" y="46974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35" name="Line 27">
              <a:extLst>
                <a:ext uri="{FF2B5EF4-FFF2-40B4-BE49-F238E27FC236}">
                  <a16:creationId xmlns:a16="http://schemas.microsoft.com/office/drawing/2014/main" id="{8BCB9151-D420-4F65-B632-8F30D58260AE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219450" y="46974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36" name="Line 28">
              <a:extLst>
                <a:ext uri="{FF2B5EF4-FFF2-40B4-BE49-F238E27FC236}">
                  <a16:creationId xmlns:a16="http://schemas.microsoft.com/office/drawing/2014/main" id="{E4D67066-1C1F-4715-9497-4ECEE90BD03C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295650" y="46974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37" name="Line 29">
              <a:extLst>
                <a:ext uri="{FF2B5EF4-FFF2-40B4-BE49-F238E27FC236}">
                  <a16:creationId xmlns:a16="http://schemas.microsoft.com/office/drawing/2014/main" id="{81D4A677-6EEF-4A32-86A1-C3F2CA490135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371850" y="46974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38" name="Line 30">
              <a:extLst>
                <a:ext uri="{FF2B5EF4-FFF2-40B4-BE49-F238E27FC236}">
                  <a16:creationId xmlns:a16="http://schemas.microsoft.com/office/drawing/2014/main" id="{DC8818EE-A16E-45B6-9243-173CFFD62459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448050" y="46974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39" name="Line 31">
              <a:extLst>
                <a:ext uri="{FF2B5EF4-FFF2-40B4-BE49-F238E27FC236}">
                  <a16:creationId xmlns:a16="http://schemas.microsoft.com/office/drawing/2014/main" id="{19408B95-14C0-4A63-9DA0-34CC49CF626C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524250" y="46974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40" name="Line 32">
              <a:extLst>
                <a:ext uri="{FF2B5EF4-FFF2-40B4-BE49-F238E27FC236}">
                  <a16:creationId xmlns:a16="http://schemas.microsoft.com/office/drawing/2014/main" id="{2217EB0D-2629-4216-847E-BE3F44F788BB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600450" y="46974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41" name="Line 33">
              <a:extLst>
                <a:ext uri="{FF2B5EF4-FFF2-40B4-BE49-F238E27FC236}">
                  <a16:creationId xmlns:a16="http://schemas.microsoft.com/office/drawing/2014/main" id="{BD687E1D-7703-4AB9-A65D-CD2EB4DBF7C6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676650" y="46974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42" name="Line 34">
              <a:extLst>
                <a:ext uri="{FF2B5EF4-FFF2-40B4-BE49-F238E27FC236}">
                  <a16:creationId xmlns:a16="http://schemas.microsoft.com/office/drawing/2014/main" id="{038C870C-230F-41CE-87ED-8CF376426AD4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752850" y="46974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43" name="Line 35">
              <a:extLst>
                <a:ext uri="{FF2B5EF4-FFF2-40B4-BE49-F238E27FC236}">
                  <a16:creationId xmlns:a16="http://schemas.microsoft.com/office/drawing/2014/main" id="{AEA7203B-EA90-4CBE-9A1A-F4950D82A8B5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829050" y="46974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44" name="Line 36">
              <a:extLst>
                <a:ext uri="{FF2B5EF4-FFF2-40B4-BE49-F238E27FC236}">
                  <a16:creationId xmlns:a16="http://schemas.microsoft.com/office/drawing/2014/main" id="{A4ADB50A-CC02-40FD-BC17-1B821CB13263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905250" y="46974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45" name="Line 37">
              <a:extLst>
                <a:ext uri="{FF2B5EF4-FFF2-40B4-BE49-F238E27FC236}">
                  <a16:creationId xmlns:a16="http://schemas.microsoft.com/office/drawing/2014/main" id="{334E1CA2-801A-429D-9D99-BD6B273478A6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981450" y="46974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46" name="Line 38">
              <a:extLst>
                <a:ext uri="{FF2B5EF4-FFF2-40B4-BE49-F238E27FC236}">
                  <a16:creationId xmlns:a16="http://schemas.microsoft.com/office/drawing/2014/main" id="{2BB9BB1C-D71B-4A93-83D5-5BAF32632CF8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057650" y="46974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47" name="Line 39">
              <a:extLst>
                <a:ext uri="{FF2B5EF4-FFF2-40B4-BE49-F238E27FC236}">
                  <a16:creationId xmlns:a16="http://schemas.microsoft.com/office/drawing/2014/main" id="{E48B5BD6-C184-4376-8377-86E1E06B6E25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133850" y="46974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48" name="Line 40">
              <a:extLst>
                <a:ext uri="{FF2B5EF4-FFF2-40B4-BE49-F238E27FC236}">
                  <a16:creationId xmlns:a16="http://schemas.microsoft.com/office/drawing/2014/main" id="{2BB4AF21-0110-4AA6-A95F-FD4FA6C69617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210050" y="46974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49" name="Line 41">
              <a:extLst>
                <a:ext uri="{FF2B5EF4-FFF2-40B4-BE49-F238E27FC236}">
                  <a16:creationId xmlns:a16="http://schemas.microsoft.com/office/drawing/2014/main" id="{15A3982F-3075-443F-8FC6-97B59AD6234D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286250" y="46974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50" name="Line 42">
              <a:extLst>
                <a:ext uri="{FF2B5EF4-FFF2-40B4-BE49-F238E27FC236}">
                  <a16:creationId xmlns:a16="http://schemas.microsoft.com/office/drawing/2014/main" id="{67BF532A-90A7-422D-A434-75042D9208B5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362450" y="46974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51" name="Line 43">
              <a:extLst>
                <a:ext uri="{FF2B5EF4-FFF2-40B4-BE49-F238E27FC236}">
                  <a16:creationId xmlns:a16="http://schemas.microsoft.com/office/drawing/2014/main" id="{CF56464D-BED2-4734-944F-EC2B1826C17F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438650" y="46974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52" name="Line 44">
              <a:extLst>
                <a:ext uri="{FF2B5EF4-FFF2-40B4-BE49-F238E27FC236}">
                  <a16:creationId xmlns:a16="http://schemas.microsoft.com/office/drawing/2014/main" id="{41FB4526-2F9F-452E-A95B-671DBA91E4AE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514850" y="46974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53" name="Line 45">
              <a:extLst>
                <a:ext uri="{FF2B5EF4-FFF2-40B4-BE49-F238E27FC236}">
                  <a16:creationId xmlns:a16="http://schemas.microsoft.com/office/drawing/2014/main" id="{8BA3A87D-8C0E-41CC-8F4B-1A798D50CC45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591050" y="46974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54" name="Line 46">
              <a:extLst>
                <a:ext uri="{FF2B5EF4-FFF2-40B4-BE49-F238E27FC236}">
                  <a16:creationId xmlns:a16="http://schemas.microsoft.com/office/drawing/2014/main" id="{4CE3353C-033B-4C45-88CC-F74335D0D191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667250" y="46974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55" name="Line 47">
              <a:extLst>
                <a:ext uri="{FF2B5EF4-FFF2-40B4-BE49-F238E27FC236}">
                  <a16:creationId xmlns:a16="http://schemas.microsoft.com/office/drawing/2014/main" id="{336EDC78-27EA-4162-9041-A46CB7FFA9DF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743450" y="46974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56" name="Line 48">
              <a:extLst>
                <a:ext uri="{FF2B5EF4-FFF2-40B4-BE49-F238E27FC236}">
                  <a16:creationId xmlns:a16="http://schemas.microsoft.com/office/drawing/2014/main" id="{286AD14A-60E5-4157-B488-D28654524A09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819650" y="46974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57" name="Line 49">
              <a:extLst>
                <a:ext uri="{FF2B5EF4-FFF2-40B4-BE49-F238E27FC236}">
                  <a16:creationId xmlns:a16="http://schemas.microsoft.com/office/drawing/2014/main" id="{934BFA3A-5D9B-4C48-B5CF-3C2AF63CFE4C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895850" y="46974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58" name="Line 50">
              <a:extLst>
                <a:ext uri="{FF2B5EF4-FFF2-40B4-BE49-F238E27FC236}">
                  <a16:creationId xmlns:a16="http://schemas.microsoft.com/office/drawing/2014/main" id="{F65B0C02-793B-4464-81DB-62A7F78546E5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972050" y="46974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59" name="Line 51">
              <a:extLst>
                <a:ext uri="{FF2B5EF4-FFF2-40B4-BE49-F238E27FC236}">
                  <a16:creationId xmlns:a16="http://schemas.microsoft.com/office/drawing/2014/main" id="{B4DC33CA-7C24-41F5-AF5E-C4A61E38A8FE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5048250" y="46974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60" name="Line 52">
              <a:extLst>
                <a:ext uri="{FF2B5EF4-FFF2-40B4-BE49-F238E27FC236}">
                  <a16:creationId xmlns:a16="http://schemas.microsoft.com/office/drawing/2014/main" id="{69E014D3-645A-4EB8-89F9-3B2F34268C84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5124450" y="46974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61" name="Line 53">
              <a:extLst>
                <a:ext uri="{FF2B5EF4-FFF2-40B4-BE49-F238E27FC236}">
                  <a16:creationId xmlns:a16="http://schemas.microsoft.com/office/drawing/2014/main" id="{694685A1-48CE-4F25-8900-A21A99807FDF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5200650" y="46974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62" name="Line 54">
              <a:extLst>
                <a:ext uri="{FF2B5EF4-FFF2-40B4-BE49-F238E27FC236}">
                  <a16:creationId xmlns:a16="http://schemas.microsoft.com/office/drawing/2014/main" id="{42DC803C-1949-4148-82E0-10C912EC5638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5276850" y="46974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63" name="Line 55">
              <a:extLst>
                <a:ext uri="{FF2B5EF4-FFF2-40B4-BE49-F238E27FC236}">
                  <a16:creationId xmlns:a16="http://schemas.microsoft.com/office/drawing/2014/main" id="{E71E9950-43DD-4463-8DBC-5C7000B41AEC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5353050" y="46974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64" name="Line 56">
              <a:extLst>
                <a:ext uri="{FF2B5EF4-FFF2-40B4-BE49-F238E27FC236}">
                  <a16:creationId xmlns:a16="http://schemas.microsoft.com/office/drawing/2014/main" id="{9C6E2030-5CF5-410D-BFA7-6F9353154DC3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5429250" y="46974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65" name="Line 57">
              <a:extLst>
                <a:ext uri="{FF2B5EF4-FFF2-40B4-BE49-F238E27FC236}">
                  <a16:creationId xmlns:a16="http://schemas.microsoft.com/office/drawing/2014/main" id="{A43D392C-7DA0-4A4F-8EBA-E5B3EF34CFA1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5505450" y="46974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66" name="Line 58">
              <a:extLst>
                <a:ext uri="{FF2B5EF4-FFF2-40B4-BE49-F238E27FC236}">
                  <a16:creationId xmlns:a16="http://schemas.microsoft.com/office/drawing/2014/main" id="{41C9CF1A-3239-45A2-80A1-F05EF931F5CB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5581650" y="46974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67" name="Line 59">
              <a:extLst>
                <a:ext uri="{FF2B5EF4-FFF2-40B4-BE49-F238E27FC236}">
                  <a16:creationId xmlns:a16="http://schemas.microsoft.com/office/drawing/2014/main" id="{D73D5DE2-F5FE-4D6C-AADF-E175CFF9267D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5657850" y="46974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68" name="Line 60">
              <a:extLst>
                <a:ext uri="{FF2B5EF4-FFF2-40B4-BE49-F238E27FC236}">
                  <a16:creationId xmlns:a16="http://schemas.microsoft.com/office/drawing/2014/main" id="{E8845E85-016E-4E7D-A684-38D47889DB71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5734050" y="46974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69" name="Line 61">
              <a:extLst>
                <a:ext uri="{FF2B5EF4-FFF2-40B4-BE49-F238E27FC236}">
                  <a16:creationId xmlns:a16="http://schemas.microsoft.com/office/drawing/2014/main" id="{98BB8395-85D5-4025-8B6D-443D5F773BD0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5810250" y="46974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70" name="Line 62">
              <a:extLst>
                <a:ext uri="{FF2B5EF4-FFF2-40B4-BE49-F238E27FC236}">
                  <a16:creationId xmlns:a16="http://schemas.microsoft.com/office/drawing/2014/main" id="{7DCD46AE-A970-41B7-9306-8DE9F4653161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5886450" y="46974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71" name="Line 63">
              <a:extLst>
                <a:ext uri="{FF2B5EF4-FFF2-40B4-BE49-F238E27FC236}">
                  <a16:creationId xmlns:a16="http://schemas.microsoft.com/office/drawing/2014/main" id="{EE00207A-6028-43B3-98A1-437157935D34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5962650" y="46974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72" name="Line 64">
              <a:extLst>
                <a:ext uri="{FF2B5EF4-FFF2-40B4-BE49-F238E27FC236}">
                  <a16:creationId xmlns:a16="http://schemas.microsoft.com/office/drawing/2014/main" id="{955DC0AE-3E7D-4E2A-A1A2-077EBB9EDA70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6038850" y="46974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73" name="Line 65">
              <a:extLst>
                <a:ext uri="{FF2B5EF4-FFF2-40B4-BE49-F238E27FC236}">
                  <a16:creationId xmlns:a16="http://schemas.microsoft.com/office/drawing/2014/main" id="{8C012CF7-6530-48E8-8F66-A9EC8C5D1AC4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6115050" y="46974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74" name="Line 66">
              <a:extLst>
                <a:ext uri="{FF2B5EF4-FFF2-40B4-BE49-F238E27FC236}">
                  <a16:creationId xmlns:a16="http://schemas.microsoft.com/office/drawing/2014/main" id="{046AB74C-0FB4-472F-86C8-1C6B1ABCD4B0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6191250" y="46974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75" name="Line 67">
              <a:extLst>
                <a:ext uri="{FF2B5EF4-FFF2-40B4-BE49-F238E27FC236}">
                  <a16:creationId xmlns:a16="http://schemas.microsoft.com/office/drawing/2014/main" id="{CF6F637D-C7C2-4CA0-A416-46E88FC5A8E6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6267450" y="46974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76" name="Line 68">
              <a:extLst>
                <a:ext uri="{FF2B5EF4-FFF2-40B4-BE49-F238E27FC236}">
                  <a16:creationId xmlns:a16="http://schemas.microsoft.com/office/drawing/2014/main" id="{6B7EA82D-9FB0-4085-B3DC-F5DE79C8370F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6343650" y="46974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77" name="Line 69">
              <a:extLst>
                <a:ext uri="{FF2B5EF4-FFF2-40B4-BE49-F238E27FC236}">
                  <a16:creationId xmlns:a16="http://schemas.microsoft.com/office/drawing/2014/main" id="{5C60E65B-1DED-4070-8CBF-7AB0DDFDA42B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6419850" y="46974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78" name="Line 70">
              <a:extLst>
                <a:ext uri="{FF2B5EF4-FFF2-40B4-BE49-F238E27FC236}">
                  <a16:creationId xmlns:a16="http://schemas.microsoft.com/office/drawing/2014/main" id="{C33C345F-77A7-41DF-8387-2197A7CA927F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6496050" y="46974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79" name="Line 71">
              <a:extLst>
                <a:ext uri="{FF2B5EF4-FFF2-40B4-BE49-F238E27FC236}">
                  <a16:creationId xmlns:a16="http://schemas.microsoft.com/office/drawing/2014/main" id="{064CF086-5873-4B6E-93B7-6B8850D159A2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6572250" y="46974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80" name="Line 72">
              <a:extLst>
                <a:ext uri="{FF2B5EF4-FFF2-40B4-BE49-F238E27FC236}">
                  <a16:creationId xmlns:a16="http://schemas.microsoft.com/office/drawing/2014/main" id="{8E9017CE-BC81-4A66-B362-FCD7AA10F959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6648450" y="46974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81" name="Line 73">
              <a:extLst>
                <a:ext uri="{FF2B5EF4-FFF2-40B4-BE49-F238E27FC236}">
                  <a16:creationId xmlns:a16="http://schemas.microsoft.com/office/drawing/2014/main" id="{D8F81905-F934-4F49-A923-602F001D05B0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6724650" y="46974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82" name="Line 74">
              <a:extLst>
                <a:ext uri="{FF2B5EF4-FFF2-40B4-BE49-F238E27FC236}">
                  <a16:creationId xmlns:a16="http://schemas.microsoft.com/office/drawing/2014/main" id="{0F32A124-2B7C-4D65-9D09-FB8FBC5A3CA0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6800850" y="46974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83" name="Line 75">
              <a:extLst>
                <a:ext uri="{FF2B5EF4-FFF2-40B4-BE49-F238E27FC236}">
                  <a16:creationId xmlns:a16="http://schemas.microsoft.com/office/drawing/2014/main" id="{83EAD75C-9782-4246-A3A9-DCFE88247C2B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619250" y="37322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84" name="Line 76">
              <a:extLst>
                <a:ext uri="{FF2B5EF4-FFF2-40B4-BE49-F238E27FC236}">
                  <a16:creationId xmlns:a16="http://schemas.microsoft.com/office/drawing/2014/main" id="{2A57A562-DEE4-440F-8D3C-3789D6961199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695450" y="37322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85" name="Line 77">
              <a:extLst>
                <a:ext uri="{FF2B5EF4-FFF2-40B4-BE49-F238E27FC236}">
                  <a16:creationId xmlns:a16="http://schemas.microsoft.com/office/drawing/2014/main" id="{391161A5-6053-4AEE-8B34-B6ECE618D7CE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771650" y="37322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86" name="Line 78">
              <a:extLst>
                <a:ext uri="{FF2B5EF4-FFF2-40B4-BE49-F238E27FC236}">
                  <a16:creationId xmlns:a16="http://schemas.microsoft.com/office/drawing/2014/main" id="{3EBCDBA8-F4F0-496D-94D4-7B22DEFAD558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847850" y="37322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87" name="Line 79">
              <a:extLst>
                <a:ext uri="{FF2B5EF4-FFF2-40B4-BE49-F238E27FC236}">
                  <a16:creationId xmlns:a16="http://schemas.microsoft.com/office/drawing/2014/main" id="{F87C45C1-3190-4123-B09E-031B6D2B5E15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924050" y="37322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88" name="Line 80">
              <a:extLst>
                <a:ext uri="{FF2B5EF4-FFF2-40B4-BE49-F238E27FC236}">
                  <a16:creationId xmlns:a16="http://schemas.microsoft.com/office/drawing/2014/main" id="{2669BD23-16D5-4E9A-9B15-04681AD15098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000250" y="37322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89" name="Line 81">
              <a:extLst>
                <a:ext uri="{FF2B5EF4-FFF2-40B4-BE49-F238E27FC236}">
                  <a16:creationId xmlns:a16="http://schemas.microsoft.com/office/drawing/2014/main" id="{4C3639FF-6E48-4CCE-A66F-383EAB40FC80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076450" y="37322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90" name="Line 82">
              <a:extLst>
                <a:ext uri="{FF2B5EF4-FFF2-40B4-BE49-F238E27FC236}">
                  <a16:creationId xmlns:a16="http://schemas.microsoft.com/office/drawing/2014/main" id="{8683791F-0907-4D11-9491-525A5EDA8444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152650" y="37322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91" name="Line 83">
              <a:extLst>
                <a:ext uri="{FF2B5EF4-FFF2-40B4-BE49-F238E27FC236}">
                  <a16:creationId xmlns:a16="http://schemas.microsoft.com/office/drawing/2014/main" id="{6B67F224-1330-41F2-AE8A-FFB57CDF3D43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228850" y="37322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92" name="Line 84">
              <a:extLst>
                <a:ext uri="{FF2B5EF4-FFF2-40B4-BE49-F238E27FC236}">
                  <a16:creationId xmlns:a16="http://schemas.microsoft.com/office/drawing/2014/main" id="{6B4855AB-A0B7-4FFC-9320-900E4BEF4CF9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305050" y="37322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93" name="Line 85">
              <a:extLst>
                <a:ext uri="{FF2B5EF4-FFF2-40B4-BE49-F238E27FC236}">
                  <a16:creationId xmlns:a16="http://schemas.microsoft.com/office/drawing/2014/main" id="{C06FEBEA-1251-4DA3-BAE6-5893F3FA32AD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381250" y="37322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94" name="Line 86">
              <a:extLst>
                <a:ext uri="{FF2B5EF4-FFF2-40B4-BE49-F238E27FC236}">
                  <a16:creationId xmlns:a16="http://schemas.microsoft.com/office/drawing/2014/main" id="{0086E9FC-135C-408E-BBA9-0DAB122DDE52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457450" y="37322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95" name="Line 87">
              <a:extLst>
                <a:ext uri="{FF2B5EF4-FFF2-40B4-BE49-F238E27FC236}">
                  <a16:creationId xmlns:a16="http://schemas.microsoft.com/office/drawing/2014/main" id="{0B3B65F7-FF29-4BEB-B975-ADE3E51818CF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533650" y="37322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96" name="Line 88">
              <a:extLst>
                <a:ext uri="{FF2B5EF4-FFF2-40B4-BE49-F238E27FC236}">
                  <a16:creationId xmlns:a16="http://schemas.microsoft.com/office/drawing/2014/main" id="{70DA8896-4303-49C8-BBA6-70FB46456D2A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609850" y="37322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97" name="Line 89">
              <a:extLst>
                <a:ext uri="{FF2B5EF4-FFF2-40B4-BE49-F238E27FC236}">
                  <a16:creationId xmlns:a16="http://schemas.microsoft.com/office/drawing/2014/main" id="{B8746ABA-9147-42EC-AD5F-6AE9560D409A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686050" y="37322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98" name="Line 90">
              <a:extLst>
                <a:ext uri="{FF2B5EF4-FFF2-40B4-BE49-F238E27FC236}">
                  <a16:creationId xmlns:a16="http://schemas.microsoft.com/office/drawing/2014/main" id="{F8FA64B1-8E80-42AC-96C8-2DE2D1C71B63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762250" y="37322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99" name="Line 91">
              <a:extLst>
                <a:ext uri="{FF2B5EF4-FFF2-40B4-BE49-F238E27FC236}">
                  <a16:creationId xmlns:a16="http://schemas.microsoft.com/office/drawing/2014/main" id="{1206D68B-2BD3-49F4-B5F5-E3F7ED696E52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838450" y="37322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00" name="Line 92">
              <a:extLst>
                <a:ext uri="{FF2B5EF4-FFF2-40B4-BE49-F238E27FC236}">
                  <a16:creationId xmlns:a16="http://schemas.microsoft.com/office/drawing/2014/main" id="{16BC8530-EB96-42AC-9586-95C62842CA60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914650" y="37322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01" name="Line 93">
              <a:extLst>
                <a:ext uri="{FF2B5EF4-FFF2-40B4-BE49-F238E27FC236}">
                  <a16:creationId xmlns:a16="http://schemas.microsoft.com/office/drawing/2014/main" id="{E959FE86-F1C3-405A-B63B-CF6EC455672C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990850" y="37322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02" name="Line 94">
              <a:extLst>
                <a:ext uri="{FF2B5EF4-FFF2-40B4-BE49-F238E27FC236}">
                  <a16:creationId xmlns:a16="http://schemas.microsoft.com/office/drawing/2014/main" id="{CD2FAEE9-7F5F-4A84-AE15-C8DA78457B63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067050" y="37322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03" name="Line 95">
              <a:extLst>
                <a:ext uri="{FF2B5EF4-FFF2-40B4-BE49-F238E27FC236}">
                  <a16:creationId xmlns:a16="http://schemas.microsoft.com/office/drawing/2014/main" id="{A25855E7-B48C-43B8-A091-11006CD4B58A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143250" y="37322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04" name="Line 96">
              <a:extLst>
                <a:ext uri="{FF2B5EF4-FFF2-40B4-BE49-F238E27FC236}">
                  <a16:creationId xmlns:a16="http://schemas.microsoft.com/office/drawing/2014/main" id="{5AA7DC5C-9B0A-4E24-89BD-FD48BB4D7563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219450" y="37322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05" name="Line 97">
              <a:extLst>
                <a:ext uri="{FF2B5EF4-FFF2-40B4-BE49-F238E27FC236}">
                  <a16:creationId xmlns:a16="http://schemas.microsoft.com/office/drawing/2014/main" id="{E2875D75-E169-4C45-AE8D-66A2FFA97301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295650" y="37322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06" name="Line 98">
              <a:extLst>
                <a:ext uri="{FF2B5EF4-FFF2-40B4-BE49-F238E27FC236}">
                  <a16:creationId xmlns:a16="http://schemas.microsoft.com/office/drawing/2014/main" id="{58465977-DEE0-4B77-A19D-B248D46EDA92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371850" y="37322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07" name="Line 99">
              <a:extLst>
                <a:ext uri="{FF2B5EF4-FFF2-40B4-BE49-F238E27FC236}">
                  <a16:creationId xmlns:a16="http://schemas.microsoft.com/office/drawing/2014/main" id="{5A673620-C4E7-4373-8109-0523F6803DFF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448050" y="37322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08" name="Line 100">
              <a:extLst>
                <a:ext uri="{FF2B5EF4-FFF2-40B4-BE49-F238E27FC236}">
                  <a16:creationId xmlns:a16="http://schemas.microsoft.com/office/drawing/2014/main" id="{6B0A6AC1-8F0B-4DB5-AAFE-E9782AA9B0BE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524250" y="37322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09" name="Line 101">
              <a:extLst>
                <a:ext uri="{FF2B5EF4-FFF2-40B4-BE49-F238E27FC236}">
                  <a16:creationId xmlns:a16="http://schemas.microsoft.com/office/drawing/2014/main" id="{4137D522-DA9E-4291-9B59-42785B4C788C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600450" y="37322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10" name="Line 102">
              <a:extLst>
                <a:ext uri="{FF2B5EF4-FFF2-40B4-BE49-F238E27FC236}">
                  <a16:creationId xmlns:a16="http://schemas.microsoft.com/office/drawing/2014/main" id="{69D8994B-802A-4135-B00B-10038A4E4AEC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676650" y="37322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11" name="Line 103">
              <a:extLst>
                <a:ext uri="{FF2B5EF4-FFF2-40B4-BE49-F238E27FC236}">
                  <a16:creationId xmlns:a16="http://schemas.microsoft.com/office/drawing/2014/main" id="{1D4B6FD3-A17B-4D3B-B07D-331B7B6BC8D2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752850" y="37322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12" name="Line 104">
              <a:extLst>
                <a:ext uri="{FF2B5EF4-FFF2-40B4-BE49-F238E27FC236}">
                  <a16:creationId xmlns:a16="http://schemas.microsoft.com/office/drawing/2014/main" id="{C8D7A6F9-B103-4DC9-8706-9ADC57990701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829050" y="37322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13" name="Line 105">
              <a:extLst>
                <a:ext uri="{FF2B5EF4-FFF2-40B4-BE49-F238E27FC236}">
                  <a16:creationId xmlns:a16="http://schemas.microsoft.com/office/drawing/2014/main" id="{7F7AF15F-E4E6-47C9-978F-C14331462D99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905250" y="37322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14" name="Line 106">
              <a:extLst>
                <a:ext uri="{FF2B5EF4-FFF2-40B4-BE49-F238E27FC236}">
                  <a16:creationId xmlns:a16="http://schemas.microsoft.com/office/drawing/2014/main" id="{31C12668-3089-48AE-AE2C-0A05D686E32C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981450" y="37322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15" name="Line 107">
              <a:extLst>
                <a:ext uri="{FF2B5EF4-FFF2-40B4-BE49-F238E27FC236}">
                  <a16:creationId xmlns:a16="http://schemas.microsoft.com/office/drawing/2014/main" id="{398B6E20-501F-4550-A301-E9C651417C0E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057650" y="37322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16" name="Line 108">
              <a:extLst>
                <a:ext uri="{FF2B5EF4-FFF2-40B4-BE49-F238E27FC236}">
                  <a16:creationId xmlns:a16="http://schemas.microsoft.com/office/drawing/2014/main" id="{4D4E1AC4-EB56-44A9-BA6F-23479D830FA8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133850" y="37322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17" name="Line 109">
              <a:extLst>
                <a:ext uri="{FF2B5EF4-FFF2-40B4-BE49-F238E27FC236}">
                  <a16:creationId xmlns:a16="http://schemas.microsoft.com/office/drawing/2014/main" id="{14459719-438A-4B9F-B2CF-2BD81CED16B9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210050" y="37322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18" name="Line 110">
              <a:extLst>
                <a:ext uri="{FF2B5EF4-FFF2-40B4-BE49-F238E27FC236}">
                  <a16:creationId xmlns:a16="http://schemas.microsoft.com/office/drawing/2014/main" id="{9624B7A3-F409-4813-AD19-2BB15A7BE179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286250" y="37322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19" name="Line 111">
              <a:extLst>
                <a:ext uri="{FF2B5EF4-FFF2-40B4-BE49-F238E27FC236}">
                  <a16:creationId xmlns:a16="http://schemas.microsoft.com/office/drawing/2014/main" id="{4BF0D008-BCDD-4260-AF05-829B3B289A27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362450" y="37322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20" name="Line 112">
              <a:extLst>
                <a:ext uri="{FF2B5EF4-FFF2-40B4-BE49-F238E27FC236}">
                  <a16:creationId xmlns:a16="http://schemas.microsoft.com/office/drawing/2014/main" id="{A164CD22-830D-4794-A11E-578820E29E89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438650" y="37322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21" name="Line 113">
              <a:extLst>
                <a:ext uri="{FF2B5EF4-FFF2-40B4-BE49-F238E27FC236}">
                  <a16:creationId xmlns:a16="http://schemas.microsoft.com/office/drawing/2014/main" id="{9238A5FC-F45B-4418-BB5D-DDDF8448BB9D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514850" y="37322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22" name="Line 114">
              <a:extLst>
                <a:ext uri="{FF2B5EF4-FFF2-40B4-BE49-F238E27FC236}">
                  <a16:creationId xmlns:a16="http://schemas.microsoft.com/office/drawing/2014/main" id="{0CDBD4DF-3BA8-42CB-8B12-25F29CE503AE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591050" y="37322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23" name="Line 115">
              <a:extLst>
                <a:ext uri="{FF2B5EF4-FFF2-40B4-BE49-F238E27FC236}">
                  <a16:creationId xmlns:a16="http://schemas.microsoft.com/office/drawing/2014/main" id="{3E429023-5213-4737-8A14-69228AE49C09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667250" y="37322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24" name="Line 116">
              <a:extLst>
                <a:ext uri="{FF2B5EF4-FFF2-40B4-BE49-F238E27FC236}">
                  <a16:creationId xmlns:a16="http://schemas.microsoft.com/office/drawing/2014/main" id="{E999DB51-2E64-45CD-8A0E-80E7B6F5C0A1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743450" y="37322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25" name="Line 117">
              <a:extLst>
                <a:ext uri="{FF2B5EF4-FFF2-40B4-BE49-F238E27FC236}">
                  <a16:creationId xmlns:a16="http://schemas.microsoft.com/office/drawing/2014/main" id="{A69C38FE-89F6-4BF6-960F-92664B615040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819650" y="37322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26" name="Line 118">
              <a:extLst>
                <a:ext uri="{FF2B5EF4-FFF2-40B4-BE49-F238E27FC236}">
                  <a16:creationId xmlns:a16="http://schemas.microsoft.com/office/drawing/2014/main" id="{EA19609F-CE41-494E-91BA-F7A2370E18D7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895850" y="37322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27" name="Line 119">
              <a:extLst>
                <a:ext uri="{FF2B5EF4-FFF2-40B4-BE49-F238E27FC236}">
                  <a16:creationId xmlns:a16="http://schemas.microsoft.com/office/drawing/2014/main" id="{9E2A2575-94AA-4110-9139-0164FEFD1C87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972050" y="37322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28" name="Line 120">
              <a:extLst>
                <a:ext uri="{FF2B5EF4-FFF2-40B4-BE49-F238E27FC236}">
                  <a16:creationId xmlns:a16="http://schemas.microsoft.com/office/drawing/2014/main" id="{D6E875E9-D17D-41E3-B8F7-A1B8A69827DF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5048250" y="37322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29" name="Line 121">
              <a:extLst>
                <a:ext uri="{FF2B5EF4-FFF2-40B4-BE49-F238E27FC236}">
                  <a16:creationId xmlns:a16="http://schemas.microsoft.com/office/drawing/2014/main" id="{3922ED03-841B-442D-BD84-3A0F0ECCCAAD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5124450" y="37322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30" name="Line 122">
              <a:extLst>
                <a:ext uri="{FF2B5EF4-FFF2-40B4-BE49-F238E27FC236}">
                  <a16:creationId xmlns:a16="http://schemas.microsoft.com/office/drawing/2014/main" id="{B8DD9D0D-F61B-4FED-B458-BA7459B95067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5200650" y="37322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31" name="Line 123">
              <a:extLst>
                <a:ext uri="{FF2B5EF4-FFF2-40B4-BE49-F238E27FC236}">
                  <a16:creationId xmlns:a16="http://schemas.microsoft.com/office/drawing/2014/main" id="{169A8A8D-C120-4745-8E82-E833227938C3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5276850" y="37322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32" name="Line 124">
              <a:extLst>
                <a:ext uri="{FF2B5EF4-FFF2-40B4-BE49-F238E27FC236}">
                  <a16:creationId xmlns:a16="http://schemas.microsoft.com/office/drawing/2014/main" id="{D8CC56AD-624A-4FC3-ACA5-F634F10E3A08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5353050" y="37322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33" name="Line 125">
              <a:extLst>
                <a:ext uri="{FF2B5EF4-FFF2-40B4-BE49-F238E27FC236}">
                  <a16:creationId xmlns:a16="http://schemas.microsoft.com/office/drawing/2014/main" id="{500F1A17-AA20-494A-8A8E-4CCEDB2DD2D9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5429250" y="37322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34" name="Line 126">
              <a:extLst>
                <a:ext uri="{FF2B5EF4-FFF2-40B4-BE49-F238E27FC236}">
                  <a16:creationId xmlns:a16="http://schemas.microsoft.com/office/drawing/2014/main" id="{53A5481F-71CB-4A7F-A468-BC101CE51EB2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5505450" y="37322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35" name="Line 127">
              <a:extLst>
                <a:ext uri="{FF2B5EF4-FFF2-40B4-BE49-F238E27FC236}">
                  <a16:creationId xmlns:a16="http://schemas.microsoft.com/office/drawing/2014/main" id="{B10CA8BE-5F3A-4201-AB8D-187E010B1F35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5581650" y="37322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36" name="Line 128">
              <a:extLst>
                <a:ext uri="{FF2B5EF4-FFF2-40B4-BE49-F238E27FC236}">
                  <a16:creationId xmlns:a16="http://schemas.microsoft.com/office/drawing/2014/main" id="{942F01CA-9C5E-4D59-998B-231484CAA796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5657850" y="37322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37" name="Line 129">
              <a:extLst>
                <a:ext uri="{FF2B5EF4-FFF2-40B4-BE49-F238E27FC236}">
                  <a16:creationId xmlns:a16="http://schemas.microsoft.com/office/drawing/2014/main" id="{9B98486D-1BE5-4EA1-907E-ECB2E21B89D2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5734050" y="37322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38" name="Line 130">
              <a:extLst>
                <a:ext uri="{FF2B5EF4-FFF2-40B4-BE49-F238E27FC236}">
                  <a16:creationId xmlns:a16="http://schemas.microsoft.com/office/drawing/2014/main" id="{F9A9BB9B-2914-4925-AE9B-0152629C9AB0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5810250" y="37322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39" name="Line 131">
              <a:extLst>
                <a:ext uri="{FF2B5EF4-FFF2-40B4-BE49-F238E27FC236}">
                  <a16:creationId xmlns:a16="http://schemas.microsoft.com/office/drawing/2014/main" id="{836460C2-7DE7-4DD1-A2FA-2026856A6934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5886450" y="37322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40" name="Line 132">
              <a:extLst>
                <a:ext uri="{FF2B5EF4-FFF2-40B4-BE49-F238E27FC236}">
                  <a16:creationId xmlns:a16="http://schemas.microsoft.com/office/drawing/2014/main" id="{E8E55439-A854-481A-86F9-C55D996B10EC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5962650" y="37322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41" name="Line 133">
              <a:extLst>
                <a:ext uri="{FF2B5EF4-FFF2-40B4-BE49-F238E27FC236}">
                  <a16:creationId xmlns:a16="http://schemas.microsoft.com/office/drawing/2014/main" id="{85A4754F-F4F0-4F42-8075-776FD96D25EF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6038850" y="37322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42" name="Line 134">
              <a:extLst>
                <a:ext uri="{FF2B5EF4-FFF2-40B4-BE49-F238E27FC236}">
                  <a16:creationId xmlns:a16="http://schemas.microsoft.com/office/drawing/2014/main" id="{432B2B33-4ECA-4CF4-97F4-355016485239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6115050" y="37322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43" name="Line 135">
              <a:extLst>
                <a:ext uri="{FF2B5EF4-FFF2-40B4-BE49-F238E27FC236}">
                  <a16:creationId xmlns:a16="http://schemas.microsoft.com/office/drawing/2014/main" id="{FC5BCEA2-BA05-4410-ACD3-10E6265F1F1D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6191250" y="37322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44" name="Line 136">
              <a:extLst>
                <a:ext uri="{FF2B5EF4-FFF2-40B4-BE49-F238E27FC236}">
                  <a16:creationId xmlns:a16="http://schemas.microsoft.com/office/drawing/2014/main" id="{A67C4583-FECE-4F50-A45A-5B901F5CF17F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6267450" y="37322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45" name="Line 137">
              <a:extLst>
                <a:ext uri="{FF2B5EF4-FFF2-40B4-BE49-F238E27FC236}">
                  <a16:creationId xmlns:a16="http://schemas.microsoft.com/office/drawing/2014/main" id="{04FF32B6-A369-44DA-AB39-7E05B98DB30C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6343650" y="37322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46" name="Line 138">
              <a:extLst>
                <a:ext uri="{FF2B5EF4-FFF2-40B4-BE49-F238E27FC236}">
                  <a16:creationId xmlns:a16="http://schemas.microsoft.com/office/drawing/2014/main" id="{B79359DA-1246-4289-83B6-A1E397C01F9C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6419850" y="37322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47" name="Line 139">
              <a:extLst>
                <a:ext uri="{FF2B5EF4-FFF2-40B4-BE49-F238E27FC236}">
                  <a16:creationId xmlns:a16="http://schemas.microsoft.com/office/drawing/2014/main" id="{E6D6E9FC-4C73-4968-A64D-00A48B88AB47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6496050" y="37322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48" name="Line 140">
              <a:extLst>
                <a:ext uri="{FF2B5EF4-FFF2-40B4-BE49-F238E27FC236}">
                  <a16:creationId xmlns:a16="http://schemas.microsoft.com/office/drawing/2014/main" id="{0CC39601-9777-4008-9D92-ABA09ED4140B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6572250" y="37322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49" name="Line 141">
              <a:extLst>
                <a:ext uri="{FF2B5EF4-FFF2-40B4-BE49-F238E27FC236}">
                  <a16:creationId xmlns:a16="http://schemas.microsoft.com/office/drawing/2014/main" id="{66F239D2-8C4B-4A3F-A08F-0C60F2B6ECFF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6648450" y="37322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50" name="Line 142">
              <a:extLst>
                <a:ext uri="{FF2B5EF4-FFF2-40B4-BE49-F238E27FC236}">
                  <a16:creationId xmlns:a16="http://schemas.microsoft.com/office/drawing/2014/main" id="{3DD28CB6-CE80-4357-8A76-3D2384C9E6BB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6724650" y="37322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51" name="Line 143">
              <a:extLst>
                <a:ext uri="{FF2B5EF4-FFF2-40B4-BE49-F238E27FC236}">
                  <a16:creationId xmlns:a16="http://schemas.microsoft.com/office/drawing/2014/main" id="{C2EBA944-3364-418C-9D67-E0A8565BDB8B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6800850" y="37322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52" name="Line 144">
              <a:extLst>
                <a:ext uri="{FF2B5EF4-FFF2-40B4-BE49-F238E27FC236}">
                  <a16:creationId xmlns:a16="http://schemas.microsoft.com/office/drawing/2014/main" id="{FA9F3D6E-2CCE-4649-9519-243CC8391BCB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619250" y="27670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53" name="Line 145">
              <a:extLst>
                <a:ext uri="{FF2B5EF4-FFF2-40B4-BE49-F238E27FC236}">
                  <a16:creationId xmlns:a16="http://schemas.microsoft.com/office/drawing/2014/main" id="{51815391-8E18-4E85-A08A-4F7862426501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695450" y="27670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54" name="Line 146">
              <a:extLst>
                <a:ext uri="{FF2B5EF4-FFF2-40B4-BE49-F238E27FC236}">
                  <a16:creationId xmlns:a16="http://schemas.microsoft.com/office/drawing/2014/main" id="{88C8BE64-C822-4DA0-B5C6-79108CE1D49F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771650" y="27670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55" name="Line 147">
              <a:extLst>
                <a:ext uri="{FF2B5EF4-FFF2-40B4-BE49-F238E27FC236}">
                  <a16:creationId xmlns:a16="http://schemas.microsoft.com/office/drawing/2014/main" id="{AAEB6F55-6CFB-4D7D-9C11-96547D344691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847850" y="27670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56" name="Line 148">
              <a:extLst>
                <a:ext uri="{FF2B5EF4-FFF2-40B4-BE49-F238E27FC236}">
                  <a16:creationId xmlns:a16="http://schemas.microsoft.com/office/drawing/2014/main" id="{96EBC174-11AE-424A-AF58-C0568046BE78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924050" y="27670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57" name="Line 149">
              <a:extLst>
                <a:ext uri="{FF2B5EF4-FFF2-40B4-BE49-F238E27FC236}">
                  <a16:creationId xmlns:a16="http://schemas.microsoft.com/office/drawing/2014/main" id="{84780D88-CF3B-4F72-B11C-CED15DD2E778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000250" y="27670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58" name="Line 150">
              <a:extLst>
                <a:ext uri="{FF2B5EF4-FFF2-40B4-BE49-F238E27FC236}">
                  <a16:creationId xmlns:a16="http://schemas.microsoft.com/office/drawing/2014/main" id="{25463121-15BD-4074-BD7B-83FB54BC4238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076450" y="27670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59" name="Line 151">
              <a:extLst>
                <a:ext uri="{FF2B5EF4-FFF2-40B4-BE49-F238E27FC236}">
                  <a16:creationId xmlns:a16="http://schemas.microsoft.com/office/drawing/2014/main" id="{AF0A1561-C2A2-41EE-8C35-3217B94BDDB2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152650" y="27670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60" name="Line 152">
              <a:extLst>
                <a:ext uri="{FF2B5EF4-FFF2-40B4-BE49-F238E27FC236}">
                  <a16:creationId xmlns:a16="http://schemas.microsoft.com/office/drawing/2014/main" id="{853E60FA-B04E-44A9-93E4-CF94EAC18565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228850" y="27670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61" name="Line 153">
              <a:extLst>
                <a:ext uri="{FF2B5EF4-FFF2-40B4-BE49-F238E27FC236}">
                  <a16:creationId xmlns:a16="http://schemas.microsoft.com/office/drawing/2014/main" id="{843D401C-1B83-45F5-B5FC-E7593AD7E56F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305050" y="27670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62" name="Line 154">
              <a:extLst>
                <a:ext uri="{FF2B5EF4-FFF2-40B4-BE49-F238E27FC236}">
                  <a16:creationId xmlns:a16="http://schemas.microsoft.com/office/drawing/2014/main" id="{C9203E51-6FA8-41AE-9270-BDC9C4BA4C24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381250" y="27670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63" name="Line 155">
              <a:extLst>
                <a:ext uri="{FF2B5EF4-FFF2-40B4-BE49-F238E27FC236}">
                  <a16:creationId xmlns:a16="http://schemas.microsoft.com/office/drawing/2014/main" id="{2DFA4CCA-3F0D-496D-B610-B17EB7D676AB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457450" y="27670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64" name="Line 156">
              <a:extLst>
                <a:ext uri="{FF2B5EF4-FFF2-40B4-BE49-F238E27FC236}">
                  <a16:creationId xmlns:a16="http://schemas.microsoft.com/office/drawing/2014/main" id="{F20612B8-E4EC-4B4D-A615-044CFF1CE79A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533650" y="27670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65" name="Line 157">
              <a:extLst>
                <a:ext uri="{FF2B5EF4-FFF2-40B4-BE49-F238E27FC236}">
                  <a16:creationId xmlns:a16="http://schemas.microsoft.com/office/drawing/2014/main" id="{625A4B4A-6E80-4B41-BAB3-870F3BAD42A5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609850" y="27670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66" name="Line 158">
              <a:extLst>
                <a:ext uri="{FF2B5EF4-FFF2-40B4-BE49-F238E27FC236}">
                  <a16:creationId xmlns:a16="http://schemas.microsoft.com/office/drawing/2014/main" id="{0E5C2590-BC98-4811-BEF2-FDE59B02C256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686050" y="27670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67" name="Line 159">
              <a:extLst>
                <a:ext uri="{FF2B5EF4-FFF2-40B4-BE49-F238E27FC236}">
                  <a16:creationId xmlns:a16="http://schemas.microsoft.com/office/drawing/2014/main" id="{A46B82F8-EE8D-447B-8211-704D87F73594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762250" y="27670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68" name="Line 160">
              <a:extLst>
                <a:ext uri="{FF2B5EF4-FFF2-40B4-BE49-F238E27FC236}">
                  <a16:creationId xmlns:a16="http://schemas.microsoft.com/office/drawing/2014/main" id="{F3B3421D-0E84-47D9-89AF-FB753BAB3573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838450" y="27670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69" name="Line 161">
              <a:extLst>
                <a:ext uri="{FF2B5EF4-FFF2-40B4-BE49-F238E27FC236}">
                  <a16:creationId xmlns:a16="http://schemas.microsoft.com/office/drawing/2014/main" id="{AA5A3C1E-A5AC-4943-86B6-FB76C45BE939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914650" y="27670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70" name="Line 162">
              <a:extLst>
                <a:ext uri="{FF2B5EF4-FFF2-40B4-BE49-F238E27FC236}">
                  <a16:creationId xmlns:a16="http://schemas.microsoft.com/office/drawing/2014/main" id="{55591792-E7C8-418E-934A-572D3C389C70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990850" y="27670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71" name="Line 163">
              <a:extLst>
                <a:ext uri="{FF2B5EF4-FFF2-40B4-BE49-F238E27FC236}">
                  <a16:creationId xmlns:a16="http://schemas.microsoft.com/office/drawing/2014/main" id="{4C43E5D5-50B6-45A9-9735-AA8C9CB70AF8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067050" y="27670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72" name="Line 164">
              <a:extLst>
                <a:ext uri="{FF2B5EF4-FFF2-40B4-BE49-F238E27FC236}">
                  <a16:creationId xmlns:a16="http://schemas.microsoft.com/office/drawing/2014/main" id="{5AAD5B4A-0704-4ACC-8917-D58C1BA71E02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143250" y="27670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73" name="Line 165">
              <a:extLst>
                <a:ext uri="{FF2B5EF4-FFF2-40B4-BE49-F238E27FC236}">
                  <a16:creationId xmlns:a16="http://schemas.microsoft.com/office/drawing/2014/main" id="{0441E622-18AF-4B44-A919-14B69E4D101F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219450" y="27670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74" name="Line 166">
              <a:extLst>
                <a:ext uri="{FF2B5EF4-FFF2-40B4-BE49-F238E27FC236}">
                  <a16:creationId xmlns:a16="http://schemas.microsoft.com/office/drawing/2014/main" id="{FE009F9E-E080-49FD-9312-DE3219433AEE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295650" y="27670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75" name="Line 167">
              <a:extLst>
                <a:ext uri="{FF2B5EF4-FFF2-40B4-BE49-F238E27FC236}">
                  <a16:creationId xmlns:a16="http://schemas.microsoft.com/office/drawing/2014/main" id="{8D067B46-DE7E-4A28-BD88-1598BEC2E980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371850" y="27670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76" name="Line 168">
              <a:extLst>
                <a:ext uri="{FF2B5EF4-FFF2-40B4-BE49-F238E27FC236}">
                  <a16:creationId xmlns:a16="http://schemas.microsoft.com/office/drawing/2014/main" id="{1C6DC3BB-7A58-439E-8D34-2D3DA3F81D70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448050" y="27670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77" name="Line 169">
              <a:extLst>
                <a:ext uri="{FF2B5EF4-FFF2-40B4-BE49-F238E27FC236}">
                  <a16:creationId xmlns:a16="http://schemas.microsoft.com/office/drawing/2014/main" id="{09389425-CF72-44FA-88DB-10CDA081EC26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524250" y="27670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78" name="Line 170">
              <a:extLst>
                <a:ext uri="{FF2B5EF4-FFF2-40B4-BE49-F238E27FC236}">
                  <a16:creationId xmlns:a16="http://schemas.microsoft.com/office/drawing/2014/main" id="{648E5EE6-E834-450C-8F65-C2C49C3BB8CE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600450" y="27670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79" name="Line 171">
              <a:extLst>
                <a:ext uri="{FF2B5EF4-FFF2-40B4-BE49-F238E27FC236}">
                  <a16:creationId xmlns:a16="http://schemas.microsoft.com/office/drawing/2014/main" id="{B402511B-D524-42FA-8980-86218E131AE7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676650" y="27670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80" name="Line 172">
              <a:extLst>
                <a:ext uri="{FF2B5EF4-FFF2-40B4-BE49-F238E27FC236}">
                  <a16:creationId xmlns:a16="http://schemas.microsoft.com/office/drawing/2014/main" id="{9125ACDE-0800-4CE2-ACA3-62F8CBC854C7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752850" y="27670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81" name="Line 173">
              <a:extLst>
                <a:ext uri="{FF2B5EF4-FFF2-40B4-BE49-F238E27FC236}">
                  <a16:creationId xmlns:a16="http://schemas.microsoft.com/office/drawing/2014/main" id="{049B3015-990F-40E6-B51B-E5BC41D53DCD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829050" y="27670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82" name="Line 174">
              <a:extLst>
                <a:ext uri="{FF2B5EF4-FFF2-40B4-BE49-F238E27FC236}">
                  <a16:creationId xmlns:a16="http://schemas.microsoft.com/office/drawing/2014/main" id="{9A84C603-5D2C-494F-A70F-0FF2D1F77240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905250" y="27670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83" name="Line 175">
              <a:extLst>
                <a:ext uri="{FF2B5EF4-FFF2-40B4-BE49-F238E27FC236}">
                  <a16:creationId xmlns:a16="http://schemas.microsoft.com/office/drawing/2014/main" id="{EF2B86AF-1679-40F9-913D-89EB54DE3988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981450" y="27670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84" name="Line 176">
              <a:extLst>
                <a:ext uri="{FF2B5EF4-FFF2-40B4-BE49-F238E27FC236}">
                  <a16:creationId xmlns:a16="http://schemas.microsoft.com/office/drawing/2014/main" id="{0C7C73BF-5811-47F4-B10C-35365D4413FE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057650" y="27670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85" name="Line 177">
              <a:extLst>
                <a:ext uri="{FF2B5EF4-FFF2-40B4-BE49-F238E27FC236}">
                  <a16:creationId xmlns:a16="http://schemas.microsoft.com/office/drawing/2014/main" id="{6E689776-0794-4331-8153-068351A5617B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133850" y="27670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86" name="Line 178">
              <a:extLst>
                <a:ext uri="{FF2B5EF4-FFF2-40B4-BE49-F238E27FC236}">
                  <a16:creationId xmlns:a16="http://schemas.microsoft.com/office/drawing/2014/main" id="{2B753A38-DC7C-4FF7-9C29-ABC9A99AA4D6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210050" y="27670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87" name="Line 179">
              <a:extLst>
                <a:ext uri="{FF2B5EF4-FFF2-40B4-BE49-F238E27FC236}">
                  <a16:creationId xmlns:a16="http://schemas.microsoft.com/office/drawing/2014/main" id="{E7AFF429-05E1-4B85-B343-58CAEE4BE934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286250" y="27670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88" name="Line 180">
              <a:extLst>
                <a:ext uri="{FF2B5EF4-FFF2-40B4-BE49-F238E27FC236}">
                  <a16:creationId xmlns:a16="http://schemas.microsoft.com/office/drawing/2014/main" id="{DF256736-F717-49A3-9115-1194E26AE20F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362450" y="27670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89" name="Line 181">
              <a:extLst>
                <a:ext uri="{FF2B5EF4-FFF2-40B4-BE49-F238E27FC236}">
                  <a16:creationId xmlns:a16="http://schemas.microsoft.com/office/drawing/2014/main" id="{646BD8BB-B94F-4CA0-949B-D59DB578248E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438650" y="27670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90" name="Line 182">
              <a:extLst>
                <a:ext uri="{FF2B5EF4-FFF2-40B4-BE49-F238E27FC236}">
                  <a16:creationId xmlns:a16="http://schemas.microsoft.com/office/drawing/2014/main" id="{1D70966A-91E8-4275-98C8-6007F2836814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514850" y="27670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91" name="Line 183">
              <a:extLst>
                <a:ext uri="{FF2B5EF4-FFF2-40B4-BE49-F238E27FC236}">
                  <a16:creationId xmlns:a16="http://schemas.microsoft.com/office/drawing/2014/main" id="{CAA0B442-92AC-41A5-B591-A7CD95522838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591050" y="27670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92" name="Line 184">
              <a:extLst>
                <a:ext uri="{FF2B5EF4-FFF2-40B4-BE49-F238E27FC236}">
                  <a16:creationId xmlns:a16="http://schemas.microsoft.com/office/drawing/2014/main" id="{6980DC9D-9B16-427F-B49E-FF02D33E7893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667250" y="27670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93" name="Line 185">
              <a:extLst>
                <a:ext uri="{FF2B5EF4-FFF2-40B4-BE49-F238E27FC236}">
                  <a16:creationId xmlns:a16="http://schemas.microsoft.com/office/drawing/2014/main" id="{C27BF37C-0444-4BBE-90E8-BA3A330DDD96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743450" y="27670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94" name="Line 186">
              <a:extLst>
                <a:ext uri="{FF2B5EF4-FFF2-40B4-BE49-F238E27FC236}">
                  <a16:creationId xmlns:a16="http://schemas.microsoft.com/office/drawing/2014/main" id="{49A8A7E0-B504-4414-AF4D-35DE5B3B8DD9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819650" y="27670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95" name="Line 187">
              <a:extLst>
                <a:ext uri="{FF2B5EF4-FFF2-40B4-BE49-F238E27FC236}">
                  <a16:creationId xmlns:a16="http://schemas.microsoft.com/office/drawing/2014/main" id="{62BD9B5C-16E4-4BAE-A7FC-71F1FF6F7D8D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895850" y="27670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96" name="Line 188">
              <a:extLst>
                <a:ext uri="{FF2B5EF4-FFF2-40B4-BE49-F238E27FC236}">
                  <a16:creationId xmlns:a16="http://schemas.microsoft.com/office/drawing/2014/main" id="{E6EC8F01-1890-45A9-9CF5-37752DE1BE7D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972050" y="27670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97" name="Line 189">
              <a:extLst>
                <a:ext uri="{FF2B5EF4-FFF2-40B4-BE49-F238E27FC236}">
                  <a16:creationId xmlns:a16="http://schemas.microsoft.com/office/drawing/2014/main" id="{AD61579A-40C0-428F-AB02-FC38FD051D4C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5048250" y="27670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98" name="Line 190">
              <a:extLst>
                <a:ext uri="{FF2B5EF4-FFF2-40B4-BE49-F238E27FC236}">
                  <a16:creationId xmlns:a16="http://schemas.microsoft.com/office/drawing/2014/main" id="{6872BDF1-07AA-44E1-BFA9-5BCBF0F7DE7E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5124450" y="27670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99" name="Line 191">
              <a:extLst>
                <a:ext uri="{FF2B5EF4-FFF2-40B4-BE49-F238E27FC236}">
                  <a16:creationId xmlns:a16="http://schemas.microsoft.com/office/drawing/2014/main" id="{1F6366ED-666A-4B31-9EF8-F2A0539FBBC3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5200650" y="27670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200" name="Line 192">
              <a:extLst>
                <a:ext uri="{FF2B5EF4-FFF2-40B4-BE49-F238E27FC236}">
                  <a16:creationId xmlns:a16="http://schemas.microsoft.com/office/drawing/2014/main" id="{665BD30E-7FAC-420D-B048-F59FDE27E50C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5276850" y="27670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201" name="Line 193">
              <a:extLst>
                <a:ext uri="{FF2B5EF4-FFF2-40B4-BE49-F238E27FC236}">
                  <a16:creationId xmlns:a16="http://schemas.microsoft.com/office/drawing/2014/main" id="{19B2ACF7-DCA2-4A93-8B35-E86617D6370B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5353050" y="27670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202" name="Line 194">
              <a:extLst>
                <a:ext uri="{FF2B5EF4-FFF2-40B4-BE49-F238E27FC236}">
                  <a16:creationId xmlns:a16="http://schemas.microsoft.com/office/drawing/2014/main" id="{56CDEA91-B9CF-49E5-9769-EF56A0FB427A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5429250" y="27670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203" name="Line 195">
              <a:extLst>
                <a:ext uri="{FF2B5EF4-FFF2-40B4-BE49-F238E27FC236}">
                  <a16:creationId xmlns:a16="http://schemas.microsoft.com/office/drawing/2014/main" id="{8EB50357-31D0-4FC9-B5C7-F130782720DE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5505450" y="27670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204" name="Line 196">
              <a:extLst>
                <a:ext uri="{FF2B5EF4-FFF2-40B4-BE49-F238E27FC236}">
                  <a16:creationId xmlns:a16="http://schemas.microsoft.com/office/drawing/2014/main" id="{CE7AAA58-D2C0-4D94-A8F6-5FA112D9F27E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5581650" y="27670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205" name="Line 197">
              <a:extLst>
                <a:ext uri="{FF2B5EF4-FFF2-40B4-BE49-F238E27FC236}">
                  <a16:creationId xmlns:a16="http://schemas.microsoft.com/office/drawing/2014/main" id="{982F6AE3-EEE8-426F-A3EA-9938DBF220BE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5657850" y="27670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206" name="Line 198">
              <a:extLst>
                <a:ext uri="{FF2B5EF4-FFF2-40B4-BE49-F238E27FC236}">
                  <a16:creationId xmlns:a16="http://schemas.microsoft.com/office/drawing/2014/main" id="{4D2135BE-1FD6-48D0-A943-681E69A45575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5734050" y="27670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207" name="Line 199">
              <a:extLst>
                <a:ext uri="{FF2B5EF4-FFF2-40B4-BE49-F238E27FC236}">
                  <a16:creationId xmlns:a16="http://schemas.microsoft.com/office/drawing/2014/main" id="{4FA347E5-BFD8-432F-A94A-654405691535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5810250" y="27670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208" name="Line 200">
              <a:extLst>
                <a:ext uri="{FF2B5EF4-FFF2-40B4-BE49-F238E27FC236}">
                  <a16:creationId xmlns:a16="http://schemas.microsoft.com/office/drawing/2014/main" id="{8AEE1FB0-294D-41A4-893F-75B6660DFB82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5886450" y="27670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209" name="Line 201">
              <a:extLst>
                <a:ext uri="{FF2B5EF4-FFF2-40B4-BE49-F238E27FC236}">
                  <a16:creationId xmlns:a16="http://schemas.microsoft.com/office/drawing/2014/main" id="{C390210D-7AD4-40FB-99A4-33A3CE096086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5962650" y="27670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210" name="Line 202">
              <a:extLst>
                <a:ext uri="{FF2B5EF4-FFF2-40B4-BE49-F238E27FC236}">
                  <a16:creationId xmlns:a16="http://schemas.microsoft.com/office/drawing/2014/main" id="{FC3FEE1F-EC5A-4733-9F73-B02430FAB206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6038850" y="27670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211" name="Line 203">
              <a:extLst>
                <a:ext uri="{FF2B5EF4-FFF2-40B4-BE49-F238E27FC236}">
                  <a16:creationId xmlns:a16="http://schemas.microsoft.com/office/drawing/2014/main" id="{36F87B8B-C235-41AF-8AB7-5D01E75C9AAF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6115050" y="27670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212" name="Line 204">
              <a:extLst>
                <a:ext uri="{FF2B5EF4-FFF2-40B4-BE49-F238E27FC236}">
                  <a16:creationId xmlns:a16="http://schemas.microsoft.com/office/drawing/2014/main" id="{7F8DC628-4218-4EBB-BC25-121090D9E961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6191250" y="27670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213" name="Line 205">
              <a:extLst>
                <a:ext uri="{FF2B5EF4-FFF2-40B4-BE49-F238E27FC236}">
                  <a16:creationId xmlns:a16="http://schemas.microsoft.com/office/drawing/2014/main" id="{7F2D7D4E-F26A-43E2-A77D-821B1883F6C5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6267450" y="27670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214" name="Line 206">
              <a:extLst>
                <a:ext uri="{FF2B5EF4-FFF2-40B4-BE49-F238E27FC236}">
                  <a16:creationId xmlns:a16="http://schemas.microsoft.com/office/drawing/2014/main" id="{17E6386B-4A25-4A87-8B6F-3969F8F17007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6343650" y="27670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215" name="Line 207">
              <a:extLst>
                <a:ext uri="{FF2B5EF4-FFF2-40B4-BE49-F238E27FC236}">
                  <a16:creationId xmlns:a16="http://schemas.microsoft.com/office/drawing/2014/main" id="{07FA6899-D3EF-4ABC-ABE7-5657B35DE2DF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6419850" y="27670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216" name="Line 208">
              <a:extLst>
                <a:ext uri="{FF2B5EF4-FFF2-40B4-BE49-F238E27FC236}">
                  <a16:creationId xmlns:a16="http://schemas.microsoft.com/office/drawing/2014/main" id="{4230B6DA-E6FE-4E0C-BAC4-3DEEB79F0A69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6496050" y="27670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217" name="Line 209">
              <a:extLst>
                <a:ext uri="{FF2B5EF4-FFF2-40B4-BE49-F238E27FC236}">
                  <a16:creationId xmlns:a16="http://schemas.microsoft.com/office/drawing/2014/main" id="{F2448EA2-1676-48A5-B4B0-6DA5779CFB3E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6572250" y="27670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218" name="Line 210">
              <a:extLst>
                <a:ext uri="{FF2B5EF4-FFF2-40B4-BE49-F238E27FC236}">
                  <a16:creationId xmlns:a16="http://schemas.microsoft.com/office/drawing/2014/main" id="{99A889C6-DA80-4FA2-88A2-B63E7F5AD27B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6648450" y="27670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219" name="Line 211">
              <a:extLst>
                <a:ext uri="{FF2B5EF4-FFF2-40B4-BE49-F238E27FC236}">
                  <a16:creationId xmlns:a16="http://schemas.microsoft.com/office/drawing/2014/main" id="{EA6682DE-26F7-4A7C-81AF-CFE722D9FD67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6724650" y="27670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220" name="Line 212">
              <a:extLst>
                <a:ext uri="{FF2B5EF4-FFF2-40B4-BE49-F238E27FC236}">
                  <a16:creationId xmlns:a16="http://schemas.microsoft.com/office/drawing/2014/main" id="{D8F3B040-DCC4-4190-8527-0CF32907C540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6800850" y="27670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221" name="Line 213">
              <a:extLst>
                <a:ext uri="{FF2B5EF4-FFF2-40B4-BE49-F238E27FC236}">
                  <a16:creationId xmlns:a16="http://schemas.microsoft.com/office/drawing/2014/main" id="{4D79738D-B722-4BA7-8E28-9B555A788F4E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1473200" y="2760662"/>
              <a:ext cx="0" cy="290830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222" name="Line 214">
              <a:extLst>
                <a:ext uri="{FF2B5EF4-FFF2-40B4-BE49-F238E27FC236}">
                  <a16:creationId xmlns:a16="http://schemas.microsoft.com/office/drawing/2014/main" id="{30102990-2450-4A32-9230-5EFBE87DCC80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428750" y="5675312"/>
              <a:ext cx="762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223" name="Line 215">
              <a:extLst>
                <a:ext uri="{FF2B5EF4-FFF2-40B4-BE49-F238E27FC236}">
                  <a16:creationId xmlns:a16="http://schemas.microsoft.com/office/drawing/2014/main" id="{9B82CD12-CABC-4016-AD57-D685CA835053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466850" y="5675312"/>
              <a:ext cx="5372100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224" name="Line 216">
              <a:extLst>
                <a:ext uri="{FF2B5EF4-FFF2-40B4-BE49-F238E27FC236}">
                  <a16:creationId xmlns:a16="http://schemas.microsoft.com/office/drawing/2014/main" id="{8C83DAA2-1A5C-470D-A200-06AFB0F247BB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1473200" y="5621337"/>
              <a:ext cx="0" cy="9525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225" name="Line 217">
              <a:extLst>
                <a:ext uri="{FF2B5EF4-FFF2-40B4-BE49-F238E27FC236}">
                  <a16:creationId xmlns:a16="http://schemas.microsoft.com/office/drawing/2014/main" id="{2CCB30F2-52DB-4CD0-A94F-F7B3EFC34783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1739900" y="5621337"/>
              <a:ext cx="0" cy="9525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226" name="Line 218">
              <a:extLst>
                <a:ext uri="{FF2B5EF4-FFF2-40B4-BE49-F238E27FC236}">
                  <a16:creationId xmlns:a16="http://schemas.microsoft.com/office/drawing/2014/main" id="{DD0A5823-B496-4832-9262-828D2160CB48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2019300" y="5621337"/>
              <a:ext cx="0" cy="9525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227" name="Line 219">
              <a:extLst>
                <a:ext uri="{FF2B5EF4-FFF2-40B4-BE49-F238E27FC236}">
                  <a16:creationId xmlns:a16="http://schemas.microsoft.com/office/drawing/2014/main" id="{42BF6C79-3EAB-4A56-B167-CBBA6D9AF5A3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2286000" y="5621337"/>
              <a:ext cx="0" cy="9525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228" name="Line 220">
              <a:extLst>
                <a:ext uri="{FF2B5EF4-FFF2-40B4-BE49-F238E27FC236}">
                  <a16:creationId xmlns:a16="http://schemas.microsoft.com/office/drawing/2014/main" id="{4DC200CB-05BF-4F8F-A9DB-202BBBA8963D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2552700" y="5621337"/>
              <a:ext cx="0" cy="9525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229" name="Line 221">
              <a:extLst>
                <a:ext uri="{FF2B5EF4-FFF2-40B4-BE49-F238E27FC236}">
                  <a16:creationId xmlns:a16="http://schemas.microsoft.com/office/drawing/2014/main" id="{28DD214A-9F55-49DA-BFDA-27529F41B3CE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2819400" y="5621337"/>
              <a:ext cx="0" cy="9525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230" name="Line 222">
              <a:extLst>
                <a:ext uri="{FF2B5EF4-FFF2-40B4-BE49-F238E27FC236}">
                  <a16:creationId xmlns:a16="http://schemas.microsoft.com/office/drawing/2014/main" id="{1347A94A-0FBA-49ED-A57C-541C1D0D750F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3086100" y="5621337"/>
              <a:ext cx="0" cy="9525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231" name="Line 223">
              <a:extLst>
                <a:ext uri="{FF2B5EF4-FFF2-40B4-BE49-F238E27FC236}">
                  <a16:creationId xmlns:a16="http://schemas.microsoft.com/office/drawing/2014/main" id="{AA6D6DB7-27A2-400A-B2E3-D96D64908DC0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3352800" y="5621337"/>
              <a:ext cx="0" cy="9525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232" name="Line 224">
              <a:extLst>
                <a:ext uri="{FF2B5EF4-FFF2-40B4-BE49-F238E27FC236}">
                  <a16:creationId xmlns:a16="http://schemas.microsoft.com/office/drawing/2014/main" id="{3B7BB2BE-448D-4FEE-89FE-5FEB8FCA4CDB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3619500" y="5621337"/>
              <a:ext cx="0" cy="9525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233" name="Line 225">
              <a:extLst>
                <a:ext uri="{FF2B5EF4-FFF2-40B4-BE49-F238E27FC236}">
                  <a16:creationId xmlns:a16="http://schemas.microsoft.com/office/drawing/2014/main" id="{93095801-218B-4A47-A7C4-458D4456938A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3898900" y="5621337"/>
              <a:ext cx="0" cy="9525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234" name="Line 226">
              <a:extLst>
                <a:ext uri="{FF2B5EF4-FFF2-40B4-BE49-F238E27FC236}">
                  <a16:creationId xmlns:a16="http://schemas.microsoft.com/office/drawing/2014/main" id="{D83DC53F-A868-4523-B42F-3E86E72D1B4C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4165600" y="5621337"/>
              <a:ext cx="0" cy="9525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235" name="Line 227">
              <a:extLst>
                <a:ext uri="{FF2B5EF4-FFF2-40B4-BE49-F238E27FC236}">
                  <a16:creationId xmlns:a16="http://schemas.microsoft.com/office/drawing/2014/main" id="{5AE230D2-F0B6-4810-870F-494D3BDD21B7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4432300" y="5621337"/>
              <a:ext cx="0" cy="9525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236" name="Line 228">
              <a:extLst>
                <a:ext uri="{FF2B5EF4-FFF2-40B4-BE49-F238E27FC236}">
                  <a16:creationId xmlns:a16="http://schemas.microsoft.com/office/drawing/2014/main" id="{C8FECBD3-704F-45A6-849A-0729ED5AA57D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4699000" y="5621337"/>
              <a:ext cx="0" cy="9525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237" name="Line 229">
              <a:extLst>
                <a:ext uri="{FF2B5EF4-FFF2-40B4-BE49-F238E27FC236}">
                  <a16:creationId xmlns:a16="http://schemas.microsoft.com/office/drawing/2014/main" id="{A202EC1A-9172-4F7E-BE83-396486E72FC9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4965700" y="5621337"/>
              <a:ext cx="0" cy="9525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238" name="Line 230">
              <a:extLst>
                <a:ext uri="{FF2B5EF4-FFF2-40B4-BE49-F238E27FC236}">
                  <a16:creationId xmlns:a16="http://schemas.microsoft.com/office/drawing/2014/main" id="{93A150B3-DEFD-4643-98C4-4584A3B49EA8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5232400" y="5621337"/>
              <a:ext cx="0" cy="9525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239" name="Line 231">
              <a:extLst>
                <a:ext uri="{FF2B5EF4-FFF2-40B4-BE49-F238E27FC236}">
                  <a16:creationId xmlns:a16="http://schemas.microsoft.com/office/drawing/2014/main" id="{17D52D8A-26C3-43CD-8E9A-899B80F42AB4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5499100" y="5621337"/>
              <a:ext cx="0" cy="9525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240" name="Line 232">
              <a:extLst>
                <a:ext uri="{FF2B5EF4-FFF2-40B4-BE49-F238E27FC236}">
                  <a16:creationId xmlns:a16="http://schemas.microsoft.com/office/drawing/2014/main" id="{87B19F71-965A-4967-89AC-5BE2D4C0E4FC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5778500" y="5621337"/>
              <a:ext cx="0" cy="9525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241" name="Line 233">
              <a:extLst>
                <a:ext uri="{FF2B5EF4-FFF2-40B4-BE49-F238E27FC236}">
                  <a16:creationId xmlns:a16="http://schemas.microsoft.com/office/drawing/2014/main" id="{11D1F05A-8803-44D1-871B-27F2900BA3F0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6045200" y="5621337"/>
              <a:ext cx="0" cy="9525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242" name="Line 234">
              <a:extLst>
                <a:ext uri="{FF2B5EF4-FFF2-40B4-BE49-F238E27FC236}">
                  <a16:creationId xmlns:a16="http://schemas.microsoft.com/office/drawing/2014/main" id="{4072403C-929C-45AB-AB18-00A4AC0DC61D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6311900" y="5621337"/>
              <a:ext cx="0" cy="9525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243" name="Line 235">
              <a:extLst>
                <a:ext uri="{FF2B5EF4-FFF2-40B4-BE49-F238E27FC236}">
                  <a16:creationId xmlns:a16="http://schemas.microsoft.com/office/drawing/2014/main" id="{47F868E1-BC24-46C0-8858-C2480D1A388E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6578600" y="5621337"/>
              <a:ext cx="0" cy="9525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244" name="Line 236">
              <a:extLst>
                <a:ext uri="{FF2B5EF4-FFF2-40B4-BE49-F238E27FC236}">
                  <a16:creationId xmlns:a16="http://schemas.microsoft.com/office/drawing/2014/main" id="{5E70C702-4CD5-4203-BEA4-16895B64CAEF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6845300" y="5621337"/>
              <a:ext cx="0" cy="9525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245" name="Freeform 237">
              <a:extLst>
                <a:ext uri="{FF2B5EF4-FFF2-40B4-BE49-F238E27FC236}">
                  <a16:creationId xmlns:a16="http://schemas.microsoft.com/office/drawing/2014/main" id="{B9C829D8-5F2C-49BF-BC4D-C6732E9774D8}"/>
                </a:ext>
              </a:extLst>
            </p:cNvPr>
            <p:cNvSpPr>
              <a:spLocks/>
            </p:cNvSpPr>
            <p:nvPr/>
          </p:nvSpPr>
          <p:spPr bwMode="auto">
            <a:xfrm>
              <a:off x="1466850" y="2786062"/>
              <a:ext cx="5373688" cy="2884488"/>
            </a:xfrm>
            <a:custGeom>
              <a:avLst/>
              <a:gdLst/>
              <a:ahLst/>
              <a:cxnLst>
                <a:cxn ang="0">
                  <a:pos x="0" y="1816"/>
                </a:cxn>
                <a:cxn ang="0">
                  <a:pos x="189" y="1752"/>
                </a:cxn>
                <a:cxn ang="0">
                  <a:pos x="387" y="1696"/>
                </a:cxn>
                <a:cxn ang="0">
                  <a:pos x="576" y="1640"/>
                </a:cxn>
                <a:cxn ang="0">
                  <a:pos x="765" y="1576"/>
                </a:cxn>
                <a:cxn ang="0">
                  <a:pos x="954" y="1520"/>
                </a:cxn>
                <a:cxn ang="0">
                  <a:pos x="1143" y="1456"/>
                </a:cxn>
                <a:cxn ang="0">
                  <a:pos x="1332" y="1400"/>
                </a:cxn>
                <a:cxn ang="0">
                  <a:pos x="1521" y="1296"/>
                </a:cxn>
                <a:cxn ang="0">
                  <a:pos x="1719" y="1184"/>
                </a:cxn>
                <a:cxn ang="0">
                  <a:pos x="1908" y="1080"/>
                </a:cxn>
                <a:cxn ang="0">
                  <a:pos x="2097" y="968"/>
                </a:cxn>
                <a:cxn ang="0">
                  <a:pos x="2286" y="864"/>
                </a:cxn>
                <a:cxn ang="0">
                  <a:pos x="2475" y="752"/>
                </a:cxn>
                <a:cxn ang="0">
                  <a:pos x="2664" y="648"/>
                </a:cxn>
                <a:cxn ang="0">
                  <a:pos x="2853" y="536"/>
                </a:cxn>
                <a:cxn ang="0">
                  <a:pos x="3051" y="432"/>
                </a:cxn>
                <a:cxn ang="0">
                  <a:pos x="3240" y="328"/>
                </a:cxn>
                <a:cxn ang="0">
                  <a:pos x="3429" y="216"/>
                </a:cxn>
                <a:cxn ang="0">
                  <a:pos x="3618" y="112"/>
                </a:cxn>
                <a:cxn ang="0">
                  <a:pos x="3807" y="0"/>
                </a:cxn>
              </a:cxnLst>
              <a:rect l="0" t="0" r="r" b="b"/>
              <a:pathLst>
                <a:path w="3808" h="1817">
                  <a:moveTo>
                    <a:pt x="0" y="1816"/>
                  </a:moveTo>
                  <a:lnTo>
                    <a:pt x="189" y="1752"/>
                  </a:lnTo>
                  <a:lnTo>
                    <a:pt x="387" y="1696"/>
                  </a:lnTo>
                  <a:lnTo>
                    <a:pt x="576" y="1640"/>
                  </a:lnTo>
                  <a:lnTo>
                    <a:pt x="765" y="1576"/>
                  </a:lnTo>
                  <a:lnTo>
                    <a:pt x="954" y="1520"/>
                  </a:lnTo>
                  <a:lnTo>
                    <a:pt x="1143" y="1456"/>
                  </a:lnTo>
                  <a:lnTo>
                    <a:pt x="1332" y="1400"/>
                  </a:lnTo>
                  <a:lnTo>
                    <a:pt x="1521" y="1296"/>
                  </a:lnTo>
                  <a:lnTo>
                    <a:pt x="1719" y="1184"/>
                  </a:lnTo>
                  <a:lnTo>
                    <a:pt x="1908" y="1080"/>
                  </a:lnTo>
                  <a:lnTo>
                    <a:pt x="2097" y="968"/>
                  </a:lnTo>
                  <a:lnTo>
                    <a:pt x="2286" y="864"/>
                  </a:lnTo>
                  <a:lnTo>
                    <a:pt x="2475" y="752"/>
                  </a:lnTo>
                  <a:lnTo>
                    <a:pt x="2664" y="648"/>
                  </a:lnTo>
                  <a:lnTo>
                    <a:pt x="2853" y="536"/>
                  </a:lnTo>
                  <a:lnTo>
                    <a:pt x="3051" y="432"/>
                  </a:lnTo>
                  <a:lnTo>
                    <a:pt x="3240" y="328"/>
                  </a:lnTo>
                  <a:lnTo>
                    <a:pt x="3429" y="216"/>
                  </a:lnTo>
                  <a:lnTo>
                    <a:pt x="3618" y="112"/>
                  </a:lnTo>
                  <a:lnTo>
                    <a:pt x="3807" y="0"/>
                  </a:lnTo>
                </a:path>
              </a:pathLst>
            </a:custGeom>
            <a:noFill/>
            <a:ln w="12700" cap="rnd" cmpd="sng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246" name="Freeform 238">
              <a:extLst>
                <a:ext uri="{FF2B5EF4-FFF2-40B4-BE49-F238E27FC236}">
                  <a16:creationId xmlns:a16="http://schemas.microsoft.com/office/drawing/2014/main" id="{F91B14F9-8A4B-46A4-99C0-375B7E17D90F}"/>
                </a:ext>
              </a:extLst>
            </p:cNvPr>
            <p:cNvSpPr>
              <a:spLocks/>
            </p:cNvSpPr>
            <p:nvPr/>
          </p:nvSpPr>
          <p:spPr bwMode="auto">
            <a:xfrm>
              <a:off x="1466850" y="5097462"/>
              <a:ext cx="5373688" cy="573088"/>
            </a:xfrm>
            <a:custGeom>
              <a:avLst/>
              <a:gdLst/>
              <a:ahLst/>
              <a:cxnLst>
                <a:cxn ang="0">
                  <a:pos x="0" y="360"/>
                </a:cxn>
                <a:cxn ang="0">
                  <a:pos x="189" y="344"/>
                </a:cxn>
                <a:cxn ang="0">
                  <a:pos x="387" y="320"/>
                </a:cxn>
                <a:cxn ang="0">
                  <a:pos x="576" y="304"/>
                </a:cxn>
                <a:cxn ang="0">
                  <a:pos x="765" y="288"/>
                </a:cxn>
                <a:cxn ang="0">
                  <a:pos x="954" y="272"/>
                </a:cxn>
                <a:cxn ang="0">
                  <a:pos x="1143" y="248"/>
                </a:cxn>
                <a:cxn ang="0">
                  <a:pos x="1332" y="232"/>
                </a:cxn>
                <a:cxn ang="0">
                  <a:pos x="1521" y="216"/>
                </a:cxn>
                <a:cxn ang="0">
                  <a:pos x="1719" y="200"/>
                </a:cxn>
                <a:cxn ang="0">
                  <a:pos x="1908" y="176"/>
                </a:cxn>
                <a:cxn ang="0">
                  <a:pos x="2097" y="160"/>
                </a:cxn>
                <a:cxn ang="0">
                  <a:pos x="2286" y="144"/>
                </a:cxn>
                <a:cxn ang="0">
                  <a:pos x="2475" y="128"/>
                </a:cxn>
                <a:cxn ang="0">
                  <a:pos x="2664" y="104"/>
                </a:cxn>
                <a:cxn ang="0">
                  <a:pos x="2853" y="88"/>
                </a:cxn>
                <a:cxn ang="0">
                  <a:pos x="3051" y="72"/>
                </a:cxn>
                <a:cxn ang="0">
                  <a:pos x="3240" y="56"/>
                </a:cxn>
                <a:cxn ang="0">
                  <a:pos x="3429" y="32"/>
                </a:cxn>
                <a:cxn ang="0">
                  <a:pos x="3618" y="16"/>
                </a:cxn>
                <a:cxn ang="0">
                  <a:pos x="3807" y="0"/>
                </a:cxn>
              </a:cxnLst>
              <a:rect l="0" t="0" r="r" b="b"/>
              <a:pathLst>
                <a:path w="3808" h="361">
                  <a:moveTo>
                    <a:pt x="0" y="360"/>
                  </a:moveTo>
                  <a:lnTo>
                    <a:pt x="189" y="344"/>
                  </a:lnTo>
                  <a:lnTo>
                    <a:pt x="387" y="320"/>
                  </a:lnTo>
                  <a:lnTo>
                    <a:pt x="576" y="304"/>
                  </a:lnTo>
                  <a:lnTo>
                    <a:pt x="765" y="288"/>
                  </a:lnTo>
                  <a:lnTo>
                    <a:pt x="954" y="272"/>
                  </a:lnTo>
                  <a:lnTo>
                    <a:pt x="1143" y="248"/>
                  </a:lnTo>
                  <a:lnTo>
                    <a:pt x="1332" y="232"/>
                  </a:lnTo>
                  <a:lnTo>
                    <a:pt x="1521" y="216"/>
                  </a:lnTo>
                  <a:lnTo>
                    <a:pt x="1719" y="200"/>
                  </a:lnTo>
                  <a:lnTo>
                    <a:pt x="1908" y="176"/>
                  </a:lnTo>
                  <a:lnTo>
                    <a:pt x="2097" y="160"/>
                  </a:lnTo>
                  <a:lnTo>
                    <a:pt x="2286" y="144"/>
                  </a:lnTo>
                  <a:lnTo>
                    <a:pt x="2475" y="128"/>
                  </a:lnTo>
                  <a:lnTo>
                    <a:pt x="2664" y="104"/>
                  </a:lnTo>
                  <a:lnTo>
                    <a:pt x="2853" y="88"/>
                  </a:lnTo>
                  <a:lnTo>
                    <a:pt x="3051" y="72"/>
                  </a:lnTo>
                  <a:lnTo>
                    <a:pt x="3240" y="56"/>
                  </a:lnTo>
                  <a:lnTo>
                    <a:pt x="3429" y="32"/>
                  </a:lnTo>
                  <a:lnTo>
                    <a:pt x="3618" y="16"/>
                  </a:lnTo>
                  <a:lnTo>
                    <a:pt x="3807" y="0"/>
                  </a:lnTo>
                </a:path>
              </a:pathLst>
            </a:custGeom>
            <a:noFill/>
            <a:ln w="12700" cap="rnd" cmpd="sng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247" name="Rectangle 239">
              <a:extLst>
                <a:ext uri="{FF2B5EF4-FFF2-40B4-BE49-F238E27FC236}">
                  <a16:creationId xmlns:a16="http://schemas.microsoft.com/office/drawing/2014/main" id="{DDC1D650-4BF2-439E-8C35-6A8640239E4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435100" y="5629275"/>
              <a:ext cx="52388" cy="66675"/>
            </a:xfrm>
            <a:prstGeom prst="rect">
              <a:avLst/>
            </a:prstGeom>
            <a:solidFill>
              <a:srgbClr val="DD0806"/>
            </a:solidFill>
            <a:ln w="12700">
              <a:solidFill>
                <a:srgbClr val="000000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48" name="Rectangle 240">
              <a:extLst>
                <a:ext uri="{FF2B5EF4-FFF2-40B4-BE49-F238E27FC236}">
                  <a16:creationId xmlns:a16="http://schemas.microsoft.com/office/drawing/2014/main" id="{BEE64D59-17D6-41E8-977F-5995A2D7C82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701800" y="5527675"/>
              <a:ext cx="52388" cy="66675"/>
            </a:xfrm>
            <a:prstGeom prst="rect">
              <a:avLst/>
            </a:prstGeom>
            <a:solidFill>
              <a:srgbClr val="DD0806"/>
            </a:solidFill>
            <a:ln w="12700">
              <a:solidFill>
                <a:srgbClr val="000000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49" name="Rectangle 241">
              <a:extLst>
                <a:ext uri="{FF2B5EF4-FFF2-40B4-BE49-F238E27FC236}">
                  <a16:creationId xmlns:a16="http://schemas.microsoft.com/office/drawing/2014/main" id="{824DFB4E-6379-41F8-AE86-B1BA35C2FF0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981200" y="5446712"/>
              <a:ext cx="52388" cy="50800"/>
            </a:xfrm>
            <a:prstGeom prst="rect">
              <a:avLst/>
            </a:prstGeom>
            <a:solidFill>
              <a:srgbClr val="DD0806"/>
            </a:solidFill>
            <a:ln w="12700">
              <a:solidFill>
                <a:srgbClr val="000000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50" name="Rectangle 242">
              <a:extLst>
                <a:ext uri="{FF2B5EF4-FFF2-40B4-BE49-F238E27FC236}">
                  <a16:creationId xmlns:a16="http://schemas.microsoft.com/office/drawing/2014/main" id="{E8D08B75-D00C-429B-BD44-05916DAA5C5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247900" y="5357812"/>
              <a:ext cx="52388" cy="50800"/>
            </a:xfrm>
            <a:prstGeom prst="rect">
              <a:avLst/>
            </a:prstGeom>
            <a:solidFill>
              <a:srgbClr val="DD0806"/>
            </a:solidFill>
            <a:ln w="12700">
              <a:solidFill>
                <a:srgbClr val="000000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51" name="Rectangle 243">
              <a:extLst>
                <a:ext uri="{FF2B5EF4-FFF2-40B4-BE49-F238E27FC236}">
                  <a16:creationId xmlns:a16="http://schemas.microsoft.com/office/drawing/2014/main" id="{7E8DB4E1-994D-48B1-9405-B677253D171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514600" y="5256212"/>
              <a:ext cx="52388" cy="50800"/>
            </a:xfrm>
            <a:prstGeom prst="rect">
              <a:avLst/>
            </a:prstGeom>
            <a:solidFill>
              <a:srgbClr val="DD0806"/>
            </a:solidFill>
            <a:ln w="12700">
              <a:solidFill>
                <a:srgbClr val="000000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52" name="Rectangle 244">
              <a:extLst>
                <a:ext uri="{FF2B5EF4-FFF2-40B4-BE49-F238E27FC236}">
                  <a16:creationId xmlns:a16="http://schemas.microsoft.com/office/drawing/2014/main" id="{7C9122F1-4D66-4D4F-B323-1DC425F4AF5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781300" y="5167312"/>
              <a:ext cx="52388" cy="50800"/>
            </a:xfrm>
            <a:prstGeom prst="rect">
              <a:avLst/>
            </a:prstGeom>
            <a:solidFill>
              <a:srgbClr val="DD0806"/>
            </a:solidFill>
            <a:ln w="12700">
              <a:solidFill>
                <a:srgbClr val="000000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53" name="Rectangle 245">
              <a:extLst>
                <a:ext uri="{FF2B5EF4-FFF2-40B4-BE49-F238E27FC236}">
                  <a16:creationId xmlns:a16="http://schemas.microsoft.com/office/drawing/2014/main" id="{5978EF0D-7A6C-404D-ACBC-BE49C19880B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048000" y="5065712"/>
              <a:ext cx="52388" cy="50800"/>
            </a:xfrm>
            <a:prstGeom prst="rect">
              <a:avLst/>
            </a:prstGeom>
            <a:solidFill>
              <a:srgbClr val="DD0806"/>
            </a:solidFill>
            <a:ln w="12700">
              <a:solidFill>
                <a:srgbClr val="000000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54" name="Rectangle 246">
              <a:extLst>
                <a:ext uri="{FF2B5EF4-FFF2-40B4-BE49-F238E27FC236}">
                  <a16:creationId xmlns:a16="http://schemas.microsoft.com/office/drawing/2014/main" id="{79AF182D-4D61-4187-A2CD-E6C70760186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314700" y="4976812"/>
              <a:ext cx="52388" cy="50800"/>
            </a:xfrm>
            <a:prstGeom prst="rect">
              <a:avLst/>
            </a:prstGeom>
            <a:solidFill>
              <a:srgbClr val="DD0806"/>
            </a:solidFill>
            <a:ln w="12700">
              <a:solidFill>
                <a:srgbClr val="000000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55" name="Rectangle 247">
              <a:extLst>
                <a:ext uri="{FF2B5EF4-FFF2-40B4-BE49-F238E27FC236}">
                  <a16:creationId xmlns:a16="http://schemas.microsoft.com/office/drawing/2014/main" id="{F6A5CC4F-99C6-47BC-B171-2104D4EA9E0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581400" y="4811712"/>
              <a:ext cx="52388" cy="50800"/>
            </a:xfrm>
            <a:prstGeom prst="rect">
              <a:avLst/>
            </a:prstGeom>
            <a:solidFill>
              <a:srgbClr val="DD0806"/>
            </a:solidFill>
            <a:ln w="12700">
              <a:solidFill>
                <a:srgbClr val="000000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56" name="Rectangle 248">
              <a:extLst>
                <a:ext uri="{FF2B5EF4-FFF2-40B4-BE49-F238E27FC236}">
                  <a16:creationId xmlns:a16="http://schemas.microsoft.com/office/drawing/2014/main" id="{A4B9EB33-9635-4B8C-B11F-204E8CB9B5D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860800" y="4633912"/>
              <a:ext cx="52388" cy="50800"/>
            </a:xfrm>
            <a:prstGeom prst="rect">
              <a:avLst/>
            </a:prstGeom>
            <a:solidFill>
              <a:srgbClr val="DD0806"/>
            </a:solidFill>
            <a:ln w="12700">
              <a:solidFill>
                <a:srgbClr val="000000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57" name="Rectangle 249">
              <a:extLst>
                <a:ext uri="{FF2B5EF4-FFF2-40B4-BE49-F238E27FC236}">
                  <a16:creationId xmlns:a16="http://schemas.microsoft.com/office/drawing/2014/main" id="{3F77C535-0587-42E6-B9D9-909D4FF0367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127500" y="4468812"/>
              <a:ext cx="52388" cy="50800"/>
            </a:xfrm>
            <a:prstGeom prst="rect">
              <a:avLst/>
            </a:prstGeom>
            <a:solidFill>
              <a:srgbClr val="DD0806"/>
            </a:solidFill>
            <a:ln w="12700">
              <a:solidFill>
                <a:srgbClr val="000000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58" name="Rectangle 250">
              <a:extLst>
                <a:ext uri="{FF2B5EF4-FFF2-40B4-BE49-F238E27FC236}">
                  <a16:creationId xmlns:a16="http://schemas.microsoft.com/office/drawing/2014/main" id="{42DEDEC1-A707-4C0B-BF44-617B47ED0FE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394200" y="4291012"/>
              <a:ext cx="52388" cy="50800"/>
            </a:xfrm>
            <a:prstGeom prst="rect">
              <a:avLst/>
            </a:prstGeom>
            <a:solidFill>
              <a:srgbClr val="DD0806"/>
            </a:solidFill>
            <a:ln w="12700">
              <a:solidFill>
                <a:srgbClr val="000000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59" name="Rectangle 251">
              <a:extLst>
                <a:ext uri="{FF2B5EF4-FFF2-40B4-BE49-F238E27FC236}">
                  <a16:creationId xmlns:a16="http://schemas.microsoft.com/office/drawing/2014/main" id="{2800F05B-568E-447B-B258-7EB3ACB80EE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660900" y="4125912"/>
              <a:ext cx="52388" cy="50800"/>
            </a:xfrm>
            <a:prstGeom prst="rect">
              <a:avLst/>
            </a:prstGeom>
            <a:solidFill>
              <a:srgbClr val="DD0806"/>
            </a:solidFill>
            <a:ln w="12700">
              <a:solidFill>
                <a:srgbClr val="000000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60" name="Rectangle 252">
              <a:extLst>
                <a:ext uri="{FF2B5EF4-FFF2-40B4-BE49-F238E27FC236}">
                  <a16:creationId xmlns:a16="http://schemas.microsoft.com/office/drawing/2014/main" id="{5613BEFC-B007-420B-A44A-BE563929F6D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927600" y="3948112"/>
              <a:ext cx="52388" cy="50800"/>
            </a:xfrm>
            <a:prstGeom prst="rect">
              <a:avLst/>
            </a:prstGeom>
            <a:solidFill>
              <a:srgbClr val="DD0806"/>
            </a:solidFill>
            <a:ln w="12700">
              <a:solidFill>
                <a:srgbClr val="000000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61" name="Rectangle 253">
              <a:extLst>
                <a:ext uri="{FF2B5EF4-FFF2-40B4-BE49-F238E27FC236}">
                  <a16:creationId xmlns:a16="http://schemas.microsoft.com/office/drawing/2014/main" id="{AF8892BA-3520-43CA-B9FD-2463D7BCA1B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194300" y="3783012"/>
              <a:ext cx="52388" cy="50800"/>
            </a:xfrm>
            <a:prstGeom prst="rect">
              <a:avLst/>
            </a:prstGeom>
            <a:solidFill>
              <a:srgbClr val="DD0806"/>
            </a:solidFill>
            <a:ln w="12700">
              <a:solidFill>
                <a:srgbClr val="000000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62" name="Rectangle 254">
              <a:extLst>
                <a:ext uri="{FF2B5EF4-FFF2-40B4-BE49-F238E27FC236}">
                  <a16:creationId xmlns:a16="http://schemas.microsoft.com/office/drawing/2014/main" id="{2967BAF2-79F7-4F3E-A847-09CA6DCF33A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461000" y="3605212"/>
              <a:ext cx="52388" cy="50800"/>
            </a:xfrm>
            <a:prstGeom prst="rect">
              <a:avLst/>
            </a:prstGeom>
            <a:solidFill>
              <a:srgbClr val="DD0806"/>
            </a:solidFill>
            <a:ln w="12700">
              <a:solidFill>
                <a:srgbClr val="000000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63" name="Rectangle 255">
              <a:extLst>
                <a:ext uri="{FF2B5EF4-FFF2-40B4-BE49-F238E27FC236}">
                  <a16:creationId xmlns:a16="http://schemas.microsoft.com/office/drawing/2014/main" id="{AC4FDB87-9160-44E9-8CBD-898132844B0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740400" y="3440112"/>
              <a:ext cx="52388" cy="50800"/>
            </a:xfrm>
            <a:prstGeom prst="rect">
              <a:avLst/>
            </a:prstGeom>
            <a:solidFill>
              <a:srgbClr val="DD0806"/>
            </a:solidFill>
            <a:ln w="12700">
              <a:solidFill>
                <a:srgbClr val="000000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64" name="Rectangle 256">
              <a:extLst>
                <a:ext uri="{FF2B5EF4-FFF2-40B4-BE49-F238E27FC236}">
                  <a16:creationId xmlns:a16="http://schemas.microsoft.com/office/drawing/2014/main" id="{40872F63-D093-4C55-94A0-4FA44CFD30E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007100" y="3275012"/>
              <a:ext cx="52388" cy="50800"/>
            </a:xfrm>
            <a:prstGeom prst="rect">
              <a:avLst/>
            </a:prstGeom>
            <a:solidFill>
              <a:srgbClr val="DD0806"/>
            </a:solidFill>
            <a:ln w="12700">
              <a:solidFill>
                <a:srgbClr val="000000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65" name="Rectangle 257">
              <a:extLst>
                <a:ext uri="{FF2B5EF4-FFF2-40B4-BE49-F238E27FC236}">
                  <a16:creationId xmlns:a16="http://schemas.microsoft.com/office/drawing/2014/main" id="{A8B3FC71-8513-4AD3-9671-CAE74E07B83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273800" y="3097212"/>
              <a:ext cx="52388" cy="50800"/>
            </a:xfrm>
            <a:prstGeom prst="rect">
              <a:avLst/>
            </a:prstGeom>
            <a:solidFill>
              <a:srgbClr val="DD0806"/>
            </a:solidFill>
            <a:ln w="12700">
              <a:solidFill>
                <a:srgbClr val="000000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66" name="Rectangle 258">
              <a:extLst>
                <a:ext uri="{FF2B5EF4-FFF2-40B4-BE49-F238E27FC236}">
                  <a16:creationId xmlns:a16="http://schemas.microsoft.com/office/drawing/2014/main" id="{86118687-A8CC-403C-9D1D-E5AD7BBE41C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540500" y="2932112"/>
              <a:ext cx="52388" cy="50800"/>
            </a:xfrm>
            <a:prstGeom prst="rect">
              <a:avLst/>
            </a:prstGeom>
            <a:solidFill>
              <a:srgbClr val="DD0806"/>
            </a:solidFill>
            <a:ln w="12700">
              <a:solidFill>
                <a:srgbClr val="000000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67" name="Rectangle 259">
              <a:extLst>
                <a:ext uri="{FF2B5EF4-FFF2-40B4-BE49-F238E27FC236}">
                  <a16:creationId xmlns:a16="http://schemas.microsoft.com/office/drawing/2014/main" id="{FF7C4E51-F6D1-4952-8326-46AB8F9563D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807200" y="2754312"/>
              <a:ext cx="52388" cy="50800"/>
            </a:xfrm>
            <a:prstGeom prst="rect">
              <a:avLst/>
            </a:prstGeom>
            <a:solidFill>
              <a:srgbClr val="DD0806"/>
            </a:solidFill>
            <a:ln w="12700">
              <a:solidFill>
                <a:srgbClr val="000000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68" name="Rectangle 260">
              <a:extLst>
                <a:ext uri="{FF2B5EF4-FFF2-40B4-BE49-F238E27FC236}">
                  <a16:creationId xmlns:a16="http://schemas.microsoft.com/office/drawing/2014/main" id="{4BF9C0D8-69BB-4709-A113-3033933B123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435100" y="5629275"/>
              <a:ext cx="52388" cy="66675"/>
            </a:xfrm>
            <a:prstGeom prst="rect">
              <a:avLst/>
            </a:prstGeom>
            <a:solidFill>
              <a:srgbClr val="008011"/>
            </a:solidFill>
            <a:ln w="12700">
              <a:solidFill>
                <a:srgbClr val="000000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69" name="Rectangle 261">
              <a:extLst>
                <a:ext uri="{FF2B5EF4-FFF2-40B4-BE49-F238E27FC236}">
                  <a16:creationId xmlns:a16="http://schemas.microsoft.com/office/drawing/2014/main" id="{3B60B3A3-881E-484E-98FA-030C14E590E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701800" y="5603875"/>
              <a:ext cx="52388" cy="66675"/>
            </a:xfrm>
            <a:prstGeom prst="rect">
              <a:avLst/>
            </a:prstGeom>
            <a:solidFill>
              <a:srgbClr val="008011"/>
            </a:solidFill>
            <a:ln w="12700">
              <a:solidFill>
                <a:srgbClr val="000000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70" name="Rectangle 262">
              <a:extLst>
                <a:ext uri="{FF2B5EF4-FFF2-40B4-BE49-F238E27FC236}">
                  <a16:creationId xmlns:a16="http://schemas.microsoft.com/office/drawing/2014/main" id="{15ED2341-7D01-402B-A6A9-41366251CF0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981200" y="5565775"/>
              <a:ext cx="52388" cy="66675"/>
            </a:xfrm>
            <a:prstGeom prst="rect">
              <a:avLst/>
            </a:prstGeom>
            <a:solidFill>
              <a:srgbClr val="008011"/>
            </a:solidFill>
            <a:ln w="12700">
              <a:solidFill>
                <a:srgbClr val="000000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71" name="Rectangle 263">
              <a:extLst>
                <a:ext uri="{FF2B5EF4-FFF2-40B4-BE49-F238E27FC236}">
                  <a16:creationId xmlns:a16="http://schemas.microsoft.com/office/drawing/2014/main" id="{2D0E3647-0836-4153-A3F2-511C4DD3165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247900" y="5540375"/>
              <a:ext cx="52388" cy="66675"/>
            </a:xfrm>
            <a:prstGeom prst="rect">
              <a:avLst/>
            </a:prstGeom>
            <a:solidFill>
              <a:srgbClr val="008011"/>
            </a:solidFill>
            <a:ln w="12700">
              <a:solidFill>
                <a:srgbClr val="000000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72" name="Rectangle 264">
              <a:extLst>
                <a:ext uri="{FF2B5EF4-FFF2-40B4-BE49-F238E27FC236}">
                  <a16:creationId xmlns:a16="http://schemas.microsoft.com/office/drawing/2014/main" id="{A6C497AA-030A-43E9-928A-ABE4209DB5C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514600" y="5514975"/>
              <a:ext cx="52388" cy="66675"/>
            </a:xfrm>
            <a:prstGeom prst="rect">
              <a:avLst/>
            </a:prstGeom>
            <a:solidFill>
              <a:srgbClr val="008011"/>
            </a:solidFill>
            <a:ln w="12700">
              <a:solidFill>
                <a:srgbClr val="000000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73" name="Rectangle 265">
              <a:extLst>
                <a:ext uri="{FF2B5EF4-FFF2-40B4-BE49-F238E27FC236}">
                  <a16:creationId xmlns:a16="http://schemas.microsoft.com/office/drawing/2014/main" id="{EF9D609E-2963-442B-8DD3-0C21A735FF9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781300" y="5489575"/>
              <a:ext cx="52388" cy="66675"/>
            </a:xfrm>
            <a:prstGeom prst="rect">
              <a:avLst/>
            </a:prstGeom>
            <a:solidFill>
              <a:srgbClr val="008011"/>
            </a:solidFill>
            <a:ln w="12700">
              <a:solidFill>
                <a:srgbClr val="000000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74" name="Rectangle 266">
              <a:extLst>
                <a:ext uri="{FF2B5EF4-FFF2-40B4-BE49-F238E27FC236}">
                  <a16:creationId xmlns:a16="http://schemas.microsoft.com/office/drawing/2014/main" id="{50149E64-7932-416C-BD44-CFBCDC42422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048000" y="5451475"/>
              <a:ext cx="52388" cy="66675"/>
            </a:xfrm>
            <a:prstGeom prst="rect">
              <a:avLst/>
            </a:prstGeom>
            <a:solidFill>
              <a:srgbClr val="008011"/>
            </a:solidFill>
            <a:ln w="12700">
              <a:solidFill>
                <a:srgbClr val="000000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75" name="Rectangle 267">
              <a:extLst>
                <a:ext uri="{FF2B5EF4-FFF2-40B4-BE49-F238E27FC236}">
                  <a16:creationId xmlns:a16="http://schemas.microsoft.com/office/drawing/2014/main" id="{3C602B25-627E-481F-8ED1-6EBA0D21746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314700" y="5434012"/>
              <a:ext cx="52388" cy="50800"/>
            </a:xfrm>
            <a:prstGeom prst="rect">
              <a:avLst/>
            </a:prstGeom>
            <a:solidFill>
              <a:srgbClr val="008011"/>
            </a:solidFill>
            <a:ln w="12700">
              <a:solidFill>
                <a:srgbClr val="000000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76" name="Rectangle 268">
              <a:extLst>
                <a:ext uri="{FF2B5EF4-FFF2-40B4-BE49-F238E27FC236}">
                  <a16:creationId xmlns:a16="http://schemas.microsoft.com/office/drawing/2014/main" id="{90498CF0-77AB-42B4-8B6F-3608CF933BA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581400" y="5408612"/>
              <a:ext cx="52388" cy="50800"/>
            </a:xfrm>
            <a:prstGeom prst="rect">
              <a:avLst/>
            </a:prstGeom>
            <a:solidFill>
              <a:srgbClr val="008011"/>
            </a:solidFill>
            <a:ln w="12700">
              <a:solidFill>
                <a:srgbClr val="000000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77" name="Rectangle 269">
              <a:extLst>
                <a:ext uri="{FF2B5EF4-FFF2-40B4-BE49-F238E27FC236}">
                  <a16:creationId xmlns:a16="http://schemas.microsoft.com/office/drawing/2014/main" id="{BCC2BF5E-EB85-4DAD-A1DA-7053C638E5E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860800" y="5383212"/>
              <a:ext cx="52388" cy="50800"/>
            </a:xfrm>
            <a:prstGeom prst="rect">
              <a:avLst/>
            </a:prstGeom>
            <a:solidFill>
              <a:srgbClr val="008011"/>
            </a:solidFill>
            <a:ln w="12700">
              <a:solidFill>
                <a:srgbClr val="000000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78" name="Rectangle 270">
              <a:extLst>
                <a:ext uri="{FF2B5EF4-FFF2-40B4-BE49-F238E27FC236}">
                  <a16:creationId xmlns:a16="http://schemas.microsoft.com/office/drawing/2014/main" id="{1D840CE5-DB07-49E7-A7B2-8C681C7BFB0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127500" y="5345112"/>
              <a:ext cx="52388" cy="50800"/>
            </a:xfrm>
            <a:prstGeom prst="rect">
              <a:avLst/>
            </a:prstGeom>
            <a:solidFill>
              <a:srgbClr val="008011"/>
            </a:solidFill>
            <a:ln w="12700">
              <a:solidFill>
                <a:srgbClr val="000000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79" name="Rectangle 271">
              <a:extLst>
                <a:ext uri="{FF2B5EF4-FFF2-40B4-BE49-F238E27FC236}">
                  <a16:creationId xmlns:a16="http://schemas.microsoft.com/office/drawing/2014/main" id="{47B904D5-C0C1-42B9-925D-E023FC58347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394200" y="5319712"/>
              <a:ext cx="52388" cy="50800"/>
            </a:xfrm>
            <a:prstGeom prst="rect">
              <a:avLst/>
            </a:prstGeom>
            <a:solidFill>
              <a:srgbClr val="008011"/>
            </a:solidFill>
            <a:ln w="12700">
              <a:solidFill>
                <a:srgbClr val="000000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80" name="Rectangle 272">
              <a:extLst>
                <a:ext uri="{FF2B5EF4-FFF2-40B4-BE49-F238E27FC236}">
                  <a16:creationId xmlns:a16="http://schemas.microsoft.com/office/drawing/2014/main" id="{CC9576B9-F878-4BA7-9F60-D33E24292DD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660900" y="5294312"/>
              <a:ext cx="52388" cy="50800"/>
            </a:xfrm>
            <a:prstGeom prst="rect">
              <a:avLst/>
            </a:prstGeom>
            <a:solidFill>
              <a:srgbClr val="008011"/>
            </a:solidFill>
            <a:ln w="12700">
              <a:solidFill>
                <a:srgbClr val="000000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81" name="Rectangle 273">
              <a:extLst>
                <a:ext uri="{FF2B5EF4-FFF2-40B4-BE49-F238E27FC236}">
                  <a16:creationId xmlns:a16="http://schemas.microsoft.com/office/drawing/2014/main" id="{2E074279-7221-4A08-836A-9B72F005C1D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927600" y="5268912"/>
              <a:ext cx="52388" cy="50800"/>
            </a:xfrm>
            <a:prstGeom prst="rect">
              <a:avLst/>
            </a:prstGeom>
            <a:solidFill>
              <a:srgbClr val="008011"/>
            </a:solidFill>
            <a:ln w="12700">
              <a:solidFill>
                <a:srgbClr val="000000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82" name="Rectangle 274">
              <a:extLst>
                <a:ext uri="{FF2B5EF4-FFF2-40B4-BE49-F238E27FC236}">
                  <a16:creationId xmlns:a16="http://schemas.microsoft.com/office/drawing/2014/main" id="{0C83156A-0EDB-4CD2-BC8D-BB846498F8F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194300" y="5230812"/>
              <a:ext cx="52388" cy="50800"/>
            </a:xfrm>
            <a:prstGeom prst="rect">
              <a:avLst/>
            </a:prstGeom>
            <a:solidFill>
              <a:srgbClr val="008011"/>
            </a:solidFill>
            <a:ln w="12700">
              <a:solidFill>
                <a:srgbClr val="000000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83" name="Rectangle 275">
              <a:extLst>
                <a:ext uri="{FF2B5EF4-FFF2-40B4-BE49-F238E27FC236}">
                  <a16:creationId xmlns:a16="http://schemas.microsoft.com/office/drawing/2014/main" id="{6BBF4746-7B99-44EE-AF79-FA501951FE7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461000" y="5205412"/>
              <a:ext cx="52388" cy="50800"/>
            </a:xfrm>
            <a:prstGeom prst="rect">
              <a:avLst/>
            </a:prstGeom>
            <a:solidFill>
              <a:srgbClr val="008011"/>
            </a:solidFill>
            <a:ln w="12700">
              <a:solidFill>
                <a:srgbClr val="000000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84" name="Rectangle 276">
              <a:extLst>
                <a:ext uri="{FF2B5EF4-FFF2-40B4-BE49-F238E27FC236}">
                  <a16:creationId xmlns:a16="http://schemas.microsoft.com/office/drawing/2014/main" id="{BA9D9104-C6F4-4BC1-A4C6-D352E9663F8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740400" y="5180012"/>
              <a:ext cx="52388" cy="50800"/>
            </a:xfrm>
            <a:prstGeom prst="rect">
              <a:avLst/>
            </a:prstGeom>
            <a:solidFill>
              <a:srgbClr val="008011"/>
            </a:solidFill>
            <a:ln w="12700">
              <a:solidFill>
                <a:srgbClr val="000000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85" name="Rectangle 277">
              <a:extLst>
                <a:ext uri="{FF2B5EF4-FFF2-40B4-BE49-F238E27FC236}">
                  <a16:creationId xmlns:a16="http://schemas.microsoft.com/office/drawing/2014/main" id="{3D16CA80-CB5B-41BC-9902-535F687D82F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007100" y="5154612"/>
              <a:ext cx="52388" cy="50800"/>
            </a:xfrm>
            <a:prstGeom prst="rect">
              <a:avLst/>
            </a:prstGeom>
            <a:solidFill>
              <a:srgbClr val="008011"/>
            </a:solidFill>
            <a:ln w="12700">
              <a:solidFill>
                <a:srgbClr val="000000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86" name="Rectangle 278">
              <a:extLst>
                <a:ext uri="{FF2B5EF4-FFF2-40B4-BE49-F238E27FC236}">
                  <a16:creationId xmlns:a16="http://schemas.microsoft.com/office/drawing/2014/main" id="{538297E6-8710-4D5D-91E7-FA2EA762A34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273800" y="5116512"/>
              <a:ext cx="52388" cy="50800"/>
            </a:xfrm>
            <a:prstGeom prst="rect">
              <a:avLst/>
            </a:prstGeom>
            <a:solidFill>
              <a:srgbClr val="008011"/>
            </a:solidFill>
            <a:ln w="12700">
              <a:solidFill>
                <a:srgbClr val="000000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87" name="Rectangle 279">
              <a:extLst>
                <a:ext uri="{FF2B5EF4-FFF2-40B4-BE49-F238E27FC236}">
                  <a16:creationId xmlns:a16="http://schemas.microsoft.com/office/drawing/2014/main" id="{B9475951-4529-475C-B46F-ED1571454AE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540500" y="5091112"/>
              <a:ext cx="52388" cy="50800"/>
            </a:xfrm>
            <a:prstGeom prst="rect">
              <a:avLst/>
            </a:prstGeom>
            <a:solidFill>
              <a:srgbClr val="008011"/>
            </a:solidFill>
            <a:ln w="12700">
              <a:solidFill>
                <a:srgbClr val="000000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88" name="Rectangle 280">
              <a:extLst>
                <a:ext uri="{FF2B5EF4-FFF2-40B4-BE49-F238E27FC236}">
                  <a16:creationId xmlns:a16="http://schemas.microsoft.com/office/drawing/2014/main" id="{72EB4E32-AC02-472B-8A9D-2882A053372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807200" y="5065712"/>
              <a:ext cx="52388" cy="50800"/>
            </a:xfrm>
            <a:prstGeom prst="rect">
              <a:avLst/>
            </a:prstGeom>
            <a:solidFill>
              <a:srgbClr val="008011"/>
            </a:solidFill>
            <a:ln w="12700">
              <a:solidFill>
                <a:srgbClr val="000000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89" name="Rectangle 281">
              <a:extLst>
                <a:ext uri="{FF2B5EF4-FFF2-40B4-BE49-F238E27FC236}">
                  <a16:creationId xmlns:a16="http://schemas.microsoft.com/office/drawing/2014/main" id="{F754919E-2CD3-4363-BEFD-11337B88FBA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66800" y="5416550"/>
              <a:ext cx="354265" cy="459100"/>
            </a:xfrm>
            <a:prstGeom prst="rect">
              <a:avLst/>
            </a:prstGeom>
            <a:noFill/>
            <a:ln w="12700">
              <a:noFill/>
              <a:miter lim="800000"/>
              <a:headEnd/>
              <a:tailEnd/>
            </a:ln>
            <a:effectLst/>
          </p:spPr>
          <p:txBody>
            <a:bodyPr wrap="none" lIns="90488" tIns="44450" rIns="90488" bIns="44450">
              <a:spAutoFit/>
            </a:bodyPr>
            <a:lstStyle/>
            <a:p>
              <a:pPr algn="r" eaLnBrk="0" hangingPunct="0"/>
              <a:r>
                <a:rPr lang="en-US" sz="2400" b="1" dirty="0">
                  <a:latin typeface="Geneva" charset="0"/>
                </a:rPr>
                <a:t>1</a:t>
              </a:r>
            </a:p>
          </p:txBody>
        </p:sp>
        <p:sp>
          <p:nvSpPr>
            <p:cNvPr id="290" name="Rectangle 282">
              <a:extLst>
                <a:ext uri="{FF2B5EF4-FFF2-40B4-BE49-F238E27FC236}">
                  <a16:creationId xmlns:a16="http://schemas.microsoft.com/office/drawing/2014/main" id="{E53942A9-46EF-4A2A-8AC0-E7A66FA5A31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28435" y="4451350"/>
              <a:ext cx="525786" cy="459100"/>
            </a:xfrm>
            <a:prstGeom prst="rect">
              <a:avLst/>
            </a:prstGeom>
            <a:noFill/>
            <a:ln w="12700">
              <a:noFill/>
              <a:miter lim="800000"/>
              <a:headEnd/>
              <a:tailEnd/>
            </a:ln>
            <a:effectLst/>
          </p:spPr>
          <p:txBody>
            <a:bodyPr wrap="none" lIns="90488" tIns="44450" rIns="90488" bIns="44450">
              <a:spAutoFit/>
            </a:bodyPr>
            <a:lstStyle/>
            <a:p>
              <a:pPr algn="r" eaLnBrk="0" hangingPunct="0"/>
              <a:r>
                <a:rPr lang="en-US" sz="2400" b="1" dirty="0">
                  <a:latin typeface="Geneva" charset="0"/>
                </a:rPr>
                <a:t>10</a:t>
              </a:r>
            </a:p>
          </p:txBody>
        </p:sp>
        <p:sp>
          <p:nvSpPr>
            <p:cNvPr id="291" name="Rectangle 283">
              <a:extLst>
                <a:ext uri="{FF2B5EF4-FFF2-40B4-BE49-F238E27FC236}">
                  <a16:creationId xmlns:a16="http://schemas.microsoft.com/office/drawing/2014/main" id="{57E5C300-EEB3-47C5-98CF-9B1FF321346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63335" y="3562350"/>
              <a:ext cx="697308" cy="459100"/>
            </a:xfrm>
            <a:prstGeom prst="rect">
              <a:avLst/>
            </a:prstGeom>
            <a:noFill/>
            <a:ln w="12700">
              <a:noFill/>
              <a:miter lim="800000"/>
              <a:headEnd/>
              <a:tailEnd/>
            </a:ln>
            <a:effectLst/>
          </p:spPr>
          <p:txBody>
            <a:bodyPr wrap="none" lIns="90488" tIns="44450" rIns="90488" bIns="44450">
              <a:spAutoFit/>
            </a:bodyPr>
            <a:lstStyle/>
            <a:p>
              <a:pPr algn="r" eaLnBrk="0" hangingPunct="0"/>
              <a:r>
                <a:rPr lang="en-US" sz="2400" b="1" dirty="0">
                  <a:latin typeface="Geneva" charset="0"/>
                </a:rPr>
                <a:t>100</a:t>
              </a:r>
            </a:p>
          </p:txBody>
        </p:sp>
        <p:sp>
          <p:nvSpPr>
            <p:cNvPr id="292" name="Rectangle 284">
              <a:extLst>
                <a:ext uri="{FF2B5EF4-FFF2-40B4-BE49-F238E27FC236}">
                  <a16:creationId xmlns:a16="http://schemas.microsoft.com/office/drawing/2014/main" id="{0A59ED42-92E0-42D0-AC3F-A777F4823EB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09600" y="2508250"/>
              <a:ext cx="868829" cy="459100"/>
            </a:xfrm>
            <a:prstGeom prst="rect">
              <a:avLst/>
            </a:prstGeom>
            <a:noFill/>
            <a:ln w="12700">
              <a:noFill/>
              <a:miter lim="800000"/>
              <a:headEnd/>
              <a:tailEnd/>
            </a:ln>
            <a:effectLst/>
          </p:spPr>
          <p:txBody>
            <a:bodyPr wrap="none" lIns="90488" tIns="44450" rIns="90488" bIns="44450">
              <a:spAutoFit/>
            </a:bodyPr>
            <a:lstStyle/>
            <a:p>
              <a:pPr algn="r" eaLnBrk="0" hangingPunct="0"/>
              <a:r>
                <a:rPr lang="en-US" sz="2400" b="1" dirty="0">
                  <a:latin typeface="Geneva" charset="0"/>
                </a:rPr>
                <a:t>1000</a:t>
              </a:r>
            </a:p>
          </p:txBody>
        </p:sp>
        <p:sp>
          <p:nvSpPr>
            <p:cNvPr id="293" name="Rectangle 285">
              <a:extLst>
                <a:ext uri="{FF2B5EF4-FFF2-40B4-BE49-F238E27FC236}">
                  <a16:creationId xmlns:a16="http://schemas.microsoft.com/office/drawing/2014/main" id="{4A0257D5-F09B-4C90-AF76-779FC78DA1D0}"/>
                </a:ext>
              </a:extLst>
            </p:cNvPr>
            <p:cNvSpPr>
              <a:spLocks noChangeArrowheads="1"/>
            </p:cNvSpPr>
            <p:nvPr/>
          </p:nvSpPr>
          <p:spPr bwMode="auto">
            <a:xfrm rot="16200000">
              <a:off x="1165225" y="5740400"/>
              <a:ext cx="887413" cy="325437"/>
            </a:xfrm>
            <a:prstGeom prst="rect">
              <a:avLst/>
            </a:prstGeom>
            <a:noFill/>
            <a:ln w="12700">
              <a:noFill/>
              <a:miter lim="800000"/>
              <a:headEnd/>
              <a:tailEnd/>
            </a:ln>
            <a:effectLst/>
          </p:spPr>
          <p:txBody>
            <a:bodyPr lIns="90488" tIns="44450" rIns="90488" bIns="44450">
              <a:spAutoFit/>
            </a:bodyPr>
            <a:lstStyle/>
            <a:p>
              <a:pPr algn="l" eaLnBrk="0" hangingPunct="0"/>
              <a:r>
                <a:rPr lang="en-US" sz="1800" b="1">
                  <a:latin typeface="Geneva" charset="0"/>
                </a:rPr>
                <a:t>1980</a:t>
              </a:r>
            </a:p>
          </p:txBody>
        </p:sp>
        <p:sp>
          <p:nvSpPr>
            <p:cNvPr id="294" name="Rectangle 286">
              <a:extLst>
                <a:ext uri="{FF2B5EF4-FFF2-40B4-BE49-F238E27FC236}">
                  <a16:creationId xmlns:a16="http://schemas.microsoft.com/office/drawing/2014/main" id="{CFCC8AAB-3378-49A1-878F-01B69D97E553}"/>
                </a:ext>
              </a:extLst>
            </p:cNvPr>
            <p:cNvSpPr>
              <a:spLocks noChangeArrowheads="1"/>
            </p:cNvSpPr>
            <p:nvPr/>
          </p:nvSpPr>
          <p:spPr bwMode="auto">
            <a:xfrm rot="16200000">
              <a:off x="1431925" y="5740400"/>
              <a:ext cx="887413" cy="325437"/>
            </a:xfrm>
            <a:prstGeom prst="rect">
              <a:avLst/>
            </a:prstGeom>
            <a:noFill/>
            <a:ln w="12700">
              <a:noFill/>
              <a:miter lim="800000"/>
              <a:headEnd/>
              <a:tailEnd/>
            </a:ln>
            <a:effectLst/>
          </p:spPr>
          <p:txBody>
            <a:bodyPr lIns="90488" tIns="44450" rIns="90488" bIns="44450">
              <a:spAutoFit/>
            </a:bodyPr>
            <a:lstStyle/>
            <a:p>
              <a:pPr algn="l" eaLnBrk="0" hangingPunct="0"/>
              <a:r>
                <a:rPr lang="en-US" sz="1800" b="1">
                  <a:latin typeface="Geneva" charset="0"/>
                </a:rPr>
                <a:t>1981</a:t>
              </a:r>
            </a:p>
          </p:txBody>
        </p:sp>
        <p:sp>
          <p:nvSpPr>
            <p:cNvPr id="295" name="Rectangle 287">
              <a:extLst>
                <a:ext uri="{FF2B5EF4-FFF2-40B4-BE49-F238E27FC236}">
                  <a16:creationId xmlns:a16="http://schemas.microsoft.com/office/drawing/2014/main" id="{971B04AF-205A-46C7-93F9-D7C1A03DC5B4}"/>
                </a:ext>
              </a:extLst>
            </p:cNvPr>
            <p:cNvSpPr>
              <a:spLocks noChangeArrowheads="1"/>
            </p:cNvSpPr>
            <p:nvPr/>
          </p:nvSpPr>
          <p:spPr bwMode="auto">
            <a:xfrm rot="16200000">
              <a:off x="1965325" y="5740400"/>
              <a:ext cx="887413" cy="325437"/>
            </a:xfrm>
            <a:prstGeom prst="rect">
              <a:avLst/>
            </a:prstGeom>
            <a:noFill/>
            <a:ln w="12700">
              <a:noFill/>
              <a:miter lim="800000"/>
              <a:headEnd/>
              <a:tailEnd/>
            </a:ln>
            <a:effectLst/>
          </p:spPr>
          <p:txBody>
            <a:bodyPr lIns="90488" tIns="44450" rIns="90488" bIns="44450">
              <a:spAutoFit/>
            </a:bodyPr>
            <a:lstStyle/>
            <a:p>
              <a:pPr algn="l" eaLnBrk="0" hangingPunct="0"/>
              <a:r>
                <a:rPr lang="en-US" sz="1800" b="1">
                  <a:latin typeface="Geneva" charset="0"/>
                </a:rPr>
                <a:t>1983</a:t>
              </a:r>
            </a:p>
          </p:txBody>
        </p:sp>
        <p:sp>
          <p:nvSpPr>
            <p:cNvPr id="296" name="Rectangle 288">
              <a:extLst>
                <a:ext uri="{FF2B5EF4-FFF2-40B4-BE49-F238E27FC236}">
                  <a16:creationId xmlns:a16="http://schemas.microsoft.com/office/drawing/2014/main" id="{116E98B7-009C-430F-BBE2-22096D106FD6}"/>
                </a:ext>
              </a:extLst>
            </p:cNvPr>
            <p:cNvSpPr>
              <a:spLocks noChangeArrowheads="1"/>
            </p:cNvSpPr>
            <p:nvPr/>
          </p:nvSpPr>
          <p:spPr bwMode="auto">
            <a:xfrm rot="16200000">
              <a:off x="2232025" y="5740400"/>
              <a:ext cx="887413" cy="325437"/>
            </a:xfrm>
            <a:prstGeom prst="rect">
              <a:avLst/>
            </a:prstGeom>
            <a:noFill/>
            <a:ln w="12700">
              <a:noFill/>
              <a:miter lim="800000"/>
              <a:headEnd/>
              <a:tailEnd/>
            </a:ln>
            <a:effectLst/>
          </p:spPr>
          <p:txBody>
            <a:bodyPr lIns="90488" tIns="44450" rIns="90488" bIns="44450">
              <a:spAutoFit/>
            </a:bodyPr>
            <a:lstStyle/>
            <a:p>
              <a:pPr algn="l" eaLnBrk="0" hangingPunct="0"/>
              <a:r>
                <a:rPr lang="en-US" sz="1800" b="1">
                  <a:latin typeface="Geneva" charset="0"/>
                </a:rPr>
                <a:t>1984</a:t>
              </a:r>
            </a:p>
          </p:txBody>
        </p:sp>
        <p:sp>
          <p:nvSpPr>
            <p:cNvPr id="297" name="Rectangle 289">
              <a:extLst>
                <a:ext uri="{FF2B5EF4-FFF2-40B4-BE49-F238E27FC236}">
                  <a16:creationId xmlns:a16="http://schemas.microsoft.com/office/drawing/2014/main" id="{A76033DF-1975-4584-AA58-B461EC043ACC}"/>
                </a:ext>
              </a:extLst>
            </p:cNvPr>
            <p:cNvSpPr>
              <a:spLocks noChangeArrowheads="1"/>
            </p:cNvSpPr>
            <p:nvPr/>
          </p:nvSpPr>
          <p:spPr bwMode="auto">
            <a:xfrm rot="16200000">
              <a:off x="2498725" y="5740400"/>
              <a:ext cx="887413" cy="325437"/>
            </a:xfrm>
            <a:prstGeom prst="rect">
              <a:avLst/>
            </a:prstGeom>
            <a:noFill/>
            <a:ln w="12700">
              <a:noFill/>
              <a:miter lim="800000"/>
              <a:headEnd/>
              <a:tailEnd/>
            </a:ln>
            <a:effectLst/>
          </p:spPr>
          <p:txBody>
            <a:bodyPr lIns="90488" tIns="44450" rIns="90488" bIns="44450">
              <a:spAutoFit/>
            </a:bodyPr>
            <a:lstStyle/>
            <a:p>
              <a:pPr algn="l" eaLnBrk="0" hangingPunct="0"/>
              <a:r>
                <a:rPr lang="en-US" sz="1800" b="1">
                  <a:latin typeface="Geneva" charset="0"/>
                </a:rPr>
                <a:t>1985</a:t>
              </a:r>
            </a:p>
          </p:txBody>
        </p:sp>
        <p:sp>
          <p:nvSpPr>
            <p:cNvPr id="298" name="Rectangle 290">
              <a:extLst>
                <a:ext uri="{FF2B5EF4-FFF2-40B4-BE49-F238E27FC236}">
                  <a16:creationId xmlns:a16="http://schemas.microsoft.com/office/drawing/2014/main" id="{9C8F389C-BAA8-447E-BEFD-4A62409A4FD2}"/>
                </a:ext>
              </a:extLst>
            </p:cNvPr>
            <p:cNvSpPr>
              <a:spLocks noChangeArrowheads="1"/>
            </p:cNvSpPr>
            <p:nvPr/>
          </p:nvSpPr>
          <p:spPr bwMode="auto">
            <a:xfrm rot="16200000">
              <a:off x="2778125" y="5740400"/>
              <a:ext cx="887413" cy="325437"/>
            </a:xfrm>
            <a:prstGeom prst="rect">
              <a:avLst/>
            </a:prstGeom>
            <a:noFill/>
            <a:ln w="12700">
              <a:noFill/>
              <a:miter lim="800000"/>
              <a:headEnd/>
              <a:tailEnd/>
            </a:ln>
            <a:effectLst/>
          </p:spPr>
          <p:txBody>
            <a:bodyPr lIns="90488" tIns="44450" rIns="90488" bIns="44450">
              <a:spAutoFit/>
            </a:bodyPr>
            <a:lstStyle/>
            <a:p>
              <a:pPr algn="l" eaLnBrk="0" hangingPunct="0"/>
              <a:r>
                <a:rPr lang="en-US" sz="1800" b="1">
                  <a:latin typeface="Geneva" charset="0"/>
                </a:rPr>
                <a:t>1986</a:t>
              </a:r>
            </a:p>
          </p:txBody>
        </p:sp>
        <p:sp>
          <p:nvSpPr>
            <p:cNvPr id="299" name="Rectangle 291">
              <a:extLst>
                <a:ext uri="{FF2B5EF4-FFF2-40B4-BE49-F238E27FC236}">
                  <a16:creationId xmlns:a16="http://schemas.microsoft.com/office/drawing/2014/main" id="{FEF66044-68E2-4DCC-B8A3-53A75683C2EA}"/>
                </a:ext>
              </a:extLst>
            </p:cNvPr>
            <p:cNvSpPr>
              <a:spLocks noChangeArrowheads="1"/>
            </p:cNvSpPr>
            <p:nvPr/>
          </p:nvSpPr>
          <p:spPr bwMode="auto">
            <a:xfrm rot="16200000">
              <a:off x="3044825" y="5740400"/>
              <a:ext cx="887413" cy="325437"/>
            </a:xfrm>
            <a:prstGeom prst="rect">
              <a:avLst/>
            </a:prstGeom>
            <a:noFill/>
            <a:ln w="12700">
              <a:noFill/>
              <a:miter lim="800000"/>
              <a:headEnd/>
              <a:tailEnd/>
            </a:ln>
            <a:effectLst/>
          </p:spPr>
          <p:txBody>
            <a:bodyPr lIns="90488" tIns="44450" rIns="90488" bIns="44450">
              <a:spAutoFit/>
            </a:bodyPr>
            <a:lstStyle/>
            <a:p>
              <a:pPr algn="l" eaLnBrk="0" hangingPunct="0"/>
              <a:r>
                <a:rPr lang="en-US" sz="1800" b="1">
                  <a:latin typeface="Geneva" charset="0"/>
                </a:rPr>
                <a:t>1987</a:t>
              </a:r>
            </a:p>
          </p:txBody>
        </p:sp>
        <p:sp>
          <p:nvSpPr>
            <p:cNvPr id="300" name="Rectangle 292">
              <a:extLst>
                <a:ext uri="{FF2B5EF4-FFF2-40B4-BE49-F238E27FC236}">
                  <a16:creationId xmlns:a16="http://schemas.microsoft.com/office/drawing/2014/main" id="{A97A5787-6DCF-46BB-8176-ADD8662750D3}"/>
                </a:ext>
              </a:extLst>
            </p:cNvPr>
            <p:cNvSpPr>
              <a:spLocks noChangeArrowheads="1"/>
            </p:cNvSpPr>
            <p:nvPr/>
          </p:nvSpPr>
          <p:spPr bwMode="auto">
            <a:xfrm rot="16200000">
              <a:off x="3311525" y="5740400"/>
              <a:ext cx="887413" cy="325437"/>
            </a:xfrm>
            <a:prstGeom prst="rect">
              <a:avLst/>
            </a:prstGeom>
            <a:noFill/>
            <a:ln w="12700">
              <a:noFill/>
              <a:miter lim="800000"/>
              <a:headEnd/>
              <a:tailEnd/>
            </a:ln>
            <a:effectLst/>
          </p:spPr>
          <p:txBody>
            <a:bodyPr lIns="90488" tIns="44450" rIns="90488" bIns="44450">
              <a:spAutoFit/>
            </a:bodyPr>
            <a:lstStyle/>
            <a:p>
              <a:pPr algn="l" eaLnBrk="0" hangingPunct="0"/>
              <a:r>
                <a:rPr lang="en-US" sz="1800" b="1">
                  <a:latin typeface="Geneva" charset="0"/>
                </a:rPr>
                <a:t>1988</a:t>
              </a:r>
            </a:p>
          </p:txBody>
        </p:sp>
        <p:sp>
          <p:nvSpPr>
            <p:cNvPr id="301" name="Rectangle 293">
              <a:extLst>
                <a:ext uri="{FF2B5EF4-FFF2-40B4-BE49-F238E27FC236}">
                  <a16:creationId xmlns:a16="http://schemas.microsoft.com/office/drawing/2014/main" id="{78292FF0-0D62-40D1-AA46-C0932AA91B6A}"/>
                </a:ext>
              </a:extLst>
            </p:cNvPr>
            <p:cNvSpPr>
              <a:spLocks noChangeArrowheads="1"/>
            </p:cNvSpPr>
            <p:nvPr/>
          </p:nvSpPr>
          <p:spPr bwMode="auto">
            <a:xfrm rot="16200000">
              <a:off x="3578225" y="5740400"/>
              <a:ext cx="887413" cy="325437"/>
            </a:xfrm>
            <a:prstGeom prst="rect">
              <a:avLst/>
            </a:prstGeom>
            <a:noFill/>
            <a:ln w="12700">
              <a:noFill/>
              <a:miter lim="800000"/>
              <a:headEnd/>
              <a:tailEnd/>
            </a:ln>
            <a:effectLst/>
          </p:spPr>
          <p:txBody>
            <a:bodyPr lIns="90488" tIns="44450" rIns="90488" bIns="44450">
              <a:spAutoFit/>
            </a:bodyPr>
            <a:lstStyle/>
            <a:p>
              <a:pPr algn="l" eaLnBrk="0" hangingPunct="0"/>
              <a:r>
                <a:rPr lang="en-US" sz="1800" b="1">
                  <a:latin typeface="Geneva" charset="0"/>
                </a:rPr>
                <a:t>1989</a:t>
              </a:r>
            </a:p>
          </p:txBody>
        </p:sp>
        <p:sp>
          <p:nvSpPr>
            <p:cNvPr id="302" name="Rectangle 294">
              <a:extLst>
                <a:ext uri="{FF2B5EF4-FFF2-40B4-BE49-F238E27FC236}">
                  <a16:creationId xmlns:a16="http://schemas.microsoft.com/office/drawing/2014/main" id="{B1C11718-A0C3-4465-B720-09BB8BD5FDEC}"/>
                </a:ext>
              </a:extLst>
            </p:cNvPr>
            <p:cNvSpPr>
              <a:spLocks noChangeArrowheads="1"/>
            </p:cNvSpPr>
            <p:nvPr/>
          </p:nvSpPr>
          <p:spPr bwMode="auto">
            <a:xfrm rot="16200000">
              <a:off x="3844925" y="5740400"/>
              <a:ext cx="887413" cy="325437"/>
            </a:xfrm>
            <a:prstGeom prst="rect">
              <a:avLst/>
            </a:prstGeom>
            <a:noFill/>
            <a:ln w="12700">
              <a:noFill/>
              <a:miter lim="800000"/>
              <a:headEnd/>
              <a:tailEnd/>
            </a:ln>
            <a:effectLst/>
          </p:spPr>
          <p:txBody>
            <a:bodyPr lIns="90488" tIns="44450" rIns="90488" bIns="44450">
              <a:spAutoFit/>
            </a:bodyPr>
            <a:lstStyle/>
            <a:p>
              <a:pPr algn="l" eaLnBrk="0" hangingPunct="0"/>
              <a:r>
                <a:rPr lang="en-US" sz="1800" b="1">
                  <a:latin typeface="Geneva" charset="0"/>
                </a:rPr>
                <a:t>1990</a:t>
              </a:r>
            </a:p>
          </p:txBody>
        </p:sp>
        <p:sp>
          <p:nvSpPr>
            <p:cNvPr id="303" name="Rectangle 295">
              <a:extLst>
                <a:ext uri="{FF2B5EF4-FFF2-40B4-BE49-F238E27FC236}">
                  <a16:creationId xmlns:a16="http://schemas.microsoft.com/office/drawing/2014/main" id="{AD7B4AA5-0786-4C8E-8321-96CF7C7C1646}"/>
                </a:ext>
              </a:extLst>
            </p:cNvPr>
            <p:cNvSpPr>
              <a:spLocks noChangeArrowheads="1"/>
            </p:cNvSpPr>
            <p:nvPr/>
          </p:nvSpPr>
          <p:spPr bwMode="auto">
            <a:xfrm rot="16200000">
              <a:off x="4111625" y="5740400"/>
              <a:ext cx="887413" cy="325437"/>
            </a:xfrm>
            <a:prstGeom prst="rect">
              <a:avLst/>
            </a:prstGeom>
            <a:noFill/>
            <a:ln w="12700">
              <a:noFill/>
              <a:miter lim="800000"/>
              <a:headEnd/>
              <a:tailEnd/>
            </a:ln>
            <a:effectLst/>
          </p:spPr>
          <p:txBody>
            <a:bodyPr lIns="90488" tIns="44450" rIns="90488" bIns="44450">
              <a:spAutoFit/>
            </a:bodyPr>
            <a:lstStyle/>
            <a:p>
              <a:pPr algn="l" eaLnBrk="0" hangingPunct="0"/>
              <a:r>
                <a:rPr lang="en-US" sz="1800" b="1">
                  <a:latin typeface="Geneva" charset="0"/>
                </a:rPr>
                <a:t>1991</a:t>
              </a:r>
            </a:p>
          </p:txBody>
        </p:sp>
        <p:sp>
          <p:nvSpPr>
            <p:cNvPr id="304" name="Rectangle 296">
              <a:extLst>
                <a:ext uri="{FF2B5EF4-FFF2-40B4-BE49-F238E27FC236}">
                  <a16:creationId xmlns:a16="http://schemas.microsoft.com/office/drawing/2014/main" id="{FC2D75F9-B96E-482D-80B1-709B90A47B26}"/>
                </a:ext>
              </a:extLst>
            </p:cNvPr>
            <p:cNvSpPr>
              <a:spLocks noChangeArrowheads="1"/>
            </p:cNvSpPr>
            <p:nvPr/>
          </p:nvSpPr>
          <p:spPr bwMode="auto">
            <a:xfrm rot="16200000">
              <a:off x="4391025" y="5740400"/>
              <a:ext cx="887413" cy="325437"/>
            </a:xfrm>
            <a:prstGeom prst="rect">
              <a:avLst/>
            </a:prstGeom>
            <a:noFill/>
            <a:ln w="12700">
              <a:noFill/>
              <a:miter lim="800000"/>
              <a:headEnd/>
              <a:tailEnd/>
            </a:ln>
            <a:effectLst/>
          </p:spPr>
          <p:txBody>
            <a:bodyPr lIns="90488" tIns="44450" rIns="90488" bIns="44450">
              <a:spAutoFit/>
            </a:bodyPr>
            <a:lstStyle/>
            <a:p>
              <a:pPr algn="l" eaLnBrk="0" hangingPunct="0"/>
              <a:r>
                <a:rPr lang="en-US" sz="1800" b="1">
                  <a:latin typeface="Geneva" charset="0"/>
                </a:rPr>
                <a:t>1992</a:t>
              </a:r>
            </a:p>
          </p:txBody>
        </p:sp>
        <p:sp>
          <p:nvSpPr>
            <p:cNvPr id="305" name="Rectangle 297">
              <a:extLst>
                <a:ext uri="{FF2B5EF4-FFF2-40B4-BE49-F238E27FC236}">
                  <a16:creationId xmlns:a16="http://schemas.microsoft.com/office/drawing/2014/main" id="{427A8500-AB14-49C6-AB83-B048FAF69504}"/>
                </a:ext>
              </a:extLst>
            </p:cNvPr>
            <p:cNvSpPr>
              <a:spLocks noChangeArrowheads="1"/>
            </p:cNvSpPr>
            <p:nvPr/>
          </p:nvSpPr>
          <p:spPr bwMode="auto">
            <a:xfrm rot="16200000">
              <a:off x="4657725" y="5740400"/>
              <a:ext cx="887413" cy="325437"/>
            </a:xfrm>
            <a:prstGeom prst="rect">
              <a:avLst/>
            </a:prstGeom>
            <a:noFill/>
            <a:ln w="12700">
              <a:noFill/>
              <a:miter lim="800000"/>
              <a:headEnd/>
              <a:tailEnd/>
            </a:ln>
            <a:effectLst/>
          </p:spPr>
          <p:txBody>
            <a:bodyPr lIns="90488" tIns="44450" rIns="90488" bIns="44450">
              <a:spAutoFit/>
            </a:bodyPr>
            <a:lstStyle/>
            <a:p>
              <a:pPr algn="l" eaLnBrk="0" hangingPunct="0"/>
              <a:r>
                <a:rPr lang="en-US" sz="1800" b="1">
                  <a:latin typeface="Geneva" charset="0"/>
                </a:rPr>
                <a:t>1993</a:t>
              </a:r>
            </a:p>
          </p:txBody>
        </p:sp>
        <p:sp>
          <p:nvSpPr>
            <p:cNvPr id="306" name="Rectangle 298">
              <a:extLst>
                <a:ext uri="{FF2B5EF4-FFF2-40B4-BE49-F238E27FC236}">
                  <a16:creationId xmlns:a16="http://schemas.microsoft.com/office/drawing/2014/main" id="{4248FCBD-B4D9-467D-B383-5D85979F776F}"/>
                </a:ext>
              </a:extLst>
            </p:cNvPr>
            <p:cNvSpPr>
              <a:spLocks noChangeArrowheads="1"/>
            </p:cNvSpPr>
            <p:nvPr/>
          </p:nvSpPr>
          <p:spPr bwMode="auto">
            <a:xfrm rot="16200000">
              <a:off x="4924425" y="5740400"/>
              <a:ext cx="887413" cy="325437"/>
            </a:xfrm>
            <a:prstGeom prst="rect">
              <a:avLst/>
            </a:prstGeom>
            <a:noFill/>
            <a:ln w="12700">
              <a:noFill/>
              <a:miter lim="800000"/>
              <a:headEnd/>
              <a:tailEnd/>
            </a:ln>
            <a:effectLst/>
          </p:spPr>
          <p:txBody>
            <a:bodyPr lIns="90488" tIns="44450" rIns="90488" bIns="44450">
              <a:spAutoFit/>
            </a:bodyPr>
            <a:lstStyle/>
            <a:p>
              <a:pPr algn="l" eaLnBrk="0" hangingPunct="0"/>
              <a:r>
                <a:rPr lang="en-US" sz="1800" b="1">
                  <a:latin typeface="Geneva" charset="0"/>
                </a:rPr>
                <a:t>1994</a:t>
              </a:r>
            </a:p>
          </p:txBody>
        </p:sp>
        <p:sp>
          <p:nvSpPr>
            <p:cNvPr id="307" name="Rectangle 299">
              <a:extLst>
                <a:ext uri="{FF2B5EF4-FFF2-40B4-BE49-F238E27FC236}">
                  <a16:creationId xmlns:a16="http://schemas.microsoft.com/office/drawing/2014/main" id="{A34D99EB-E886-4B82-9859-A9951964434A}"/>
                </a:ext>
              </a:extLst>
            </p:cNvPr>
            <p:cNvSpPr>
              <a:spLocks noChangeArrowheads="1"/>
            </p:cNvSpPr>
            <p:nvPr/>
          </p:nvSpPr>
          <p:spPr bwMode="auto">
            <a:xfrm rot="16200000">
              <a:off x="5191125" y="5740400"/>
              <a:ext cx="887413" cy="325437"/>
            </a:xfrm>
            <a:prstGeom prst="rect">
              <a:avLst/>
            </a:prstGeom>
            <a:noFill/>
            <a:ln w="12700">
              <a:noFill/>
              <a:miter lim="800000"/>
              <a:headEnd/>
              <a:tailEnd/>
            </a:ln>
            <a:effectLst/>
          </p:spPr>
          <p:txBody>
            <a:bodyPr lIns="90488" tIns="44450" rIns="90488" bIns="44450">
              <a:spAutoFit/>
            </a:bodyPr>
            <a:lstStyle/>
            <a:p>
              <a:pPr algn="l" eaLnBrk="0" hangingPunct="0"/>
              <a:r>
                <a:rPr lang="en-US" sz="1800" b="1">
                  <a:latin typeface="Geneva" charset="0"/>
                </a:rPr>
                <a:t>1995</a:t>
              </a:r>
            </a:p>
          </p:txBody>
        </p:sp>
        <p:sp>
          <p:nvSpPr>
            <p:cNvPr id="308" name="Rectangle 300">
              <a:extLst>
                <a:ext uri="{FF2B5EF4-FFF2-40B4-BE49-F238E27FC236}">
                  <a16:creationId xmlns:a16="http://schemas.microsoft.com/office/drawing/2014/main" id="{1DDE313C-B509-4EFB-B595-C64229851FDB}"/>
                </a:ext>
              </a:extLst>
            </p:cNvPr>
            <p:cNvSpPr>
              <a:spLocks noChangeArrowheads="1"/>
            </p:cNvSpPr>
            <p:nvPr/>
          </p:nvSpPr>
          <p:spPr bwMode="auto">
            <a:xfrm rot="16200000">
              <a:off x="5457825" y="5740400"/>
              <a:ext cx="887413" cy="325437"/>
            </a:xfrm>
            <a:prstGeom prst="rect">
              <a:avLst/>
            </a:prstGeom>
            <a:noFill/>
            <a:ln w="12700">
              <a:noFill/>
              <a:miter lim="800000"/>
              <a:headEnd/>
              <a:tailEnd/>
            </a:ln>
            <a:effectLst/>
          </p:spPr>
          <p:txBody>
            <a:bodyPr lIns="90488" tIns="44450" rIns="90488" bIns="44450">
              <a:spAutoFit/>
            </a:bodyPr>
            <a:lstStyle/>
            <a:p>
              <a:pPr algn="l" eaLnBrk="0" hangingPunct="0"/>
              <a:r>
                <a:rPr lang="en-US" sz="1800" b="1">
                  <a:latin typeface="Geneva" charset="0"/>
                </a:rPr>
                <a:t>1996</a:t>
              </a:r>
            </a:p>
          </p:txBody>
        </p:sp>
        <p:sp>
          <p:nvSpPr>
            <p:cNvPr id="309" name="Rectangle 301">
              <a:extLst>
                <a:ext uri="{FF2B5EF4-FFF2-40B4-BE49-F238E27FC236}">
                  <a16:creationId xmlns:a16="http://schemas.microsoft.com/office/drawing/2014/main" id="{8F531F5E-B27B-4B4B-B61F-DFCBB60E8043}"/>
                </a:ext>
              </a:extLst>
            </p:cNvPr>
            <p:cNvSpPr>
              <a:spLocks noChangeArrowheads="1"/>
            </p:cNvSpPr>
            <p:nvPr/>
          </p:nvSpPr>
          <p:spPr bwMode="auto">
            <a:xfrm rot="16200000">
              <a:off x="5724525" y="5740400"/>
              <a:ext cx="887413" cy="325437"/>
            </a:xfrm>
            <a:prstGeom prst="rect">
              <a:avLst/>
            </a:prstGeom>
            <a:noFill/>
            <a:ln w="12700">
              <a:noFill/>
              <a:miter lim="800000"/>
              <a:headEnd/>
              <a:tailEnd/>
            </a:ln>
            <a:effectLst/>
          </p:spPr>
          <p:txBody>
            <a:bodyPr lIns="90488" tIns="44450" rIns="90488" bIns="44450">
              <a:spAutoFit/>
            </a:bodyPr>
            <a:lstStyle/>
            <a:p>
              <a:pPr algn="l" eaLnBrk="0" hangingPunct="0"/>
              <a:r>
                <a:rPr lang="en-US" sz="1800" b="1">
                  <a:latin typeface="Geneva" charset="0"/>
                </a:rPr>
                <a:t>1997</a:t>
              </a:r>
            </a:p>
          </p:txBody>
        </p:sp>
        <p:sp>
          <p:nvSpPr>
            <p:cNvPr id="310" name="Rectangle 302">
              <a:extLst>
                <a:ext uri="{FF2B5EF4-FFF2-40B4-BE49-F238E27FC236}">
                  <a16:creationId xmlns:a16="http://schemas.microsoft.com/office/drawing/2014/main" id="{62CF3456-F049-439B-B7EB-3DB38511AF19}"/>
                </a:ext>
              </a:extLst>
            </p:cNvPr>
            <p:cNvSpPr>
              <a:spLocks noChangeArrowheads="1"/>
            </p:cNvSpPr>
            <p:nvPr/>
          </p:nvSpPr>
          <p:spPr bwMode="auto">
            <a:xfrm rot="16200000">
              <a:off x="5991225" y="5740400"/>
              <a:ext cx="887413" cy="325437"/>
            </a:xfrm>
            <a:prstGeom prst="rect">
              <a:avLst/>
            </a:prstGeom>
            <a:noFill/>
            <a:ln w="12700">
              <a:noFill/>
              <a:miter lim="800000"/>
              <a:headEnd/>
              <a:tailEnd/>
            </a:ln>
            <a:effectLst/>
          </p:spPr>
          <p:txBody>
            <a:bodyPr lIns="90488" tIns="44450" rIns="90488" bIns="44450">
              <a:spAutoFit/>
            </a:bodyPr>
            <a:lstStyle/>
            <a:p>
              <a:pPr algn="l" eaLnBrk="0" hangingPunct="0"/>
              <a:r>
                <a:rPr lang="en-US" sz="1800" b="1">
                  <a:latin typeface="Geneva" charset="0"/>
                </a:rPr>
                <a:t>1998</a:t>
              </a:r>
            </a:p>
          </p:txBody>
        </p:sp>
        <p:sp>
          <p:nvSpPr>
            <p:cNvPr id="311" name="Rectangle 303">
              <a:extLst>
                <a:ext uri="{FF2B5EF4-FFF2-40B4-BE49-F238E27FC236}">
                  <a16:creationId xmlns:a16="http://schemas.microsoft.com/office/drawing/2014/main" id="{F4E794A2-0F30-4D20-AFB4-3727A22E9B35}"/>
                </a:ext>
              </a:extLst>
            </p:cNvPr>
            <p:cNvSpPr>
              <a:spLocks noChangeArrowheads="1"/>
            </p:cNvSpPr>
            <p:nvPr/>
          </p:nvSpPr>
          <p:spPr bwMode="auto">
            <a:xfrm rot="16200000">
              <a:off x="6270625" y="5740400"/>
              <a:ext cx="887413" cy="325437"/>
            </a:xfrm>
            <a:prstGeom prst="rect">
              <a:avLst/>
            </a:prstGeom>
            <a:noFill/>
            <a:ln w="12700">
              <a:noFill/>
              <a:miter lim="800000"/>
              <a:headEnd/>
              <a:tailEnd/>
            </a:ln>
            <a:effectLst/>
          </p:spPr>
          <p:txBody>
            <a:bodyPr lIns="90488" tIns="44450" rIns="90488" bIns="44450">
              <a:spAutoFit/>
            </a:bodyPr>
            <a:lstStyle/>
            <a:p>
              <a:pPr algn="l" eaLnBrk="0" hangingPunct="0"/>
              <a:r>
                <a:rPr lang="en-US" sz="1800" b="1">
                  <a:latin typeface="Geneva" charset="0"/>
                </a:rPr>
                <a:t>1999</a:t>
              </a:r>
            </a:p>
          </p:txBody>
        </p:sp>
        <p:sp>
          <p:nvSpPr>
            <p:cNvPr id="312" name="Rectangle 304">
              <a:extLst>
                <a:ext uri="{FF2B5EF4-FFF2-40B4-BE49-F238E27FC236}">
                  <a16:creationId xmlns:a16="http://schemas.microsoft.com/office/drawing/2014/main" id="{322BB808-F464-417C-863B-3DD648BEA667}"/>
                </a:ext>
              </a:extLst>
            </p:cNvPr>
            <p:cNvSpPr>
              <a:spLocks noChangeArrowheads="1"/>
            </p:cNvSpPr>
            <p:nvPr/>
          </p:nvSpPr>
          <p:spPr bwMode="auto">
            <a:xfrm rot="16200000">
              <a:off x="6537325" y="5740400"/>
              <a:ext cx="887413" cy="325437"/>
            </a:xfrm>
            <a:prstGeom prst="rect">
              <a:avLst/>
            </a:prstGeom>
            <a:noFill/>
            <a:ln w="12700">
              <a:noFill/>
              <a:miter lim="800000"/>
              <a:headEnd/>
              <a:tailEnd/>
            </a:ln>
            <a:effectLst/>
          </p:spPr>
          <p:txBody>
            <a:bodyPr lIns="90488" tIns="44450" rIns="90488" bIns="44450">
              <a:spAutoFit/>
            </a:bodyPr>
            <a:lstStyle/>
            <a:p>
              <a:pPr algn="l" eaLnBrk="0" hangingPunct="0"/>
              <a:r>
                <a:rPr lang="en-US" sz="1800" b="1">
                  <a:latin typeface="Geneva" charset="0"/>
                </a:rPr>
                <a:t>2000</a:t>
              </a:r>
            </a:p>
          </p:txBody>
        </p:sp>
        <p:sp>
          <p:nvSpPr>
            <p:cNvPr id="313" name="Rectangle 305">
              <a:extLst>
                <a:ext uri="{FF2B5EF4-FFF2-40B4-BE49-F238E27FC236}">
                  <a16:creationId xmlns:a16="http://schemas.microsoft.com/office/drawing/2014/main" id="{AF54AF63-FAC7-47E5-AB12-E4C2826D4F9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732588" y="5191125"/>
              <a:ext cx="495300" cy="244475"/>
            </a:xfrm>
            <a:prstGeom prst="rect">
              <a:avLst/>
            </a:prstGeom>
            <a:noFill/>
            <a:ln w="12700">
              <a:noFill/>
              <a:miter lim="800000"/>
              <a:headEnd/>
              <a:tailEnd/>
            </a:ln>
            <a:effectLst/>
          </p:spPr>
          <p:txBody>
            <a:bodyPr wrap="none" lIns="90488" tIns="44450" rIns="90488" bIns="44450">
              <a:spAutoFit/>
            </a:bodyPr>
            <a:lstStyle/>
            <a:p>
              <a:pPr algn="l" eaLnBrk="0" hangingPunct="0"/>
              <a:r>
                <a:rPr lang="en-US" sz="1000">
                  <a:solidFill>
                    <a:srgbClr val="000000"/>
                  </a:solidFill>
                  <a:latin typeface="Arial" pitchFamily="34" charset="0"/>
                </a:rPr>
                <a:t>DRAM</a:t>
              </a:r>
            </a:p>
          </p:txBody>
        </p:sp>
        <p:sp>
          <p:nvSpPr>
            <p:cNvPr id="314" name="Rectangle 306">
              <a:extLst>
                <a:ext uri="{FF2B5EF4-FFF2-40B4-BE49-F238E27FC236}">
                  <a16:creationId xmlns:a16="http://schemas.microsoft.com/office/drawing/2014/main" id="{4234159B-24BB-4111-B258-896F1063781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846888" y="2714625"/>
              <a:ext cx="377825" cy="244475"/>
            </a:xfrm>
            <a:prstGeom prst="rect">
              <a:avLst/>
            </a:prstGeom>
            <a:noFill/>
            <a:ln w="12700">
              <a:noFill/>
              <a:miter lim="800000"/>
              <a:headEnd/>
              <a:tailEnd/>
            </a:ln>
            <a:effectLst/>
          </p:spPr>
          <p:txBody>
            <a:bodyPr wrap="none" lIns="90488" tIns="44450" rIns="90488" bIns="44450">
              <a:spAutoFit/>
            </a:bodyPr>
            <a:lstStyle/>
            <a:p>
              <a:pPr algn="l" eaLnBrk="0" hangingPunct="0"/>
              <a:r>
                <a:rPr lang="en-US" sz="1000">
                  <a:solidFill>
                    <a:srgbClr val="000000"/>
                  </a:solidFill>
                  <a:latin typeface="Geneva" charset="0"/>
                </a:rPr>
                <a:t>CPU</a:t>
              </a:r>
            </a:p>
          </p:txBody>
        </p:sp>
        <p:sp>
          <p:nvSpPr>
            <p:cNvPr id="315" name="Rectangle 308">
              <a:extLst>
                <a:ext uri="{FF2B5EF4-FFF2-40B4-BE49-F238E27FC236}">
                  <a16:creationId xmlns:a16="http://schemas.microsoft.com/office/drawing/2014/main" id="{E32D2B35-5A40-4B39-8DC5-F2C64294BEBF}"/>
                </a:ext>
              </a:extLst>
            </p:cNvPr>
            <p:cNvSpPr>
              <a:spLocks noChangeArrowheads="1"/>
            </p:cNvSpPr>
            <p:nvPr/>
          </p:nvSpPr>
          <p:spPr bwMode="auto">
            <a:xfrm rot="16200000">
              <a:off x="1736725" y="5740400"/>
              <a:ext cx="887413" cy="325437"/>
            </a:xfrm>
            <a:prstGeom prst="rect">
              <a:avLst/>
            </a:prstGeom>
            <a:noFill/>
            <a:ln w="12700">
              <a:noFill/>
              <a:miter lim="800000"/>
              <a:headEnd/>
              <a:tailEnd/>
            </a:ln>
            <a:effectLst/>
          </p:spPr>
          <p:txBody>
            <a:bodyPr lIns="90488" tIns="44450" rIns="90488" bIns="44450">
              <a:spAutoFit/>
            </a:bodyPr>
            <a:lstStyle/>
            <a:p>
              <a:pPr algn="l" eaLnBrk="0" hangingPunct="0"/>
              <a:r>
                <a:rPr lang="en-US" sz="1800" b="1">
                  <a:latin typeface="Geneva" charset="0"/>
                </a:rPr>
                <a:t>1982</a:t>
              </a:r>
            </a:p>
          </p:txBody>
        </p:sp>
        <p:sp>
          <p:nvSpPr>
            <p:cNvPr id="316" name="Rectangle 311">
              <a:extLst>
                <a:ext uri="{FF2B5EF4-FFF2-40B4-BE49-F238E27FC236}">
                  <a16:creationId xmlns:a16="http://schemas.microsoft.com/office/drawing/2014/main" id="{24270463-13B9-4363-A5B9-2A8220F55077}"/>
                </a:ext>
              </a:extLst>
            </p:cNvPr>
            <p:cNvSpPr>
              <a:spLocks noChangeArrowheads="1"/>
            </p:cNvSpPr>
            <p:nvPr/>
          </p:nvSpPr>
          <p:spPr bwMode="auto">
            <a:xfrm rot="16200000">
              <a:off x="-566737" y="4000499"/>
              <a:ext cx="2357437" cy="461963"/>
            </a:xfrm>
            <a:prstGeom prst="rect">
              <a:avLst/>
            </a:prstGeom>
            <a:noFill/>
            <a:ln w="12700">
              <a:noFill/>
              <a:miter lim="800000"/>
              <a:headEnd/>
              <a:tailEnd/>
            </a:ln>
            <a:effectLst/>
          </p:spPr>
          <p:txBody>
            <a:bodyPr wrap="none" lIns="90488" tIns="44450" rIns="90488" bIns="44450">
              <a:spAutoFit/>
            </a:bodyPr>
            <a:lstStyle/>
            <a:p>
              <a:pPr algn="l" eaLnBrk="0" hangingPunct="0"/>
              <a:r>
                <a:rPr lang="en-US" sz="2800" b="1" dirty="0">
                  <a:latin typeface="Arial" pitchFamily="34" charset="0"/>
                </a:rPr>
                <a:t>Performance</a:t>
              </a:r>
            </a:p>
          </p:txBody>
        </p:sp>
        <p:sp>
          <p:nvSpPr>
            <p:cNvPr id="317" name="Rectangle 312">
              <a:extLst>
                <a:ext uri="{FF2B5EF4-FFF2-40B4-BE49-F238E27FC236}">
                  <a16:creationId xmlns:a16="http://schemas.microsoft.com/office/drawing/2014/main" id="{6C29A0CA-290C-4F4E-A922-A72299C9ED4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162800" y="5719762"/>
              <a:ext cx="1006475" cy="579437"/>
            </a:xfrm>
            <a:prstGeom prst="rect">
              <a:avLst/>
            </a:prstGeom>
            <a:noFill/>
            <a:ln w="12700">
              <a:noFill/>
              <a:miter lim="800000"/>
              <a:headEnd/>
              <a:tailEnd/>
            </a:ln>
            <a:effectLst/>
          </p:spPr>
          <p:txBody>
            <a:bodyPr wrap="none" lIns="90488" tIns="44450" rIns="90488" bIns="44450">
              <a:spAutoFit/>
            </a:bodyPr>
            <a:lstStyle/>
            <a:p>
              <a:pPr algn="l" eaLnBrk="0" hangingPunct="0"/>
              <a:r>
                <a:rPr lang="en-US" sz="3200" b="1" dirty="0">
                  <a:latin typeface="Arial" pitchFamily="34" charset="0"/>
                </a:rPr>
                <a:t>Time</a:t>
              </a:r>
            </a:p>
          </p:txBody>
        </p:sp>
        <p:sp>
          <p:nvSpPr>
            <p:cNvPr id="318" name="Rectangle 313">
              <a:extLst>
                <a:ext uri="{FF2B5EF4-FFF2-40B4-BE49-F238E27FC236}">
                  <a16:creationId xmlns:a16="http://schemas.microsoft.com/office/drawing/2014/main" id="{073DA27C-0C82-41CE-A04C-DFBF8AF159F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810000" y="3124200"/>
              <a:ext cx="2129623" cy="459100"/>
            </a:xfrm>
            <a:prstGeom prst="rect">
              <a:avLst/>
            </a:prstGeom>
            <a:noFill/>
            <a:ln w="12700">
              <a:noFill/>
              <a:miter lim="800000"/>
              <a:headEnd/>
              <a:tailEnd/>
            </a:ln>
            <a:effectLst/>
          </p:spPr>
          <p:txBody>
            <a:bodyPr wrap="none" lIns="90488" tIns="44450" rIns="90488" bIns="44450">
              <a:spAutoFit/>
            </a:bodyPr>
            <a:lstStyle/>
            <a:p>
              <a:pPr algn="l" eaLnBrk="0" hangingPunct="0"/>
              <a:r>
                <a:rPr lang="en-US" sz="2400" dirty="0">
                  <a:solidFill>
                    <a:srgbClr val="0000FF"/>
                  </a:solidFill>
                  <a:latin typeface="Arial" pitchFamily="34" charset="0"/>
                </a:rPr>
                <a:t>“Moore’s Law”</a:t>
              </a:r>
            </a:p>
          </p:txBody>
        </p:sp>
      </p:grpSp>
      <p:sp>
        <p:nvSpPr>
          <p:cNvPr id="319" name="Rectangle 314">
            <a:extLst>
              <a:ext uri="{FF2B5EF4-FFF2-40B4-BE49-F238E27FC236}">
                <a16:creationId xmlns:a16="http://schemas.microsoft.com/office/drawing/2014/main" id="{41D3BADE-551D-42BD-8D43-8F4BD970DD1C}"/>
              </a:ext>
            </a:extLst>
          </p:cNvPr>
          <p:cNvSpPr>
            <a:spLocks noChangeArrowheads="1"/>
          </p:cNvSpPr>
          <p:nvPr/>
        </p:nvSpPr>
        <p:spPr bwMode="auto">
          <a:xfrm>
            <a:off x="386466" y="1371600"/>
            <a:ext cx="8493022" cy="1200329"/>
          </a:xfrm>
          <a:prstGeom prst="rect">
            <a:avLst/>
          </a:prstGeom>
          <a:solidFill>
            <a:schemeClr val="bg2">
              <a:lumMod val="20000"/>
              <a:lumOff val="80000"/>
            </a:schemeClr>
          </a:solidFill>
          <a:ln w="9525" algn="ctr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 algn="l">
              <a:spcBef>
                <a:spcPct val="20000"/>
              </a:spcBef>
              <a:buClr>
                <a:srgbClr val="3333FF"/>
              </a:buClr>
              <a:buSzPct val="80000"/>
              <a:buFont typeface="Wingdings" pitchFamily="2" charset="2"/>
              <a:buNone/>
            </a:pPr>
            <a:r>
              <a:rPr lang="en-US" sz="2400" b="1" dirty="0">
                <a:solidFill>
                  <a:srgbClr val="C00000"/>
                </a:solidFill>
              </a:rPr>
              <a:t>Memory Wall:</a:t>
            </a:r>
          </a:p>
          <a:p>
            <a:pPr algn="l">
              <a:spcBef>
                <a:spcPct val="20000"/>
              </a:spcBef>
              <a:buClr>
                <a:srgbClr val="3333FF"/>
              </a:buClr>
              <a:buSzPct val="80000"/>
              <a:buFont typeface="Wingdings" pitchFamily="2" charset="2"/>
              <a:buNone/>
            </a:pPr>
            <a:r>
              <a:rPr lang="en-US" sz="2000" dirty="0"/>
              <a:t>1GHz Processor </a:t>
            </a:r>
            <a:r>
              <a:rPr lang="en-US" sz="2000" dirty="0">
                <a:sym typeface="Wingdings" pitchFamily="2" charset="2"/>
              </a:rPr>
              <a:t> </a:t>
            </a:r>
            <a:r>
              <a:rPr lang="en-US" sz="2000" dirty="0"/>
              <a:t>1 ns per clock cycle </a:t>
            </a:r>
          </a:p>
          <a:p>
            <a:pPr algn="l">
              <a:spcBef>
                <a:spcPct val="20000"/>
              </a:spcBef>
              <a:buClr>
                <a:srgbClr val="3333FF"/>
              </a:buClr>
              <a:buSzPct val="80000"/>
              <a:buFont typeface="Wingdings" pitchFamily="2" charset="2"/>
              <a:buNone/>
            </a:pPr>
            <a:r>
              <a:rPr lang="en-US" sz="2000" dirty="0"/>
              <a:t>50ns for DRAM access </a:t>
            </a:r>
            <a:r>
              <a:rPr lang="en-US" sz="2000" dirty="0">
                <a:sym typeface="Wingdings" pitchFamily="2" charset="2"/>
              </a:rPr>
              <a:t> </a:t>
            </a:r>
            <a:r>
              <a:rPr lang="en-US" sz="2000" dirty="0"/>
              <a:t>50 processor clock cycles per memory access!</a:t>
            </a:r>
            <a:endParaRPr lang="en-US" sz="1800" dirty="0"/>
          </a:p>
        </p:txBody>
      </p:sp>
    </p:spTree>
    <p:extLst>
      <p:ext uri="{BB962C8B-B14F-4D97-AF65-F5344CB8AC3E}">
        <p14:creationId xmlns:p14="http://schemas.microsoft.com/office/powerpoint/2010/main" val="123906377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8" name="Rectangle 2"/>
          <p:cNvSpPr>
            <a:spLocks noGrp="1" noChangeArrowheads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1976438" indent="-1976438"/>
            <a:r>
              <a:rPr lang="en-GB" sz="3600" dirty="0"/>
              <a:t>Faster Memory Technology: </a:t>
            </a:r>
            <a:r>
              <a:rPr lang="en-GB" sz="3600" b="1" dirty="0"/>
              <a:t>SRAM</a:t>
            </a:r>
          </a:p>
        </p:txBody>
      </p:sp>
      <p:sp>
        <p:nvSpPr>
          <p:cNvPr id="12" name="[Date Placeholder 3]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Aaron Tan, NUS</a:t>
            </a:r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>
            <a:noAutofit/>
          </a:bodyPr>
          <a:lstStyle/>
          <a:p>
            <a:pPr algn="r">
              <a:defRPr/>
            </a:pPr>
            <a:fld id="{F7EC234A-9094-4BB8-9EA4-75ECDA8A365B}" type="slidenum">
              <a:rPr smtClean="0"/>
              <a:pPr algn="r">
                <a:defRPr/>
              </a:pPr>
              <a:t>6</a:t>
            </a:fld>
            <a:endParaRPr dirty="0"/>
          </a:p>
        </p:txBody>
      </p:sp>
      <p:grpSp>
        <p:nvGrpSpPr>
          <p:cNvPr id="320" name="Group 325">
            <a:extLst>
              <a:ext uri="{FF2B5EF4-FFF2-40B4-BE49-F238E27FC236}">
                <a16:creationId xmlns:a16="http://schemas.microsoft.com/office/drawing/2014/main" id="{059382ED-7533-4DB8-97A4-1E3015B77694}"/>
              </a:ext>
            </a:extLst>
          </p:cNvPr>
          <p:cNvGrpSpPr>
            <a:grpSpLocks/>
          </p:cNvGrpSpPr>
          <p:nvPr/>
        </p:nvGrpSpPr>
        <p:grpSpPr bwMode="auto">
          <a:xfrm>
            <a:off x="152400" y="1422617"/>
            <a:ext cx="4343400" cy="2438400"/>
            <a:chOff x="96" y="720"/>
            <a:chExt cx="2736" cy="1536"/>
          </a:xfrm>
        </p:grpSpPr>
        <p:pic>
          <p:nvPicPr>
            <p:cNvPr id="321" name="Picture 320" descr="sram">
              <a:extLst>
                <a:ext uri="{FF2B5EF4-FFF2-40B4-BE49-F238E27FC236}">
                  <a16:creationId xmlns:a16="http://schemas.microsoft.com/office/drawing/2014/main" id="{1DBFD24A-33E3-4B80-85E0-5EE2F77A67FB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 cstate="print"/>
            <a:srcRect/>
            <a:stretch>
              <a:fillRect/>
            </a:stretch>
          </p:blipFill>
          <p:spPr bwMode="auto">
            <a:xfrm>
              <a:off x="384" y="864"/>
              <a:ext cx="2400" cy="1341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</p:pic>
        <p:sp>
          <p:nvSpPr>
            <p:cNvPr id="322" name="Rectangle 323">
              <a:extLst>
                <a:ext uri="{FF2B5EF4-FFF2-40B4-BE49-F238E27FC236}">
                  <a16:creationId xmlns:a16="http://schemas.microsoft.com/office/drawing/2014/main" id="{02E12A1F-ECC5-4C37-BC0A-C8DB4E607C8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84" y="864"/>
              <a:ext cx="2448" cy="1392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prstDash val="dash"/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pic>
          <p:nvPicPr>
            <p:cNvPr id="323" name="Picture 316" descr="j0216858">
              <a:extLst>
                <a:ext uri="{FF2B5EF4-FFF2-40B4-BE49-F238E27FC236}">
                  <a16:creationId xmlns:a16="http://schemas.microsoft.com/office/drawing/2014/main" id="{740795F7-68A1-40EE-A606-B0EC373513CD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 cstate="print"/>
            <a:srcRect/>
            <a:stretch>
              <a:fillRect/>
            </a:stretch>
          </p:blipFill>
          <p:spPr bwMode="auto">
            <a:xfrm>
              <a:off x="96" y="720"/>
              <a:ext cx="767" cy="350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</p:pic>
      </p:grpSp>
      <p:grpSp>
        <p:nvGrpSpPr>
          <p:cNvPr id="324" name="Group 326">
            <a:extLst>
              <a:ext uri="{FF2B5EF4-FFF2-40B4-BE49-F238E27FC236}">
                <a16:creationId xmlns:a16="http://schemas.microsoft.com/office/drawing/2014/main" id="{2C1592FD-609F-4A3E-B188-8DE0311F5489}"/>
              </a:ext>
            </a:extLst>
          </p:cNvPr>
          <p:cNvGrpSpPr>
            <a:grpSpLocks/>
          </p:cNvGrpSpPr>
          <p:nvPr/>
        </p:nvGrpSpPr>
        <p:grpSpPr bwMode="auto">
          <a:xfrm>
            <a:off x="4800600" y="1346417"/>
            <a:ext cx="4191000" cy="2514600"/>
            <a:chOff x="3024" y="672"/>
            <a:chExt cx="2640" cy="1584"/>
          </a:xfrm>
        </p:grpSpPr>
        <p:pic>
          <p:nvPicPr>
            <p:cNvPr id="325" name="Picture 321" descr="dramcell">
              <a:extLst>
                <a:ext uri="{FF2B5EF4-FFF2-40B4-BE49-F238E27FC236}">
                  <a16:creationId xmlns:a16="http://schemas.microsoft.com/office/drawing/2014/main" id="{3BF96DEE-D502-4A20-AF54-CA56A13872E4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 cstate="print"/>
            <a:srcRect/>
            <a:stretch>
              <a:fillRect/>
            </a:stretch>
          </p:blipFill>
          <p:spPr bwMode="auto">
            <a:xfrm>
              <a:off x="3312" y="912"/>
              <a:ext cx="1794" cy="1260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</p:pic>
        <p:sp>
          <p:nvSpPr>
            <p:cNvPr id="326" name="Rectangle 324">
              <a:extLst>
                <a:ext uri="{FF2B5EF4-FFF2-40B4-BE49-F238E27FC236}">
                  <a16:creationId xmlns:a16="http://schemas.microsoft.com/office/drawing/2014/main" id="{E0DD38AD-1062-44ED-8412-43389E665E2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024" y="864"/>
              <a:ext cx="2448" cy="1392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prstDash val="dash"/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pic>
          <p:nvPicPr>
            <p:cNvPr id="327" name="Picture 317" descr="MCj03378420000[1]">
              <a:extLst>
                <a:ext uri="{FF2B5EF4-FFF2-40B4-BE49-F238E27FC236}">
                  <a16:creationId xmlns:a16="http://schemas.microsoft.com/office/drawing/2014/main" id="{B12BCEF7-38FE-4F79-9C6A-6D05E3E3EAA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6" cstate="print"/>
            <a:srcRect/>
            <a:stretch>
              <a:fillRect/>
            </a:stretch>
          </p:blipFill>
          <p:spPr bwMode="auto">
            <a:xfrm>
              <a:off x="4800" y="672"/>
              <a:ext cx="864" cy="443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</p:pic>
      </p:grpSp>
      <p:sp>
        <p:nvSpPr>
          <p:cNvPr id="328" name="Rectangle 15">
            <a:extLst>
              <a:ext uri="{FF2B5EF4-FFF2-40B4-BE49-F238E27FC236}">
                <a16:creationId xmlns:a16="http://schemas.microsoft.com/office/drawing/2014/main" id="{BDA2E37C-23AE-43F7-8EDD-7FA5B22838F8}"/>
              </a:ext>
            </a:extLst>
          </p:cNvPr>
          <p:cNvSpPr txBox="1">
            <a:spLocks noChangeArrowheads="1"/>
          </p:cNvSpPr>
          <p:nvPr/>
        </p:nvSpPr>
        <p:spPr>
          <a:xfrm>
            <a:off x="381000" y="4089617"/>
            <a:ext cx="4191000" cy="2286000"/>
          </a:xfrm>
          <a:prstGeom prst="rect">
            <a:avLst/>
          </a:prstGeom>
          <a:solidFill>
            <a:schemeClr val="bg1"/>
          </a:solidFill>
        </p:spPr>
        <p:txBody>
          <a:bodyPr/>
          <a:lstStyle/>
          <a:p>
            <a:pPr marL="342900" marR="0" lvl="0" indent="-342900" algn="l" defTabSz="914400" rtl="0" eaLnBrk="0" fontAlgn="base" latinLnBrk="0" hangingPunct="0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65000"/>
              <a:buFont typeface="Wingdings" pitchFamily="2" charset="2"/>
              <a:buNone/>
              <a:tabLst/>
              <a:defRPr/>
            </a:pPr>
            <a:r>
              <a:rPr lang="en-US" sz="2400" b="1" dirty="0">
                <a:solidFill>
                  <a:srgbClr val="660066"/>
                </a:solidFill>
              </a:rPr>
              <a:t>SRAM</a:t>
            </a:r>
          </a:p>
          <a:p>
            <a:pPr marL="342900" marR="0" lvl="0" indent="-342900" algn="l" defTabSz="914400" rtl="0" eaLnBrk="0" fontAlgn="base" latinLnBrk="0" hangingPunct="0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65000"/>
              <a:buFont typeface="Wingdings" pitchFamily="2" charset="2"/>
              <a:buNone/>
              <a:tabLst/>
              <a:defRPr/>
            </a:pPr>
            <a:r>
              <a: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6 transistors per memory cell </a:t>
            </a:r>
          </a:p>
          <a:p>
            <a:pPr marL="342900" marR="0" lvl="0" indent="-342900" algn="l" defTabSz="914400" rtl="0" eaLnBrk="0" fontAlgn="base" latinLnBrk="0" hangingPunct="0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65000"/>
              <a:buFont typeface="Wingdings" pitchFamily="2" charset="2"/>
              <a:buNone/>
              <a:tabLst/>
              <a:defRPr/>
            </a:pPr>
            <a:r>
              <a: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  <a:sym typeface="Wingdings" pitchFamily="2" charset="2"/>
              </a:rPr>
              <a:t> </a:t>
            </a:r>
            <a:r>
              <a:rPr kumimoji="0" lang="en-US" sz="2000" b="1" i="0" u="none" strike="noStrike" kern="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+mn-lt"/>
                <a:ea typeface="+mn-ea"/>
                <a:cs typeface="+mn-cs"/>
                <a:sym typeface="Wingdings" pitchFamily="2" charset="2"/>
              </a:rPr>
              <a:t>Low density</a:t>
            </a:r>
            <a:endParaRPr kumimoji="0" lang="en-US" sz="2000" b="0" i="0" u="sng" strike="noStrike" kern="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+mn-lt"/>
              <a:ea typeface="+mn-ea"/>
              <a:cs typeface="+mn-cs"/>
              <a:sym typeface="Wingdings" pitchFamily="2" charset="2"/>
            </a:endParaRPr>
          </a:p>
          <a:p>
            <a:pPr marL="342900" marR="0" lvl="0" indent="-342900" algn="l" defTabSz="914400" rtl="0" eaLnBrk="0" fontAlgn="base" latinLnBrk="0" hangingPunct="0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65000"/>
              <a:buFont typeface="Wingdings" pitchFamily="2" charset="2"/>
              <a:buNone/>
              <a:tabLst/>
              <a:defRPr/>
            </a:pP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006600"/>
                </a:solidFill>
                <a:effectLst/>
                <a:uLnTx/>
                <a:uFillTx/>
                <a:latin typeface="+mn-lt"/>
                <a:ea typeface="+mn-ea"/>
                <a:cs typeface="Arial" pitchFamily="34" charset="0"/>
                <a:sym typeface="Wingdings" pitchFamily="2" charset="2"/>
              </a:rPr>
              <a:t>Fast access </a:t>
            </a:r>
            <a:r>
              <a: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  <a:sym typeface="Wingdings" pitchFamily="2" charset="2"/>
              </a:rPr>
              <a:t>latency of 0.5 – 5 ns</a:t>
            </a:r>
          </a:p>
          <a:p>
            <a:pPr marL="342900" marR="0" lvl="0" indent="-342900" algn="l" defTabSz="914400" rtl="0" eaLnBrk="0" fontAlgn="base" latinLnBrk="0" hangingPunct="0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65000"/>
              <a:buFont typeface="Wingdings" pitchFamily="2" charset="2"/>
              <a:buNone/>
              <a:tabLst/>
              <a:defRPr/>
            </a:pPr>
            <a:r>
              <a:rPr lang="en-US" sz="2000" kern="0" dirty="0">
                <a:latin typeface="+mn-lt"/>
                <a:cs typeface="+mn-cs"/>
                <a:sym typeface="Wingdings" pitchFamily="2" charset="2"/>
              </a:rPr>
              <a:t>More costly</a:t>
            </a:r>
          </a:p>
          <a:p>
            <a:pPr marL="342900" marR="0" lvl="0" indent="-342900" algn="l" defTabSz="914400" rtl="0" eaLnBrk="0" fontAlgn="base" latinLnBrk="0" hangingPunct="0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65000"/>
              <a:buFont typeface="Wingdings" pitchFamily="2" charset="2"/>
              <a:buNone/>
              <a:tabLst/>
              <a:defRPr/>
            </a:pPr>
            <a:r>
              <a: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  <a:sym typeface="Wingdings" pitchFamily="2" charset="2"/>
              </a:rPr>
              <a:t>Uses flip-flops</a:t>
            </a:r>
            <a:endParaRPr kumimoji="0" lang="en-US" sz="2000" b="0" i="0" u="none" strike="noStrike" kern="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Comic Sans MS" pitchFamily="66" charset="0"/>
              <a:ea typeface="+mn-ea"/>
              <a:cs typeface="+mn-cs"/>
            </a:endParaRPr>
          </a:p>
        </p:txBody>
      </p:sp>
      <p:sp>
        <p:nvSpPr>
          <p:cNvPr id="329" name="Rectangle 16">
            <a:extLst>
              <a:ext uri="{FF2B5EF4-FFF2-40B4-BE49-F238E27FC236}">
                <a16:creationId xmlns:a16="http://schemas.microsoft.com/office/drawing/2014/main" id="{8D1E0486-C2A5-4745-8944-2A33253077BC}"/>
              </a:ext>
            </a:extLst>
          </p:cNvPr>
          <p:cNvSpPr>
            <a:spLocks noChangeArrowheads="1"/>
          </p:cNvSpPr>
          <p:nvPr/>
        </p:nvSpPr>
        <p:spPr bwMode="auto">
          <a:xfrm>
            <a:off x="4800600" y="4089617"/>
            <a:ext cx="4038600" cy="2324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/>
          <a:lstStyle/>
          <a:p>
            <a:pPr marL="342900" indent="-342900" algn="l">
              <a:spcBef>
                <a:spcPct val="20000"/>
              </a:spcBef>
              <a:buClr>
                <a:srgbClr val="3333FF"/>
              </a:buClr>
              <a:buSzPct val="80000"/>
            </a:pPr>
            <a:r>
              <a:rPr lang="en-US" sz="2400" b="1" dirty="0">
                <a:solidFill>
                  <a:srgbClr val="660066"/>
                </a:solidFill>
              </a:rPr>
              <a:t>DRAM</a:t>
            </a:r>
          </a:p>
          <a:p>
            <a:pPr marL="342900" indent="-342900" algn="l">
              <a:spcBef>
                <a:spcPct val="20000"/>
              </a:spcBef>
              <a:buClr>
                <a:srgbClr val="3333FF"/>
              </a:buClr>
              <a:buSzPct val="80000"/>
              <a:buFont typeface="Wingdings" pitchFamily="2" charset="2"/>
              <a:buNone/>
            </a:pPr>
            <a:r>
              <a:rPr lang="en-US" sz="2000" dirty="0"/>
              <a:t>1 transistor per memory cell </a:t>
            </a:r>
          </a:p>
          <a:p>
            <a:pPr marL="342900" indent="-342900" algn="l">
              <a:spcBef>
                <a:spcPct val="20000"/>
              </a:spcBef>
              <a:buClr>
                <a:srgbClr val="3333FF"/>
              </a:buClr>
              <a:buSzPct val="80000"/>
              <a:buFont typeface="Wingdings" pitchFamily="2" charset="2"/>
              <a:buNone/>
            </a:pPr>
            <a:r>
              <a:rPr lang="en-US" sz="2000" dirty="0">
                <a:sym typeface="Wingdings" pitchFamily="2" charset="2"/>
              </a:rPr>
              <a:t> </a:t>
            </a:r>
            <a:r>
              <a:rPr lang="en-US" sz="2000" b="1" dirty="0">
                <a:solidFill>
                  <a:srgbClr val="006600"/>
                </a:solidFill>
                <a:sym typeface="Wingdings" pitchFamily="2" charset="2"/>
              </a:rPr>
              <a:t>High density</a:t>
            </a:r>
            <a:endParaRPr lang="en-US" sz="2000" u="sng" dirty="0">
              <a:solidFill>
                <a:srgbClr val="FF0000"/>
              </a:solidFill>
              <a:sym typeface="Wingdings" pitchFamily="2" charset="2"/>
            </a:endParaRPr>
          </a:p>
          <a:p>
            <a:pPr marL="342900" indent="-342900" algn="l">
              <a:spcBef>
                <a:spcPct val="20000"/>
              </a:spcBef>
              <a:buClr>
                <a:srgbClr val="3333FF"/>
              </a:buClr>
              <a:buSzPct val="80000"/>
              <a:buFont typeface="Wingdings" pitchFamily="2" charset="2"/>
              <a:buNone/>
            </a:pPr>
            <a:r>
              <a:rPr lang="en-US" sz="2000" b="1" dirty="0">
                <a:solidFill>
                  <a:srgbClr val="C00000"/>
                </a:solidFill>
                <a:cs typeface="+mn-cs"/>
                <a:sym typeface="Wingdings" pitchFamily="2" charset="2"/>
              </a:rPr>
              <a:t>Slow access </a:t>
            </a:r>
            <a:r>
              <a:rPr lang="en-US" sz="2000" dirty="0">
                <a:sym typeface="Wingdings" pitchFamily="2" charset="2"/>
              </a:rPr>
              <a:t>latency of 50-70ns</a:t>
            </a:r>
          </a:p>
          <a:p>
            <a:pPr marL="342900" indent="-342900" algn="l">
              <a:spcBef>
                <a:spcPct val="20000"/>
              </a:spcBef>
              <a:buClr>
                <a:srgbClr val="3333FF"/>
              </a:buClr>
              <a:buSzPct val="80000"/>
              <a:buFont typeface="Wingdings" pitchFamily="2" charset="2"/>
              <a:buNone/>
            </a:pPr>
            <a:r>
              <a:rPr lang="en-US" sz="2000" dirty="0">
                <a:sym typeface="Wingdings" pitchFamily="2" charset="2"/>
              </a:rPr>
              <a:t>Less costly</a:t>
            </a:r>
          </a:p>
          <a:p>
            <a:pPr marL="342900" indent="-342900" algn="l">
              <a:spcBef>
                <a:spcPct val="20000"/>
              </a:spcBef>
              <a:buClr>
                <a:srgbClr val="3333FF"/>
              </a:buClr>
              <a:buSzPct val="80000"/>
              <a:buFont typeface="Wingdings" pitchFamily="2" charset="2"/>
              <a:buNone/>
            </a:pPr>
            <a:r>
              <a:rPr lang="en-US" sz="2000" dirty="0">
                <a:sym typeface="Wingdings" pitchFamily="2" charset="2"/>
              </a:rPr>
              <a:t>Used in main memory</a:t>
            </a:r>
          </a:p>
        </p:txBody>
      </p:sp>
      <p:sp>
        <p:nvSpPr>
          <p:cNvPr id="330" name="Text Box 10">
            <a:extLst>
              <a:ext uri="{FF2B5EF4-FFF2-40B4-BE49-F238E27FC236}">
                <a16:creationId xmlns:a16="http://schemas.microsoft.com/office/drawing/2014/main" id="{B9B0B92E-62F4-4D12-B248-F003CCE56F1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96027" y="3556217"/>
            <a:ext cx="1232773" cy="307777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r>
              <a:rPr lang="en-US" sz="1400" b="1" dirty="0">
                <a:latin typeface="Times New Roman" pitchFamily="18" charset="0"/>
                <a:cs typeface="Times New Roman" pitchFamily="18" charset="0"/>
              </a:rPr>
              <a:t>A SRAM Cell</a:t>
            </a:r>
          </a:p>
        </p:txBody>
      </p:sp>
    </p:spTree>
    <p:extLst>
      <p:ext uri="{BB962C8B-B14F-4D97-AF65-F5344CB8AC3E}">
        <p14:creationId xmlns:p14="http://schemas.microsoft.com/office/powerpoint/2010/main" val="137806764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8" name="Rectangle 2"/>
          <p:cNvSpPr>
            <a:spLocks noGrp="1" noChangeArrowheads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1976438" indent="-1976438"/>
            <a:r>
              <a:rPr lang="en-GB" sz="3400" dirty="0"/>
              <a:t>Slow Memory Technology: </a:t>
            </a:r>
            <a:r>
              <a:rPr lang="en-GB" sz="3400" b="1" dirty="0"/>
              <a:t>Magnetic Disk</a:t>
            </a:r>
          </a:p>
        </p:txBody>
      </p:sp>
      <p:sp>
        <p:nvSpPr>
          <p:cNvPr id="12" name="[Date Placeholder 3]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Aaron Tan, NUS</a:t>
            </a:r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>
            <a:noAutofit/>
          </a:bodyPr>
          <a:lstStyle/>
          <a:p>
            <a:pPr algn="r">
              <a:defRPr/>
            </a:pPr>
            <a:fld id="{F7EC234A-9094-4BB8-9EA4-75ECDA8A365B}" type="slidenum">
              <a:rPr smtClean="0"/>
              <a:pPr algn="r">
                <a:defRPr/>
              </a:pPr>
              <a:t>7</a:t>
            </a:fld>
            <a:endParaRPr dirty="0"/>
          </a:p>
        </p:txBody>
      </p:sp>
      <p:pic>
        <p:nvPicPr>
          <p:cNvPr id="17" name="Picture 6" descr="HDD7">
            <a:extLst>
              <a:ext uri="{FF2B5EF4-FFF2-40B4-BE49-F238E27FC236}">
                <a16:creationId xmlns:a16="http://schemas.microsoft.com/office/drawing/2014/main" id="{B40F1553-5E88-4606-8B23-8B7289A824F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4139012" y="1447800"/>
            <a:ext cx="4528738" cy="356114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18" name="Text Box 9">
            <a:extLst>
              <a:ext uri="{FF2B5EF4-FFF2-40B4-BE49-F238E27FC236}">
                <a16:creationId xmlns:a16="http://schemas.microsoft.com/office/drawing/2014/main" id="{4B12ECCF-1526-4F30-9E31-5AF23219F76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33400" y="4495800"/>
            <a:ext cx="4038600" cy="1569660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 algn="l"/>
            <a:r>
              <a:rPr lang="en-US" sz="2400" dirty="0"/>
              <a:t>Typical high-end hard disk:</a:t>
            </a:r>
          </a:p>
          <a:p>
            <a:pPr algn="l"/>
            <a:endParaRPr lang="en-US" sz="2400" dirty="0"/>
          </a:p>
          <a:p>
            <a:pPr algn="l"/>
            <a:r>
              <a:rPr lang="en-US" sz="2400" dirty="0"/>
              <a:t>Average Latency</a:t>
            </a:r>
            <a:r>
              <a:rPr lang="en-US" sz="2400" dirty="0">
                <a:solidFill>
                  <a:srgbClr val="C00000"/>
                </a:solidFill>
              </a:rPr>
              <a:t>: 4 - 10 ms</a:t>
            </a:r>
          </a:p>
          <a:p>
            <a:pPr algn="l"/>
            <a:r>
              <a:rPr lang="en-US" sz="2400" dirty="0"/>
              <a:t>Capacity: </a:t>
            </a:r>
            <a:r>
              <a:rPr lang="en-US" sz="2400" dirty="0">
                <a:solidFill>
                  <a:srgbClr val="C00000"/>
                </a:solidFill>
              </a:rPr>
              <a:t>500-2000GB</a:t>
            </a:r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233AB6C5-DCA0-4C91-AFAD-ED181C7B1EE6}"/>
              </a:ext>
            </a:extLst>
          </p:cNvPr>
          <p:cNvGrpSpPr/>
          <p:nvPr/>
        </p:nvGrpSpPr>
        <p:grpSpPr>
          <a:xfrm>
            <a:off x="304800" y="1600200"/>
            <a:ext cx="3886200" cy="2362200"/>
            <a:chOff x="304800" y="1143000"/>
            <a:chExt cx="3886200" cy="2362200"/>
          </a:xfrm>
        </p:grpSpPr>
        <p:pic>
          <p:nvPicPr>
            <p:cNvPr id="20" name="Picture 5" descr="ibm hard disk recovery">
              <a:extLst>
                <a:ext uri="{FF2B5EF4-FFF2-40B4-BE49-F238E27FC236}">
                  <a16:creationId xmlns:a16="http://schemas.microsoft.com/office/drawing/2014/main" id="{7294026A-1090-48DF-9F82-912DF816E5EC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 cstate="print"/>
            <a:srcRect/>
            <a:stretch>
              <a:fillRect/>
            </a:stretch>
          </p:blipFill>
          <p:spPr bwMode="auto">
            <a:xfrm>
              <a:off x="1698871" y="1434683"/>
              <a:ext cx="1791303" cy="199431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</p:pic>
        <p:sp>
          <p:nvSpPr>
            <p:cNvPr id="21" name="Rectangle 323">
              <a:extLst>
                <a:ext uri="{FF2B5EF4-FFF2-40B4-BE49-F238E27FC236}">
                  <a16:creationId xmlns:a16="http://schemas.microsoft.com/office/drawing/2014/main" id="{0D2038B0-BA5D-498E-8485-C00A8BA3F45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90600" y="1371600"/>
              <a:ext cx="3200400" cy="2133600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prstDash val="dash"/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pic>
          <p:nvPicPr>
            <p:cNvPr id="22" name="Picture 8" descr="MCj03985530000[1]">
              <a:extLst>
                <a:ext uri="{FF2B5EF4-FFF2-40B4-BE49-F238E27FC236}">
                  <a16:creationId xmlns:a16="http://schemas.microsoft.com/office/drawing/2014/main" id="{9D4022C5-E365-426A-897B-BA6B5B2D2CA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 cstate="print"/>
            <a:srcRect/>
            <a:stretch>
              <a:fillRect/>
            </a:stretch>
          </p:blipFill>
          <p:spPr bwMode="auto">
            <a:xfrm>
              <a:off x="304800" y="1143000"/>
              <a:ext cx="1143000" cy="58336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</p:pic>
      </p:grpSp>
    </p:spTree>
    <p:extLst>
      <p:ext uri="{BB962C8B-B14F-4D97-AF65-F5344CB8AC3E}">
        <p14:creationId xmlns:p14="http://schemas.microsoft.com/office/powerpoint/2010/main" val="354334158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8" name="Rectangle 2"/>
          <p:cNvSpPr>
            <a:spLocks noGrp="1" noChangeArrowheads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1976438" indent="-1976438"/>
            <a:r>
              <a:rPr lang="en-GB" sz="3600" dirty="0"/>
              <a:t>Quality vs Quantity</a:t>
            </a:r>
            <a:endParaRPr lang="en-GB" sz="3600" b="1" dirty="0"/>
          </a:p>
        </p:txBody>
      </p:sp>
      <p:sp>
        <p:nvSpPr>
          <p:cNvPr id="12" name="[Date Placeholder 3]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Aaron Tan, NUS</a:t>
            </a:r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>
            <a:noAutofit/>
          </a:bodyPr>
          <a:lstStyle/>
          <a:p>
            <a:pPr algn="r">
              <a:defRPr/>
            </a:pPr>
            <a:fld id="{F7EC234A-9094-4BB8-9EA4-75ECDA8A365B}" type="slidenum">
              <a:rPr smtClean="0"/>
              <a:pPr algn="r">
                <a:defRPr/>
              </a:pPr>
              <a:t>8</a:t>
            </a:fld>
            <a:endParaRPr dirty="0"/>
          </a:p>
        </p:txBody>
      </p:sp>
      <p:grpSp>
        <p:nvGrpSpPr>
          <p:cNvPr id="13" name="Group 63">
            <a:extLst>
              <a:ext uri="{FF2B5EF4-FFF2-40B4-BE49-F238E27FC236}">
                <a16:creationId xmlns:a16="http://schemas.microsoft.com/office/drawing/2014/main" id="{5112455E-1E8C-43BB-8E22-8B67B475A1A8}"/>
              </a:ext>
            </a:extLst>
          </p:cNvPr>
          <p:cNvGrpSpPr>
            <a:grpSpLocks/>
          </p:cNvGrpSpPr>
          <p:nvPr/>
        </p:nvGrpSpPr>
        <p:grpSpPr bwMode="auto">
          <a:xfrm>
            <a:off x="457200" y="3657600"/>
            <a:ext cx="1381125" cy="2151063"/>
            <a:chOff x="384" y="2256"/>
            <a:chExt cx="963" cy="1499"/>
          </a:xfrm>
        </p:grpSpPr>
        <p:pic>
          <p:nvPicPr>
            <p:cNvPr id="14" name="Picture 44" descr="j0216858">
              <a:extLst>
                <a:ext uri="{FF2B5EF4-FFF2-40B4-BE49-F238E27FC236}">
                  <a16:creationId xmlns:a16="http://schemas.microsoft.com/office/drawing/2014/main" id="{F4EE0318-2D0B-425E-8EFA-3CABC915CB9C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 cstate="print"/>
            <a:srcRect/>
            <a:stretch>
              <a:fillRect/>
            </a:stretch>
          </p:blipFill>
          <p:spPr bwMode="auto">
            <a:xfrm>
              <a:off x="528" y="2256"/>
              <a:ext cx="767" cy="350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</p:pic>
        <p:pic>
          <p:nvPicPr>
            <p:cNvPr id="15" name="Picture 45" descr="MCj03378420000[1]">
              <a:extLst>
                <a:ext uri="{FF2B5EF4-FFF2-40B4-BE49-F238E27FC236}">
                  <a16:creationId xmlns:a16="http://schemas.microsoft.com/office/drawing/2014/main" id="{2617CE8A-00D7-4714-8292-4686F4ACE2B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 cstate="print"/>
            <a:srcRect/>
            <a:stretch>
              <a:fillRect/>
            </a:stretch>
          </p:blipFill>
          <p:spPr bwMode="auto">
            <a:xfrm>
              <a:off x="528" y="2736"/>
              <a:ext cx="768" cy="394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</p:pic>
        <p:pic>
          <p:nvPicPr>
            <p:cNvPr id="16" name="Picture 46" descr="MCj03985530000[1]">
              <a:extLst>
                <a:ext uri="{FF2B5EF4-FFF2-40B4-BE49-F238E27FC236}">
                  <a16:creationId xmlns:a16="http://schemas.microsoft.com/office/drawing/2014/main" id="{01392362-820A-4ACD-9482-8D87652262F7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 cstate="print"/>
            <a:srcRect/>
            <a:stretch>
              <a:fillRect/>
            </a:stretch>
          </p:blipFill>
          <p:spPr bwMode="auto">
            <a:xfrm>
              <a:off x="384" y="3264"/>
              <a:ext cx="963" cy="491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</p:pic>
      </p:grpSp>
      <p:graphicFrame>
        <p:nvGraphicFramePr>
          <p:cNvPr id="23" name="Group 82">
            <a:extLst>
              <a:ext uri="{FF2B5EF4-FFF2-40B4-BE49-F238E27FC236}">
                <a16:creationId xmlns:a16="http://schemas.microsoft.com/office/drawing/2014/main" id="{DE00E7BE-F184-47EA-BB91-8CDA45DC04A5}"/>
              </a:ext>
            </a:extLst>
          </p:cNvPr>
          <p:cNvGraphicFramePr>
            <a:graphicFrameLocks/>
          </p:cNvGraphicFramePr>
          <p:nvPr/>
        </p:nvGraphicFramePr>
        <p:xfrm>
          <a:off x="2057400" y="3352800"/>
          <a:ext cx="6324600" cy="2590800"/>
        </p:xfrm>
        <a:graphic>
          <a:graphicData uri="http://schemas.openxmlformats.org/drawingml/2006/table">
            <a:tbl>
              <a:tblPr/>
              <a:tblGrid>
                <a:gridCol w="15049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192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002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002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31800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3333FF"/>
                        </a:buClr>
                        <a:buSzPct val="80000"/>
                        <a:buFont typeface="Wingdings" pitchFamily="2" charset="2"/>
                        <a:buNone/>
                        <a:tabLst/>
                      </a:pPr>
                      <a:endParaRPr kumimoji="0" lang="en-US" sz="2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cs typeface="Arial" pitchFamily="34" charset="0"/>
                      </a:endParaRP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3333FF"/>
                        </a:buClr>
                        <a:buSzPct val="8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cs typeface="Arial" pitchFamily="34" charset="0"/>
                        </a:rPr>
                        <a:t>Capacity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3333FF"/>
                        </a:buClr>
                        <a:buSzPct val="8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cs typeface="Arial" pitchFamily="34" charset="0"/>
                        </a:rPr>
                        <a:t>Latency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3333FF"/>
                        </a:buClr>
                        <a:buSzPct val="8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cs typeface="Arial" pitchFamily="34" charset="0"/>
                        </a:rPr>
                        <a:t>Cost/GB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31800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3333FF"/>
                        </a:buClr>
                        <a:buSzPct val="8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cs typeface="Arial" pitchFamily="34" charset="0"/>
                        </a:rPr>
                        <a:t>Register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3333FF"/>
                        </a:buClr>
                        <a:buSzPct val="8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cs typeface="Arial" pitchFamily="34" charset="0"/>
                        </a:rPr>
                        <a:t>100s Bytes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3333FF"/>
                        </a:buClr>
                        <a:buSzPct val="8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cs typeface="Arial" pitchFamily="34" charset="0"/>
                        </a:rPr>
                        <a:t> 20 </a:t>
                      </a:r>
                      <a:r>
                        <a:rPr kumimoji="0" lang="en-US" sz="2000" b="0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cs typeface="Arial" pitchFamily="34" charset="0"/>
                        </a:rPr>
                        <a:t>ps</a:t>
                      </a:r>
                      <a:endParaRPr kumimoji="0" lang="en-US" sz="2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cs typeface="Arial" pitchFamily="34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3333FF"/>
                        </a:buClr>
                        <a:buSzPct val="8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cs typeface="Arial" pitchFamily="34" charset="0"/>
                        </a:rPr>
                        <a:t>$$$$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31800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3333FF"/>
                        </a:buClr>
                        <a:buSzPct val="8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cs typeface="Arial" pitchFamily="34" charset="0"/>
                        </a:rPr>
                        <a:t>SRAM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3333FF"/>
                        </a:buClr>
                        <a:buSzPct val="8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cs typeface="Arial" pitchFamily="34" charset="0"/>
                        </a:rPr>
                        <a:t>100s KB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457200" marR="0" lvl="0" indent="-45720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3333FF"/>
                        </a:buClr>
                        <a:buSzPct val="8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cs typeface="Arial" pitchFamily="34" charset="0"/>
                        </a:rPr>
                        <a:t>0.5-5 ns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3333FF"/>
                        </a:buClr>
                        <a:buSzPct val="8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cs typeface="Arial" pitchFamily="34" charset="0"/>
                        </a:rPr>
                        <a:t>$$$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31800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3333FF"/>
                        </a:buClr>
                        <a:buSzPct val="8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cs typeface="Arial" pitchFamily="34" charset="0"/>
                        </a:rPr>
                        <a:t>DRAM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3333FF"/>
                        </a:buClr>
                        <a:buSzPct val="8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cs typeface="Arial" pitchFamily="34" charset="0"/>
                        </a:rPr>
                        <a:t>100s MB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3333FF"/>
                        </a:buClr>
                        <a:buSzPct val="8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cs typeface="Arial" pitchFamily="34" charset="0"/>
                        </a:rPr>
                        <a:t>50-70 ns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3333FF"/>
                        </a:buClr>
                        <a:buSzPct val="8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cs typeface="Arial" pitchFamily="34" charset="0"/>
                        </a:rPr>
                        <a:t>$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31800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3333FF"/>
                        </a:buClr>
                        <a:buSzPct val="8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cs typeface="Arial" pitchFamily="34" charset="0"/>
                        </a:rPr>
                        <a:t>Hard Disk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3333FF"/>
                        </a:buClr>
                        <a:buSzPct val="8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cs typeface="Arial" pitchFamily="34" charset="0"/>
                        </a:rPr>
                        <a:t>100s GB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3333FF"/>
                        </a:buClr>
                        <a:buSzPct val="8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cs typeface="Arial" pitchFamily="34" charset="0"/>
                        </a:rPr>
                        <a:t> 5-20 </a:t>
                      </a:r>
                      <a:r>
                        <a:rPr kumimoji="0" lang="en-US" sz="2000" b="0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cs typeface="Arial" pitchFamily="34" charset="0"/>
                        </a:rPr>
                        <a:t>ms</a:t>
                      </a:r>
                      <a:endParaRPr kumimoji="0" lang="en-US" sz="2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cs typeface="Arial" pitchFamily="34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3333FF"/>
                        </a:buClr>
                        <a:buSzPct val="8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cs typeface="Arial" pitchFamily="34" charset="0"/>
                        </a:rPr>
                        <a:t>Cents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31800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3333FF"/>
                        </a:buClr>
                        <a:buSzPct val="8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latin typeface="+mn-lt"/>
                          <a:cs typeface="Arial" pitchFamily="34" charset="0"/>
                        </a:rPr>
                        <a:t>Ideal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3333FF"/>
                        </a:buClr>
                        <a:buSzPct val="8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latin typeface="+mn-lt"/>
                          <a:cs typeface="Arial" pitchFamily="34" charset="0"/>
                        </a:rPr>
                        <a:t>1 GB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3333FF"/>
                        </a:buClr>
                        <a:buSzPct val="8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latin typeface="+mn-lt"/>
                          <a:cs typeface="Arial" pitchFamily="34" charset="0"/>
                        </a:rPr>
                        <a:t>1  ns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3333FF"/>
                        </a:buClr>
                        <a:buSzPct val="8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latin typeface="+mn-lt"/>
                          <a:cs typeface="Arial" pitchFamily="34" charset="0"/>
                        </a:rPr>
                        <a:t>Cheap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grpSp>
        <p:nvGrpSpPr>
          <p:cNvPr id="24" name="Group 23">
            <a:extLst>
              <a:ext uri="{FF2B5EF4-FFF2-40B4-BE49-F238E27FC236}">
                <a16:creationId xmlns:a16="http://schemas.microsoft.com/office/drawing/2014/main" id="{2C706851-99C7-4478-91F6-2FDDF4CC5CC8}"/>
              </a:ext>
            </a:extLst>
          </p:cNvPr>
          <p:cNvGrpSpPr/>
          <p:nvPr/>
        </p:nvGrpSpPr>
        <p:grpSpPr>
          <a:xfrm>
            <a:off x="2445152" y="1497918"/>
            <a:ext cx="4724400" cy="1633954"/>
            <a:chOff x="3048000" y="1219200"/>
            <a:chExt cx="4724400" cy="1633954"/>
          </a:xfrm>
        </p:grpSpPr>
        <p:sp>
          <p:nvSpPr>
            <p:cNvPr id="25" name="Rectangle 96">
              <a:extLst>
                <a:ext uri="{FF2B5EF4-FFF2-40B4-BE49-F238E27FC236}">
                  <a16:creationId xmlns:a16="http://schemas.microsoft.com/office/drawing/2014/main" id="{357ED56E-2CF3-491A-8F14-25A7BF0CE30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705350" y="1219200"/>
              <a:ext cx="1390650" cy="1601821"/>
            </a:xfrm>
            <a:prstGeom prst="rect">
              <a:avLst/>
            </a:prstGeom>
            <a:solidFill>
              <a:schemeClr val="bg1"/>
            </a:solidFill>
            <a:ln w="9525" algn="ctr">
              <a:solidFill>
                <a:schemeClr val="tx2"/>
              </a:solidFill>
              <a:miter lim="800000"/>
              <a:headEnd/>
              <a:tailEnd/>
            </a:ln>
            <a:effectLst>
              <a:outerShdw dist="107763" dir="2700000" algn="ctr" rotWithShape="0">
                <a:schemeClr val="bg2">
                  <a:alpha val="50000"/>
                </a:schemeClr>
              </a:outerShdw>
            </a:effectLst>
          </p:spPr>
          <p:txBody>
            <a:bodyPr wrap="none" anchor="ctr">
              <a:noAutofit/>
            </a:bodyPr>
            <a:lstStyle/>
            <a:p>
              <a:pPr algn="ctr"/>
              <a:r>
                <a:rPr lang="en-US" sz="2000" b="1" dirty="0">
                  <a:solidFill>
                    <a:srgbClr val="C00000"/>
                  </a:solidFill>
                </a:rPr>
                <a:t>Memory</a:t>
              </a:r>
            </a:p>
            <a:p>
              <a:pPr algn="ctr"/>
              <a:r>
                <a:rPr lang="en-US" sz="2000" dirty="0">
                  <a:solidFill>
                    <a:srgbClr val="C00000"/>
                  </a:solidFill>
                </a:rPr>
                <a:t>(DRAM)</a:t>
              </a:r>
            </a:p>
          </p:txBody>
        </p:sp>
        <p:sp>
          <p:nvSpPr>
            <p:cNvPr id="26" name="Rectangle 97">
              <a:extLst>
                <a:ext uri="{FF2B5EF4-FFF2-40B4-BE49-F238E27FC236}">
                  <a16:creationId xmlns:a16="http://schemas.microsoft.com/office/drawing/2014/main" id="{7CFD46ED-654D-4F07-8FFF-D9B0C8C7004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400800" y="1219200"/>
              <a:ext cx="1371600" cy="1600199"/>
            </a:xfrm>
            <a:prstGeom prst="rect">
              <a:avLst/>
            </a:prstGeom>
            <a:solidFill>
              <a:schemeClr val="bg1"/>
            </a:solidFill>
            <a:ln w="9525" algn="ctr">
              <a:solidFill>
                <a:schemeClr val="tx2"/>
              </a:solidFill>
              <a:miter lim="800000"/>
              <a:headEnd/>
              <a:tailEnd/>
            </a:ln>
            <a:effectLst>
              <a:outerShdw dist="107763" dir="2700000" algn="ctr" rotWithShape="0">
                <a:schemeClr val="bg2">
                  <a:alpha val="50000"/>
                </a:schemeClr>
              </a:outerShdw>
            </a:effectLst>
          </p:spPr>
          <p:txBody>
            <a:bodyPr wrap="square" anchor="ctr">
              <a:noAutofit/>
            </a:bodyPr>
            <a:lstStyle/>
            <a:p>
              <a:endParaRPr lang="en-US" sz="1600"/>
            </a:p>
          </p:txBody>
        </p:sp>
        <p:sp>
          <p:nvSpPr>
            <p:cNvPr id="27" name="Text Box 103">
              <a:extLst>
                <a:ext uri="{FF2B5EF4-FFF2-40B4-BE49-F238E27FC236}">
                  <a16:creationId xmlns:a16="http://schemas.microsoft.com/office/drawing/2014/main" id="{D6FDBF61-A2DB-43D5-9332-6D26FC19A8BA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409399" y="1277566"/>
              <a:ext cx="1286801" cy="338577"/>
            </a:xfrm>
            <a:prstGeom prst="rect">
              <a:avLst/>
            </a:prstGeom>
            <a:noFill/>
            <a:ln w="9525" algn="ctr">
              <a:noFill/>
              <a:miter lim="800000"/>
              <a:headEnd/>
              <a:tailEnd/>
            </a:ln>
          </p:spPr>
          <p:txBody>
            <a:bodyPr wrap="square">
              <a:spAutoFit/>
            </a:bodyPr>
            <a:lstStyle/>
            <a:p>
              <a:pPr algn="ctr"/>
              <a:r>
                <a:rPr lang="en-US" sz="1600" b="1" dirty="0">
                  <a:latin typeface="Verdana" pitchFamily="34" charset="0"/>
                </a:rPr>
                <a:t>Devices</a:t>
              </a:r>
            </a:p>
          </p:txBody>
        </p:sp>
        <p:sp>
          <p:nvSpPr>
            <p:cNvPr id="28" name="AutoShape 104">
              <a:extLst>
                <a:ext uri="{FF2B5EF4-FFF2-40B4-BE49-F238E27FC236}">
                  <a16:creationId xmlns:a16="http://schemas.microsoft.com/office/drawing/2014/main" id="{934F651C-FFCE-4879-B7D8-4E9DB445911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518275" y="1600200"/>
              <a:ext cx="949325" cy="363166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9525" algn="ctr">
              <a:solidFill>
                <a:schemeClr val="tx2"/>
              </a:solidFill>
              <a:round/>
              <a:headEnd/>
              <a:tailEnd/>
            </a:ln>
            <a:effectLst>
              <a:outerShdw dist="107763" dir="2700000" algn="ctr" rotWithShape="0">
                <a:schemeClr val="bg2">
                  <a:alpha val="50000"/>
                </a:schemeClr>
              </a:outerShdw>
            </a:effectLst>
          </p:spPr>
          <p:txBody>
            <a:bodyPr wrap="none" anchor="ctr">
              <a:noAutofit/>
            </a:bodyPr>
            <a:lstStyle/>
            <a:p>
              <a:pPr algn="ctr"/>
              <a:r>
                <a:rPr lang="en-US" sz="1600" b="1" dirty="0"/>
                <a:t>Input</a:t>
              </a:r>
            </a:p>
          </p:txBody>
        </p:sp>
        <p:sp>
          <p:nvSpPr>
            <p:cNvPr id="29" name="AutoShape 105">
              <a:extLst>
                <a:ext uri="{FF2B5EF4-FFF2-40B4-BE49-F238E27FC236}">
                  <a16:creationId xmlns:a16="http://schemas.microsoft.com/office/drawing/2014/main" id="{FBC75DF5-1331-4D5A-83FD-BB40EA18E1C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518275" y="2075234"/>
              <a:ext cx="949325" cy="363166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9525" algn="ctr">
              <a:solidFill>
                <a:schemeClr val="tx2"/>
              </a:solidFill>
              <a:round/>
              <a:headEnd/>
              <a:tailEnd/>
            </a:ln>
            <a:effectLst>
              <a:outerShdw dist="107763" dir="2700000" algn="ctr" rotWithShape="0">
                <a:schemeClr val="bg2">
                  <a:alpha val="50000"/>
                </a:schemeClr>
              </a:outerShdw>
            </a:effectLst>
          </p:spPr>
          <p:txBody>
            <a:bodyPr wrap="none" anchor="ctr">
              <a:noAutofit/>
            </a:bodyPr>
            <a:lstStyle/>
            <a:p>
              <a:pPr algn="ctr"/>
              <a:r>
                <a:rPr lang="en-US" sz="1600" b="1" dirty="0"/>
                <a:t>Output</a:t>
              </a:r>
            </a:p>
          </p:txBody>
        </p:sp>
        <p:grpSp>
          <p:nvGrpSpPr>
            <p:cNvPr id="30" name="Group 28">
              <a:extLst>
                <a:ext uri="{FF2B5EF4-FFF2-40B4-BE49-F238E27FC236}">
                  <a16:creationId xmlns:a16="http://schemas.microsoft.com/office/drawing/2014/main" id="{94CE26EA-C41E-4BA7-BB6E-DF038E28398D}"/>
                </a:ext>
              </a:extLst>
            </p:cNvPr>
            <p:cNvGrpSpPr/>
            <p:nvPr/>
          </p:nvGrpSpPr>
          <p:grpSpPr>
            <a:xfrm>
              <a:off x="3048000" y="1219200"/>
              <a:ext cx="1335749" cy="1601822"/>
              <a:chOff x="1371600" y="1963367"/>
              <a:chExt cx="1335749" cy="1543455"/>
            </a:xfrm>
          </p:grpSpPr>
          <p:sp>
            <p:nvSpPr>
              <p:cNvPr id="32" name="Rectangle 95">
                <a:extLst>
                  <a:ext uri="{FF2B5EF4-FFF2-40B4-BE49-F238E27FC236}">
                    <a16:creationId xmlns:a16="http://schemas.microsoft.com/office/drawing/2014/main" id="{CAFF5E34-7552-4CE8-825C-CCAEBC813DF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392899" y="1963367"/>
                <a:ext cx="1314450" cy="1543455"/>
              </a:xfrm>
              <a:prstGeom prst="rect">
                <a:avLst/>
              </a:prstGeom>
              <a:solidFill>
                <a:srgbClr val="FFFFFF"/>
              </a:solidFill>
              <a:ln w="9525" algn="ctr">
                <a:solidFill>
                  <a:schemeClr val="tx2"/>
                </a:solidFill>
                <a:miter lim="800000"/>
                <a:headEnd/>
                <a:tailEnd/>
              </a:ln>
              <a:effectLst>
                <a:outerShdw dist="107763" dir="2700000" algn="ctr" rotWithShape="0">
                  <a:schemeClr val="bg2">
                    <a:alpha val="50000"/>
                  </a:schemeClr>
                </a:outerShdw>
              </a:effectLst>
            </p:spPr>
            <p:txBody>
              <a:bodyPr wrap="none" anchor="ctr">
                <a:noAutofit/>
              </a:bodyPr>
              <a:lstStyle/>
              <a:p>
                <a:endParaRPr lang="en-US" sz="1600"/>
              </a:p>
            </p:txBody>
          </p:sp>
          <p:sp>
            <p:nvSpPr>
              <p:cNvPr id="33" name="Text Box 99">
                <a:extLst>
                  <a:ext uri="{FF2B5EF4-FFF2-40B4-BE49-F238E27FC236}">
                    <a16:creationId xmlns:a16="http://schemas.microsoft.com/office/drawing/2014/main" id="{D8495E9D-742E-4411-A312-9B3B2D31978F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1371600" y="1963367"/>
                <a:ext cx="1322057" cy="338577"/>
              </a:xfrm>
              <a:prstGeom prst="rect">
                <a:avLst/>
              </a:prstGeom>
              <a:noFill/>
              <a:ln w="9525" algn="ctr">
                <a:noFill/>
                <a:miter lim="800000"/>
                <a:headEnd/>
                <a:tailEnd/>
              </a:ln>
            </p:spPr>
            <p:txBody>
              <a:bodyPr wrap="none">
                <a:spAutoFit/>
              </a:bodyPr>
              <a:lstStyle/>
              <a:p>
                <a:pPr algn="ctr"/>
                <a:r>
                  <a:rPr lang="en-US" sz="1600" b="1" dirty="0">
                    <a:latin typeface="Verdana" pitchFamily="34" charset="0"/>
                  </a:rPr>
                  <a:t>Processor</a:t>
                </a:r>
              </a:p>
            </p:txBody>
          </p:sp>
          <p:sp>
            <p:nvSpPr>
              <p:cNvPr id="34" name="AutoShape 100">
                <a:extLst>
                  <a:ext uri="{FF2B5EF4-FFF2-40B4-BE49-F238E27FC236}">
                    <a16:creationId xmlns:a16="http://schemas.microsoft.com/office/drawing/2014/main" id="{A5E499B9-0BED-4924-95F6-52B77F15006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560248" y="2326533"/>
                <a:ext cx="1001051" cy="363166"/>
              </a:xfrm>
              <a:prstGeom prst="roundRect">
                <a:avLst>
                  <a:gd name="adj" fmla="val 16667"/>
                </a:avLst>
              </a:prstGeom>
              <a:solidFill>
                <a:srgbClr val="FFFFFF"/>
              </a:solidFill>
              <a:ln w="9525" algn="ctr">
                <a:solidFill>
                  <a:schemeClr val="tx2"/>
                </a:solidFill>
                <a:round/>
                <a:headEnd/>
                <a:tailEnd/>
              </a:ln>
              <a:effectLst>
                <a:outerShdw dist="107763" dir="2700000" algn="ctr" rotWithShape="0">
                  <a:schemeClr val="bg2">
                    <a:alpha val="50000"/>
                  </a:schemeClr>
                </a:outerShdw>
              </a:effectLst>
            </p:spPr>
            <p:txBody>
              <a:bodyPr wrap="none" anchor="ctr">
                <a:noAutofit/>
              </a:bodyPr>
              <a:lstStyle/>
              <a:p>
                <a:pPr algn="ctr"/>
                <a:r>
                  <a:rPr lang="en-US" sz="1600" b="1" dirty="0"/>
                  <a:t>Control</a:t>
                </a:r>
              </a:p>
            </p:txBody>
          </p:sp>
          <p:sp>
            <p:nvSpPr>
              <p:cNvPr id="35" name="AutoShape 108">
                <a:extLst>
                  <a:ext uri="{FF2B5EF4-FFF2-40B4-BE49-F238E27FC236}">
                    <a16:creationId xmlns:a16="http://schemas.microsoft.com/office/drawing/2014/main" id="{F6AB1C2C-E1BA-4356-A2A3-8358585C7CD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560248" y="2871282"/>
                <a:ext cx="1001051" cy="544749"/>
              </a:xfrm>
              <a:prstGeom prst="roundRect">
                <a:avLst>
                  <a:gd name="adj" fmla="val 16667"/>
                </a:avLst>
              </a:prstGeom>
              <a:solidFill>
                <a:srgbClr val="FFFFFF"/>
              </a:solidFill>
              <a:ln w="9525" algn="ctr">
                <a:solidFill>
                  <a:schemeClr val="tx2"/>
                </a:solidFill>
                <a:round/>
                <a:headEnd/>
                <a:tailEnd/>
              </a:ln>
              <a:effectLst>
                <a:outerShdw dist="107763" dir="2700000" algn="ctr" rotWithShape="0">
                  <a:schemeClr val="bg2">
                    <a:alpha val="50000"/>
                  </a:schemeClr>
                </a:outerShdw>
              </a:effectLst>
            </p:spPr>
            <p:txBody>
              <a:bodyPr wrap="none" anchor="ctr">
                <a:noAutofit/>
              </a:bodyPr>
              <a:lstStyle/>
              <a:p>
                <a:pPr algn="ctr"/>
                <a:r>
                  <a:rPr lang="en-US" sz="1600" b="1" dirty="0" err="1"/>
                  <a:t>Datapath</a:t>
                </a:r>
                <a:endParaRPr lang="en-US" sz="1600" b="1" dirty="0"/>
              </a:p>
              <a:p>
                <a:pPr algn="ctr"/>
                <a:r>
                  <a:rPr lang="en-US" sz="1600" b="1" dirty="0">
                    <a:solidFill>
                      <a:srgbClr val="C00000"/>
                    </a:solidFill>
                  </a:rPr>
                  <a:t>Registers</a:t>
                </a:r>
              </a:p>
            </p:txBody>
          </p:sp>
        </p:grpSp>
        <p:sp>
          <p:nvSpPr>
            <p:cNvPr id="31" name="Text Box 103">
              <a:extLst>
                <a:ext uri="{FF2B5EF4-FFF2-40B4-BE49-F238E27FC236}">
                  <a16:creationId xmlns:a16="http://schemas.microsoft.com/office/drawing/2014/main" id="{5C3A846F-380C-49AA-8319-AA2D882E0773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324600" y="2514600"/>
              <a:ext cx="1447800" cy="338554"/>
            </a:xfrm>
            <a:prstGeom prst="rect">
              <a:avLst/>
            </a:prstGeom>
            <a:noFill/>
            <a:ln w="9525" algn="ctr">
              <a:noFill/>
              <a:miter lim="800000"/>
              <a:headEnd/>
              <a:tailEnd/>
            </a:ln>
          </p:spPr>
          <p:txBody>
            <a:bodyPr wrap="square">
              <a:spAutoFit/>
            </a:bodyPr>
            <a:lstStyle/>
            <a:p>
              <a:pPr algn="ctr"/>
              <a:r>
                <a:rPr lang="en-US" sz="1600" b="1" dirty="0">
                  <a:solidFill>
                    <a:srgbClr val="C00000"/>
                  </a:solidFill>
                  <a:latin typeface="Verdana" pitchFamily="34" charset="0"/>
                </a:rPr>
                <a:t>(</a:t>
              </a:r>
              <a:r>
                <a:rPr lang="en-US" sz="1600" b="1" dirty="0" err="1">
                  <a:solidFill>
                    <a:srgbClr val="C00000"/>
                  </a:solidFill>
                  <a:latin typeface="Verdana" pitchFamily="34" charset="0"/>
                </a:rPr>
                <a:t>Harddisk</a:t>
              </a:r>
              <a:r>
                <a:rPr lang="en-US" sz="1600" b="1" dirty="0">
                  <a:solidFill>
                    <a:srgbClr val="C00000"/>
                  </a:solidFill>
                  <a:latin typeface="Verdana" pitchFamily="34" charset="0"/>
                </a:rPr>
                <a:t>)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71505000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D4120967-5CDA-C883-EF97-0C2EADDC7B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Just how slow is the school bus?</a:t>
            </a:r>
          </a:p>
        </p:txBody>
      </p:sp>
      <p:pic>
        <p:nvPicPr>
          <p:cNvPr id="9" name="Content Placeholder 8">
            <a:extLst>
              <a:ext uri="{FF2B5EF4-FFF2-40B4-BE49-F238E27FC236}">
                <a16:creationId xmlns:a16="http://schemas.microsoft.com/office/drawing/2014/main" id="{CD65480F-CF2B-3D9B-A921-46DBBB2E1C4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87759" y="1498422"/>
            <a:ext cx="4708071" cy="2361572"/>
          </a:xfr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B87608F-8DE2-AC33-919B-504FDBD7A1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E0464C-7207-4298-A27C-0CEAF85D3DD1}" type="datetime3">
              <a:rPr lang="en-US" smtClean="0"/>
              <a:t>25 March 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73D1798-26B2-DA6A-6145-CB65D6B6F2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C3541-01C1-4CA5-B68F-FEE868C7D1AF}" type="slidenum">
              <a:rPr lang="en-US" smtClean="0"/>
              <a:t>9</a:t>
            </a:fld>
            <a:endParaRPr lang="en-US"/>
          </a:p>
        </p:txBody>
      </p:sp>
      <p:pic>
        <p:nvPicPr>
          <p:cNvPr id="11" name="Content Placeholder 10">
            <a:extLst>
              <a:ext uri="{FF2B5EF4-FFF2-40B4-BE49-F238E27FC236}">
                <a16:creationId xmlns:a16="http://schemas.microsoft.com/office/drawing/2014/main" id="{2BA86BF1-92B7-C85E-73E4-98B09EB13919}"/>
              </a:ext>
            </a:extLst>
          </p:cNvPr>
          <p:cNvPicPr>
            <a:picLocks noGrp="1" noChangeAspect="1"/>
          </p:cNvPicPr>
          <p:nvPr>
            <p:ph idx="4294967295"/>
          </p:nvPr>
        </p:nvPicPr>
        <p:blipFill>
          <a:blip r:embed="rId3"/>
          <a:stretch>
            <a:fillRect/>
          </a:stretch>
        </p:blipFill>
        <p:spPr>
          <a:xfrm>
            <a:off x="4594225" y="3736975"/>
            <a:ext cx="4549775" cy="1935163"/>
          </a:xfrm>
        </p:spPr>
      </p:pic>
      <p:sp>
        <p:nvSpPr>
          <p:cNvPr id="12" name="Content Placeholder 1">
            <a:extLst>
              <a:ext uri="{FF2B5EF4-FFF2-40B4-BE49-F238E27FC236}">
                <a16:creationId xmlns:a16="http://schemas.microsoft.com/office/drawing/2014/main" id="{90601ACF-EDFF-003C-E2CF-9769010916D2}"/>
              </a:ext>
            </a:extLst>
          </p:cNvPr>
          <p:cNvSpPr txBox="1">
            <a:spLocks/>
          </p:cNvSpPr>
          <p:nvPr/>
        </p:nvSpPr>
        <p:spPr>
          <a:xfrm>
            <a:off x="195798" y="3986036"/>
            <a:ext cx="4393976" cy="1746847"/>
          </a:xfrm>
          <a:prstGeom prst="rect">
            <a:avLst/>
          </a:prstGeom>
        </p:spPr>
        <p:txBody>
          <a:bodyPr vert="horz" lIns="68580" tIns="34290" rIns="68580" bIns="34290" rtlCol="0">
            <a:normAutofit fontScale="925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800" dirty="0">
                <a:solidFill>
                  <a:schemeClr val="accent4"/>
                </a:solidFill>
              </a:rPr>
              <a:t>Caches use static RAM (SRAM)</a:t>
            </a:r>
          </a:p>
          <a:p>
            <a:r>
              <a:rPr lang="en-US" sz="1800" dirty="0"/>
              <a:t>Fast (typical access times of 0.5 to 2.5 ns)</a:t>
            </a:r>
          </a:p>
          <a:p>
            <a:r>
              <a:rPr lang="en-US" sz="1800" dirty="0"/>
              <a:t>Higher power, expensive ($2000 to $4000 per GB in 2011)</a:t>
            </a:r>
          </a:p>
          <a:p>
            <a:r>
              <a:rPr lang="en-US" sz="1800" dirty="0"/>
              <a:t>Static: content will last as long as power is on </a:t>
            </a:r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EA448D37-D74C-C0AF-5383-681FB4510F16}"/>
              </a:ext>
            </a:extLst>
          </p:cNvPr>
          <p:cNvSpPr txBox="1">
            <a:spLocks/>
          </p:cNvSpPr>
          <p:nvPr/>
        </p:nvSpPr>
        <p:spPr>
          <a:xfrm>
            <a:off x="4673151" y="1546619"/>
            <a:ext cx="4393976" cy="1736649"/>
          </a:xfrm>
          <a:prstGeom prst="rect">
            <a:avLst/>
          </a:prstGeom>
        </p:spPr>
        <p:txBody>
          <a:bodyPr vert="horz" lIns="68580" tIns="34290" rIns="68580" bIns="34290" rtlCol="0">
            <a:normAutofit fontScale="92500"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800" dirty="0">
                <a:solidFill>
                  <a:schemeClr val="accent4"/>
                </a:solidFill>
              </a:rPr>
              <a:t>Main memory uses dynamic RAM (DRAM)</a:t>
            </a:r>
          </a:p>
          <a:p>
            <a:r>
              <a:rPr lang="en-US" sz="1800" dirty="0"/>
              <a:t>Lower power, cheaper ($20 to $40 per GB in 2011)</a:t>
            </a:r>
          </a:p>
          <a:p>
            <a:r>
              <a:rPr lang="en-US" sz="1800" dirty="0"/>
              <a:t>Slower (typical access times of 50 to 70 ns)</a:t>
            </a:r>
          </a:p>
          <a:p>
            <a:r>
              <a:rPr lang="en-US" sz="1800" dirty="0"/>
              <a:t>Dynamic: needs to be “refreshed” regularly (~ every 8 </a:t>
            </a:r>
            <a:r>
              <a:rPr lang="en-US" sz="1800" dirty="0" err="1"/>
              <a:t>ms</a:t>
            </a:r>
            <a:r>
              <a:rPr lang="en-US" sz="1800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16627004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build="p"/>
      <p:bldP spid="13" grpId="0" build="p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FA8987-012E-405D-D9E9-DC82F03A27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Tradeoffs across a variety of memory technologies</a:t>
            </a:r>
          </a:p>
        </p:txBody>
      </p: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BD1E773F-D66A-1A59-F8D0-D1621FAA2F4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470775" y="1524000"/>
            <a:ext cx="8202449" cy="4867767"/>
          </a:xfr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450753E-8106-76F5-C46F-AFB551345A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B13859-67C5-4393-B6C2-556CF3F770C0}" type="datetime3">
              <a:rPr lang="en-US" smtClean="0"/>
              <a:t>25 March 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BE12D2E-DA54-7266-A800-D1BDCC1507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C3541-01C1-4CA5-B68F-FEE868C7D1AF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5985385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8" name="Rectangle 2"/>
          <p:cNvSpPr>
            <a:spLocks noGrp="1" noChangeArrowheads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1976438" indent="-1976438"/>
            <a:r>
              <a:rPr lang="en-GB" sz="3600"/>
              <a:t>Best </a:t>
            </a:r>
            <a:r>
              <a:rPr lang="en-GB" sz="3600" dirty="0"/>
              <a:t>of Both Worlds</a:t>
            </a:r>
            <a:endParaRPr lang="en-GB" sz="3600" b="1" dirty="0"/>
          </a:p>
        </p:txBody>
      </p:sp>
      <p:sp>
        <p:nvSpPr>
          <p:cNvPr id="12" name="[Date Placeholder 3]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Aaron Tan, NUS</a:t>
            </a:r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>
            <a:noAutofit/>
          </a:bodyPr>
          <a:lstStyle/>
          <a:p>
            <a:pPr algn="r">
              <a:defRPr/>
            </a:pPr>
            <a:fld id="{F7EC234A-9094-4BB8-9EA4-75ECDA8A365B}" type="slidenum">
              <a:rPr smtClean="0"/>
              <a:pPr algn="r">
                <a:defRPr/>
              </a:pPr>
              <a:t>11</a:t>
            </a:fld>
            <a:endParaRPr dirty="0"/>
          </a:p>
        </p:txBody>
      </p:sp>
      <p:sp>
        <p:nvSpPr>
          <p:cNvPr id="36" name="Rectangle 3">
            <a:extLst>
              <a:ext uri="{FF2B5EF4-FFF2-40B4-BE49-F238E27FC236}">
                <a16:creationId xmlns:a16="http://schemas.microsoft.com/office/drawing/2014/main" id="{221C70A4-7BE1-4ED4-BE91-5116FAAC31EC}"/>
              </a:ext>
            </a:extLst>
          </p:cNvPr>
          <p:cNvSpPr txBox="1">
            <a:spLocks noChangeArrowheads="1"/>
          </p:cNvSpPr>
          <p:nvPr/>
        </p:nvSpPr>
        <p:spPr>
          <a:xfrm>
            <a:off x="457200" y="1573383"/>
            <a:ext cx="8153400" cy="215878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182880" indent="-18288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SzPct val="85000"/>
              <a:buFont typeface="Arial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-18288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SzPct val="85000"/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31520" indent="-18288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SzPct val="90000"/>
              <a:buFont typeface="Arial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5840" indent="-18288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Font typeface="Arial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188720" indent="-13716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SzPct val="100000"/>
              <a:buFont typeface="Arial" pitchFamily="34" charset="0"/>
              <a:buChar char="•"/>
              <a:defRPr sz="14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371600" indent="-18288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Font typeface="Arial" pitchFamily="34" charset="0"/>
              <a:buChar char="•"/>
              <a:defRPr sz="13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554480" indent="-18288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Font typeface="Arial" pitchFamily="34" charset="0"/>
              <a:buChar char="•"/>
              <a:defRPr sz="13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737360" indent="-18288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Font typeface="Arial" pitchFamily="34" charset="0"/>
              <a:buChar char="•"/>
              <a:defRPr sz="13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920240" indent="-18288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Font typeface="Arial" pitchFamily="34" charset="0"/>
              <a:buChar char="•"/>
              <a:defRPr sz="13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66700" indent="-266700" fontAlgn="auto">
              <a:spcAft>
                <a:spcPts val="0"/>
              </a:spcAft>
              <a:buSzPct val="100000"/>
              <a:buFont typeface="Wingdings" panose="05000000000000000000" pitchFamily="2" charset="2"/>
              <a:buChar char="§"/>
            </a:pPr>
            <a:r>
              <a:rPr lang="en-US" sz="2800" dirty="0"/>
              <a:t>What we want: </a:t>
            </a:r>
          </a:p>
          <a:p>
            <a:pPr marL="625475" lvl="1" indent="-266700" fontAlgn="auto">
              <a:spcAft>
                <a:spcPts val="0"/>
              </a:spcAft>
              <a:buSzPct val="100000"/>
              <a:buFont typeface="Wingdings" panose="05000000000000000000" pitchFamily="2" charset="2"/>
              <a:buChar char="§"/>
            </a:pPr>
            <a:r>
              <a:rPr lang="en-US" sz="2400" dirty="0"/>
              <a:t>A </a:t>
            </a:r>
            <a:r>
              <a:rPr lang="en-US" sz="2400" b="1" dirty="0">
                <a:solidFill>
                  <a:srgbClr val="006600"/>
                </a:solidFill>
              </a:rPr>
              <a:t>BIG</a:t>
            </a:r>
            <a:r>
              <a:rPr lang="en-US" sz="2400" dirty="0"/>
              <a:t> and </a:t>
            </a:r>
            <a:r>
              <a:rPr lang="en-US" sz="2400" b="1" dirty="0">
                <a:solidFill>
                  <a:srgbClr val="C00000"/>
                </a:solidFill>
              </a:rPr>
              <a:t>FAST</a:t>
            </a:r>
            <a:r>
              <a:rPr lang="en-US" sz="2400" dirty="0"/>
              <a:t> memory</a:t>
            </a:r>
          </a:p>
          <a:p>
            <a:pPr marL="625475" lvl="1" indent="-266700" fontAlgn="auto">
              <a:spcAft>
                <a:spcPts val="0"/>
              </a:spcAft>
              <a:buSzPct val="100000"/>
              <a:buFont typeface="Wingdings" panose="05000000000000000000" pitchFamily="2" charset="2"/>
              <a:buChar char="§"/>
            </a:pPr>
            <a:r>
              <a:rPr lang="en-US" sz="2400" dirty="0"/>
              <a:t>Memory system should perform like 1GB of SRAM (1ns access time) but cost like 1GB of slow memory</a:t>
            </a:r>
          </a:p>
          <a:p>
            <a:pPr fontAlgn="auto">
              <a:spcAft>
                <a:spcPts val="0"/>
              </a:spcAft>
              <a:buFont typeface="Arial" pitchFamily="34" charset="0"/>
              <a:buNone/>
            </a:pPr>
            <a:endParaRPr lang="en-US" dirty="0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3B8B4D90-9DCA-4650-8400-8A80F8871CEE}"/>
              </a:ext>
            </a:extLst>
          </p:cNvPr>
          <p:cNvSpPr/>
          <p:nvPr/>
        </p:nvSpPr>
        <p:spPr>
          <a:xfrm>
            <a:off x="495300" y="3657600"/>
            <a:ext cx="8077200" cy="2286000"/>
          </a:xfrm>
          <a:prstGeom prst="rect">
            <a:avLst/>
          </a:prstGeom>
          <a:solidFill>
            <a:srgbClr val="FFFFCC"/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eaLnBrk="1" hangingPunct="1"/>
            <a:endParaRPr lang="en-US" dirty="0">
              <a:solidFill>
                <a:schemeClr val="tx1"/>
              </a:solidFill>
            </a:endParaRPr>
          </a:p>
          <a:p>
            <a:pPr marL="342900" lvl="0" indent="-342900" algn="ctr" eaLnBrk="0" hangingPunct="0">
              <a:spcBef>
                <a:spcPts val="0"/>
              </a:spcBef>
              <a:buClr>
                <a:srgbClr val="D16349"/>
              </a:buClr>
              <a:buSzPct val="65000"/>
            </a:pPr>
            <a:r>
              <a:rPr lang="en-US" sz="3000" b="1" kern="0" dirty="0">
                <a:solidFill>
                  <a:srgbClr val="C00000"/>
                </a:solidFill>
              </a:rPr>
              <a:t>Key concept: </a:t>
            </a:r>
          </a:p>
          <a:p>
            <a:pPr marL="342900" lvl="0" indent="-342900" eaLnBrk="0" hangingPunct="0">
              <a:spcBef>
                <a:spcPct val="20000"/>
              </a:spcBef>
              <a:buClr>
                <a:srgbClr val="D16349"/>
              </a:buClr>
              <a:buSzPct val="65000"/>
            </a:pPr>
            <a:r>
              <a:rPr lang="en-US" sz="2800" kern="0" dirty="0">
                <a:solidFill>
                  <a:prstClr val="black"/>
                </a:solidFill>
              </a:rPr>
              <a:t>Use a </a:t>
            </a:r>
            <a:r>
              <a:rPr lang="en-US" sz="2800" kern="0" dirty="0">
                <a:solidFill>
                  <a:srgbClr val="0000FF"/>
                </a:solidFill>
              </a:rPr>
              <a:t>hierarchy</a:t>
            </a:r>
            <a:r>
              <a:rPr lang="en-US" sz="2800" kern="0" dirty="0">
                <a:solidFill>
                  <a:prstClr val="black"/>
                </a:solidFill>
              </a:rPr>
              <a:t> of memory technologies:</a:t>
            </a:r>
          </a:p>
          <a:p>
            <a:pPr marL="669925" lvl="1" indent="-325438" eaLnBrk="0" hangingPunct="0">
              <a:spcBef>
                <a:spcPct val="20000"/>
              </a:spcBef>
              <a:buClr>
                <a:srgbClr val="C00000"/>
              </a:buClr>
              <a:buSzPct val="60000"/>
              <a:buFont typeface="Wingdings" pitchFamily="2" charset="2"/>
              <a:buChar char="v"/>
            </a:pPr>
            <a:r>
              <a:rPr lang="en-US" sz="2600" kern="0" dirty="0">
                <a:solidFill>
                  <a:prstClr val="black"/>
                </a:solidFill>
              </a:rPr>
              <a:t>Small but fast memory near CPU</a:t>
            </a:r>
          </a:p>
          <a:p>
            <a:pPr marL="669925" lvl="1" indent="-325438" eaLnBrk="0" hangingPunct="0">
              <a:spcBef>
                <a:spcPct val="20000"/>
              </a:spcBef>
              <a:buClr>
                <a:srgbClr val="C00000"/>
              </a:buClr>
              <a:buSzPct val="60000"/>
              <a:buFont typeface="Wingdings" pitchFamily="2" charset="2"/>
              <a:buChar char="v"/>
            </a:pPr>
            <a:r>
              <a:rPr lang="en-US" sz="2600" kern="0" dirty="0">
                <a:solidFill>
                  <a:prstClr val="black"/>
                </a:solidFill>
              </a:rPr>
              <a:t>Large but slow memory farther away from CPU</a:t>
            </a:r>
            <a:endParaRPr lang="en-US" kern="0" dirty="0">
              <a:solidFill>
                <a:prstClr val="black"/>
              </a:solidFill>
            </a:endParaRPr>
          </a:p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9518398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7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C2CED6-BFB8-E3D7-3F3B-4B4D6640F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Writing reports before the age of internet – an analogy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B6CDD32-02E4-16FA-CBDB-46E246CEB09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2400" y="1371600"/>
            <a:ext cx="8839200" cy="5030790"/>
          </a:xfrm>
        </p:spPr>
        <p:txBody>
          <a:bodyPr>
            <a:noAutofit/>
          </a:bodyPr>
          <a:lstStyle/>
          <a:p>
            <a:r>
              <a:rPr lang="en-US" sz="2250" dirty="0"/>
              <a:t>You have to write a report on the ‘History of computers’, by referring books in the library</a:t>
            </a:r>
          </a:p>
          <a:p>
            <a:r>
              <a:rPr lang="en-US" sz="2250" dirty="0"/>
              <a:t>You pick 2-3 relevant books and sit at a desk to read</a:t>
            </a:r>
          </a:p>
          <a:p>
            <a:r>
              <a:rPr lang="en-US" sz="2250" dirty="0"/>
              <a:t>You realize you need to refer to a few more books; what do you do?</a:t>
            </a:r>
          </a:p>
          <a:p>
            <a:r>
              <a:rPr lang="en-US" sz="2250" dirty="0"/>
              <a:t>Keep the current books on the desk and bring the new ones you need</a:t>
            </a:r>
          </a:p>
          <a:p>
            <a:endParaRPr lang="en-US" sz="2250" dirty="0"/>
          </a:p>
          <a:p>
            <a:r>
              <a:rPr lang="en-US" sz="2250" dirty="0"/>
              <a:t>All the books that you may need are on the desk, easily accessible</a:t>
            </a:r>
          </a:p>
          <a:p>
            <a:r>
              <a:rPr lang="en-US" sz="2250" dirty="0"/>
              <a:t>Only a small fraction of the total number of books in the library</a:t>
            </a:r>
          </a:p>
          <a:p>
            <a:endParaRPr lang="en-US" sz="2250" dirty="0"/>
          </a:p>
          <a:p>
            <a:r>
              <a:rPr lang="en-US" sz="2250" dirty="0"/>
              <a:t>You are done and want to write the next report on semiconductor technology – what do you do?</a:t>
            </a:r>
          </a:p>
          <a:p>
            <a:r>
              <a:rPr lang="en-US" sz="2250" dirty="0"/>
              <a:t>Return all ‘history of computer’ books to the shelves and bring ‘semiconductor’ books to your desk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DF1E508-0159-D848-26F0-01927C0B1C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B13859-67C5-4393-B6C2-556CF3F770C0}" type="datetime3">
              <a:rPr lang="en-US" smtClean="0"/>
              <a:t>25 March 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1D91DF8-2111-4CD2-5330-498AACB97C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C3541-01C1-4CA5-B68F-FEE868C7D1AF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541660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6C4B58-2DBF-B966-A4D9-378C6A05B3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stack of books on your desk is called a </a:t>
            </a:r>
            <a:r>
              <a:rPr lang="en-US" b="1" i="1" dirty="0"/>
              <a:t>cache</a:t>
            </a:r>
            <a:endParaRPr lang="en-US" i="1" dirty="0"/>
          </a:p>
        </p:txBody>
      </p: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C674F607-615E-868A-210E-738824209F1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28600" y="1666011"/>
            <a:ext cx="8077721" cy="4174393"/>
          </a:xfr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0562A7C-1748-8016-87E5-E2E6EE762F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B13859-67C5-4393-B6C2-556CF3F770C0}" type="datetime3">
              <a:rPr lang="en-US" smtClean="0"/>
              <a:t>25 March 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4335E57-BDAE-0526-017D-BA78027817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C3541-01C1-4CA5-B68F-FEE868C7D1AF}" type="slidenum">
              <a:rPr lang="en-US" smtClean="0"/>
              <a:t>13</a:t>
            </a:fld>
            <a:endParaRPr lang="en-US"/>
          </a:p>
        </p:txBody>
      </p:sp>
      <p:pic>
        <p:nvPicPr>
          <p:cNvPr id="3" name="Picture 2" descr="C:\Documents and Settings\dcssooyj\Local Settings\Temporary Internet Files\Content.IE5\WYO2ZBA1\MC900078735[1].wmf">
            <a:extLst>
              <a:ext uri="{FF2B5EF4-FFF2-40B4-BE49-F238E27FC236}">
                <a16:creationId xmlns:a16="http://schemas.microsoft.com/office/drawing/2014/main" id="{053938EA-108F-02FA-9C2B-D574DF3C6CB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1676400" y="4154664"/>
            <a:ext cx="2514600" cy="2703336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287631103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7">
            <a:extLst>
              <a:ext uri="{FF2B5EF4-FFF2-40B4-BE49-F238E27FC236}">
                <a16:creationId xmlns:a16="http://schemas.microsoft.com/office/drawing/2014/main" id="{AD3D07B1-3749-7DC0-7968-2D66847B3309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 cstate="print"/>
          <a:srcRect l="1886"/>
          <a:stretch>
            <a:fillRect/>
          </a:stretch>
        </p:blipFill>
        <p:spPr bwMode="auto">
          <a:xfrm>
            <a:off x="4876801" y="349435"/>
            <a:ext cx="3962400" cy="338263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E32780C9-348A-C0A7-9C4B-B7244F3F4B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principle of locality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97348B6-3B26-1146-5563-36C99FC6AD3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4575" y="1433229"/>
            <a:ext cx="5087025" cy="1131050"/>
          </a:xfrm>
        </p:spPr>
        <p:txBody>
          <a:bodyPr/>
          <a:lstStyle/>
          <a:p>
            <a:pPr marL="0" indent="0">
              <a:buNone/>
            </a:pPr>
            <a:r>
              <a:rPr lang="en-US" sz="2400" dirty="0"/>
              <a:t>Programs access only a small portion of memory address space at a given time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2C66A01-58C9-5841-92AB-2C2BF80D85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B13859-67C5-4393-B6C2-556CF3F770C0}" type="datetime3">
              <a:rPr lang="en-US" smtClean="0"/>
              <a:t>25 March 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49EEA55-DEE2-1C93-F739-3DAB0456C7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C3541-01C1-4CA5-B68F-FEE868C7D1AF}" type="slidenum">
              <a:rPr lang="en-US" smtClean="0"/>
              <a:t>14</a:t>
            </a:fld>
            <a:endParaRPr lang="en-US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4A24B0FA-0732-BB47-5B5E-2ABADE931A47}"/>
              </a:ext>
            </a:extLst>
          </p:cNvPr>
          <p:cNvSpPr txBox="1">
            <a:spLocks/>
          </p:cNvSpPr>
          <p:nvPr/>
        </p:nvSpPr>
        <p:spPr>
          <a:xfrm>
            <a:off x="145732" y="2570178"/>
            <a:ext cx="2597468" cy="929123"/>
          </a:xfrm>
          <a:prstGeom prst="rect">
            <a:avLst/>
          </a:prstGeom>
        </p:spPr>
        <p:txBody>
          <a:bodyPr vert="horz" lIns="68580" tIns="34290" rIns="68580" bIns="3429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600" dirty="0">
                <a:solidFill>
                  <a:schemeClr val="accent4"/>
                </a:solidFill>
              </a:rPr>
              <a:t>Instructions</a:t>
            </a:r>
          </a:p>
          <a:p>
            <a:pPr>
              <a:lnSpc>
                <a:spcPct val="110000"/>
              </a:lnSpc>
            </a:pPr>
            <a:r>
              <a:rPr lang="en-US" sz="1600" dirty="0"/>
              <a:t>Sequential execution</a:t>
            </a:r>
          </a:p>
          <a:p>
            <a:r>
              <a:rPr lang="en-US" sz="1600" dirty="0"/>
              <a:t>Loops</a:t>
            </a:r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0E0E5B73-7A1E-9252-6C3A-9109EB33EAC0}"/>
              </a:ext>
            </a:extLst>
          </p:cNvPr>
          <p:cNvSpPr txBox="1">
            <a:spLocks/>
          </p:cNvSpPr>
          <p:nvPr/>
        </p:nvSpPr>
        <p:spPr>
          <a:xfrm>
            <a:off x="2419536" y="2540875"/>
            <a:ext cx="2304864" cy="929123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en-US" sz="1600" dirty="0">
                <a:solidFill>
                  <a:schemeClr val="accent4"/>
                </a:solidFill>
              </a:rPr>
              <a:t>Data</a:t>
            </a:r>
          </a:p>
          <a:p>
            <a:pPr>
              <a:lnSpc>
                <a:spcPct val="100000"/>
              </a:lnSpc>
            </a:pPr>
            <a:r>
              <a:rPr lang="en-US" sz="1600" dirty="0"/>
              <a:t>Arrays</a:t>
            </a:r>
          </a:p>
          <a:p>
            <a:pPr>
              <a:lnSpc>
                <a:spcPct val="100000"/>
              </a:lnSpc>
            </a:pPr>
            <a:r>
              <a:rPr lang="en-US" sz="1600" dirty="0"/>
              <a:t>Structs</a:t>
            </a:r>
          </a:p>
        </p:txBody>
      </p:sp>
      <p:sp>
        <p:nvSpPr>
          <p:cNvPr id="12" name="Content Placeholder 8">
            <a:extLst>
              <a:ext uri="{FF2B5EF4-FFF2-40B4-BE49-F238E27FC236}">
                <a16:creationId xmlns:a16="http://schemas.microsoft.com/office/drawing/2014/main" id="{C4441E5A-F62E-D3A1-7936-7930C5CDBB14}"/>
              </a:ext>
            </a:extLst>
          </p:cNvPr>
          <p:cNvSpPr txBox="1">
            <a:spLocks/>
          </p:cNvSpPr>
          <p:nvPr/>
        </p:nvSpPr>
        <p:spPr>
          <a:xfrm>
            <a:off x="3638736" y="2546130"/>
            <a:ext cx="2304864" cy="929123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endParaRPr lang="en-US" sz="1600" dirty="0"/>
          </a:p>
          <a:p>
            <a:pPr>
              <a:lnSpc>
                <a:spcPct val="100000"/>
              </a:lnSpc>
            </a:pPr>
            <a:r>
              <a:rPr lang="en-US" sz="1600" dirty="0"/>
              <a:t>Stack</a:t>
            </a:r>
          </a:p>
          <a:p>
            <a:pPr>
              <a:lnSpc>
                <a:spcPct val="100000"/>
              </a:lnSpc>
            </a:pPr>
            <a:r>
              <a:rPr lang="en-US" sz="1600" dirty="0"/>
              <a:t>Heap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2028C7D-F19E-8031-C1F9-7B9C0121A02F}"/>
              </a:ext>
            </a:extLst>
          </p:cNvPr>
          <p:cNvSpPr txBox="1"/>
          <p:nvPr/>
        </p:nvSpPr>
        <p:spPr>
          <a:xfrm>
            <a:off x="94575" y="3812738"/>
            <a:ext cx="3977363" cy="129266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chemeClr val="accent4"/>
                </a:solidFill>
              </a:rPr>
              <a:t>Temporal Locality (locality in time)</a:t>
            </a:r>
          </a:p>
          <a:p>
            <a:pPr marL="214313" indent="-214313">
              <a:buFont typeface="Arial" panose="020B0604020202020204" pitchFamily="34" charset="0"/>
              <a:buChar char="•"/>
            </a:pPr>
            <a:r>
              <a:rPr lang="en-US" sz="1500" dirty="0">
                <a:solidFill>
                  <a:schemeClr val="accent4">
                    <a:lumMod val="50000"/>
                  </a:schemeClr>
                </a:solidFill>
              </a:rPr>
              <a:t>Go back to the same book on desk multiple times</a:t>
            </a:r>
          </a:p>
          <a:p>
            <a:pPr marL="214313" indent="-214313">
              <a:buFont typeface="Arial" panose="020B0604020202020204" pitchFamily="34" charset="0"/>
              <a:buChar char="•"/>
            </a:pPr>
            <a:r>
              <a:rPr lang="en-US" sz="1500" dirty="0"/>
              <a:t>If a memory location is referenced, then it will tend to be referenced again soon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5E3DB3BA-EA47-68B9-0110-79541BD82E20}"/>
              </a:ext>
            </a:extLst>
          </p:cNvPr>
          <p:cNvSpPr txBox="1"/>
          <p:nvPr/>
        </p:nvSpPr>
        <p:spPr>
          <a:xfrm>
            <a:off x="4267200" y="3808274"/>
            <a:ext cx="4235676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chemeClr val="accent4"/>
                </a:solidFill>
              </a:rPr>
              <a:t>Spatial Locality (locality in space)</a:t>
            </a:r>
          </a:p>
          <a:p>
            <a:pPr marL="214313" indent="-214313">
              <a:buFont typeface="Arial" panose="020B0604020202020204" pitchFamily="34" charset="0"/>
              <a:buChar char="•"/>
            </a:pPr>
            <a:r>
              <a:rPr lang="en-US" sz="1500" dirty="0">
                <a:solidFill>
                  <a:schemeClr val="accent4">
                    <a:lumMod val="50000"/>
                  </a:schemeClr>
                </a:solidFill>
              </a:rPr>
              <a:t>When go to shelves, grab many books on computers since related books are stored together</a:t>
            </a:r>
          </a:p>
          <a:p>
            <a:pPr marL="214313" indent="-214313">
              <a:buFont typeface="Arial" panose="020B0604020202020204" pitchFamily="34" charset="0"/>
              <a:buChar char="•"/>
            </a:pPr>
            <a:r>
              <a:rPr lang="en-US" sz="1500" dirty="0"/>
              <a:t>If a memory location is referenced, the locations with nearby addresses will tend to be referenced soon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91AF1BDD-9DA6-4C3F-C083-C1539517384F}"/>
              </a:ext>
            </a:extLst>
          </p:cNvPr>
          <p:cNvSpPr txBox="1"/>
          <p:nvPr/>
        </p:nvSpPr>
        <p:spPr>
          <a:xfrm>
            <a:off x="94575" y="5638800"/>
            <a:ext cx="8863688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Caches: Use the principle of locality to create the </a:t>
            </a:r>
            <a:r>
              <a:rPr lang="en-US" dirty="0">
                <a:solidFill>
                  <a:srgbClr val="FFC000"/>
                </a:solidFill>
              </a:rPr>
              <a:t>illusion of memory being almost as fast as fastest</a:t>
            </a:r>
            <a:r>
              <a:rPr lang="en-US" dirty="0"/>
              <a:t> memory and almost </a:t>
            </a:r>
            <a:r>
              <a:rPr lang="en-US" dirty="0">
                <a:solidFill>
                  <a:srgbClr val="FFC000"/>
                </a:solidFill>
              </a:rPr>
              <a:t>as large as biggest</a:t>
            </a:r>
            <a:r>
              <a:rPr lang="en-US" dirty="0"/>
              <a:t> memory of the hierarchy</a:t>
            </a:r>
          </a:p>
        </p:txBody>
      </p:sp>
      <p:pic>
        <p:nvPicPr>
          <p:cNvPr id="7" name="Picture 7">
            <a:extLst>
              <a:ext uri="{FF2B5EF4-FFF2-40B4-BE49-F238E27FC236}">
                <a16:creationId xmlns:a16="http://schemas.microsoft.com/office/drawing/2014/main" id="{729B0D8B-BABD-8ACC-F93F-3F7B808EF144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 cstate="print"/>
          <a:srcRect l="16981"/>
          <a:stretch>
            <a:fillRect/>
          </a:stretch>
        </p:blipFill>
        <p:spPr bwMode="auto">
          <a:xfrm>
            <a:off x="5486399" y="349435"/>
            <a:ext cx="3352801" cy="338263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26838898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indefinite"/>
                      </p:stCondLst>
                      <p:childTnLst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7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8" grpId="0" build="p"/>
      <p:bldP spid="9" grpId="0" build="p"/>
      <p:bldP spid="12" grpId="0" build="p"/>
      <p:bldP spid="14" grpId="0" build="p"/>
      <p:bldP spid="16" grpId="0" build="p"/>
      <p:bldP spid="18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8" name="Rectangle 2"/>
          <p:cNvSpPr>
            <a:spLocks noGrp="1" noChangeArrowheads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1976438" indent="-1976438"/>
            <a:r>
              <a:rPr lang="en-GB" sz="3600" dirty="0"/>
              <a:t>Working Set: Definition</a:t>
            </a:r>
            <a:endParaRPr lang="en-GB" sz="3600" b="1" dirty="0"/>
          </a:p>
        </p:txBody>
      </p:sp>
      <p:pic>
        <p:nvPicPr>
          <p:cNvPr id="9" name="Picture 5">
            <a:extLst>
              <a:ext uri="{FF2B5EF4-FFF2-40B4-BE49-F238E27FC236}">
                <a16:creationId xmlns:a16="http://schemas.microsoft.com/office/drawing/2014/main" id="{6E32B6CE-BC8A-4957-B82A-E93EAC93B660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3" cstate="print"/>
          <a:stretch>
            <a:fillRect/>
          </a:stretch>
        </p:blipFill>
        <p:spPr>
          <a:xfrm>
            <a:off x="4114800" y="1752600"/>
            <a:ext cx="4724400" cy="4153149"/>
          </a:xfrm>
          <a:noFill/>
        </p:spPr>
      </p:pic>
      <p:sp>
        <p:nvSpPr>
          <p:cNvPr id="12" name="[Date Placeholder 3]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Aaron Tan, NUS</a:t>
            </a:r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>
            <a:noAutofit/>
          </a:bodyPr>
          <a:lstStyle/>
          <a:p>
            <a:pPr algn="r">
              <a:defRPr/>
            </a:pPr>
            <a:fld id="{F7EC234A-9094-4BB8-9EA4-75ECDA8A365B}" type="slidenum">
              <a:rPr smtClean="0"/>
              <a:pPr algn="r">
                <a:defRPr/>
              </a:pPr>
              <a:t>15</a:t>
            </a:fld>
            <a:endParaRPr dirty="0"/>
          </a:p>
        </p:txBody>
      </p:sp>
      <p:sp>
        <p:nvSpPr>
          <p:cNvPr id="13" name="Rectangle 6">
            <a:extLst>
              <a:ext uri="{FF2B5EF4-FFF2-40B4-BE49-F238E27FC236}">
                <a16:creationId xmlns:a16="http://schemas.microsoft.com/office/drawing/2014/main" id="{26F5DD40-C694-4147-AAF3-5047CA3DF168}"/>
              </a:ext>
            </a:extLst>
          </p:cNvPr>
          <p:cNvSpPr txBox="1">
            <a:spLocks noChangeArrowheads="1"/>
          </p:cNvSpPr>
          <p:nvPr/>
        </p:nvSpPr>
        <p:spPr>
          <a:xfrm>
            <a:off x="239486" y="1711723"/>
            <a:ext cx="4038600" cy="2700969"/>
          </a:xfrm>
          <a:prstGeom prst="rect">
            <a:avLst/>
          </a:prstGeom>
        </p:spPr>
        <p:txBody>
          <a:bodyPr/>
          <a:lstStyle>
            <a:lvl1pPr marL="182880" indent="-18288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SzPct val="85000"/>
              <a:buFont typeface="Arial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-18288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SzPct val="85000"/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31520" indent="-18288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SzPct val="90000"/>
              <a:buFont typeface="Arial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5840" indent="-18288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Font typeface="Arial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188720" indent="-13716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SzPct val="100000"/>
              <a:buFont typeface="Arial" pitchFamily="34" charset="0"/>
              <a:buChar char="•"/>
              <a:defRPr sz="14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371600" indent="-18288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Font typeface="Arial" pitchFamily="34" charset="0"/>
              <a:buChar char="•"/>
              <a:defRPr sz="13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554480" indent="-18288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Font typeface="Arial" pitchFamily="34" charset="0"/>
              <a:buChar char="•"/>
              <a:defRPr sz="13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737360" indent="-18288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Font typeface="Arial" pitchFamily="34" charset="0"/>
              <a:buChar char="•"/>
              <a:defRPr sz="13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920240" indent="-18288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Font typeface="Arial" pitchFamily="34" charset="0"/>
              <a:buChar char="•"/>
              <a:defRPr sz="13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66700" indent="-266700" fontAlgn="auto">
              <a:spcBef>
                <a:spcPts val="1800"/>
              </a:spcBef>
              <a:spcAft>
                <a:spcPts val="0"/>
              </a:spcAft>
              <a:buSzPct val="100000"/>
              <a:buFont typeface="Wingdings" panose="05000000000000000000" pitchFamily="2" charset="2"/>
              <a:buChar char="§"/>
            </a:pPr>
            <a:r>
              <a:rPr lang="en-US" b="1" dirty="0"/>
              <a:t>Set of locations accessed during </a:t>
            </a:r>
            <a:r>
              <a:rPr lang="en-US" b="1" dirty="0">
                <a:sym typeface="Symbol" pitchFamily="18" charset="2"/>
              </a:rPr>
              <a:t>t</a:t>
            </a:r>
          </a:p>
          <a:p>
            <a:pPr marL="266700" indent="-266700" fontAlgn="auto">
              <a:spcBef>
                <a:spcPts val="1800"/>
              </a:spcBef>
              <a:spcAft>
                <a:spcPts val="0"/>
              </a:spcAft>
              <a:buSzPct val="100000"/>
              <a:buFont typeface="Wingdings" panose="05000000000000000000" pitchFamily="2" charset="2"/>
              <a:buChar char="§"/>
            </a:pPr>
            <a:r>
              <a:rPr lang="en-US" dirty="0">
                <a:sym typeface="Symbol" pitchFamily="18" charset="2"/>
              </a:rPr>
              <a:t>Different phases of execution may use different working sets</a:t>
            </a:r>
          </a:p>
          <a:p>
            <a:pPr fontAlgn="auto">
              <a:spcAft>
                <a:spcPts val="0"/>
              </a:spcAft>
              <a:buFont typeface="Arial" pitchFamily="34" charset="0"/>
              <a:buNone/>
            </a:pPr>
            <a:endParaRPr lang="en-US" dirty="0">
              <a:sym typeface="Symbol" pitchFamily="18" charset="2"/>
            </a:endParaRPr>
          </a:p>
        </p:txBody>
      </p:sp>
      <p:sp>
        <p:nvSpPr>
          <p:cNvPr id="14" name="AutoShape 4">
            <a:extLst>
              <a:ext uri="{FF2B5EF4-FFF2-40B4-BE49-F238E27FC236}">
                <a16:creationId xmlns:a16="http://schemas.microsoft.com/office/drawing/2014/main" id="{9245003C-6B59-4D46-9357-FA5A9C3F26D4}"/>
              </a:ext>
            </a:extLst>
          </p:cNvPr>
          <p:cNvSpPr>
            <a:spLocks noChangeArrowheads="1"/>
          </p:cNvSpPr>
          <p:nvPr/>
        </p:nvSpPr>
        <p:spPr bwMode="auto">
          <a:xfrm>
            <a:off x="244929" y="3962400"/>
            <a:ext cx="3733800" cy="1736646"/>
          </a:xfrm>
          <a:prstGeom prst="roundRect">
            <a:avLst>
              <a:gd name="adj" fmla="val 16667"/>
            </a:avLst>
          </a:prstGeom>
          <a:solidFill>
            <a:srgbClr val="FFFFCC"/>
          </a:solidFill>
          <a:ln w="19050" algn="ctr">
            <a:solidFill>
              <a:srgbClr val="C00000"/>
            </a:solidFill>
            <a:round/>
            <a:headEnd/>
            <a:tailEnd/>
          </a:ln>
          <a:effectLst/>
        </p:spPr>
        <p:txBody>
          <a:bodyPr wrap="square" anchor="ctr">
            <a:spAutoFit/>
          </a:bodyPr>
          <a:lstStyle/>
          <a:p>
            <a:pPr algn="ctr"/>
            <a:r>
              <a:rPr lang="en-US" sz="2400" dirty="0">
                <a:sym typeface="Symbol" pitchFamily="18" charset="2"/>
              </a:rPr>
              <a:t>Our aim is to </a:t>
            </a:r>
            <a:r>
              <a:rPr lang="en-US" sz="2400" b="1" dirty="0">
                <a:sym typeface="Symbol" pitchFamily="18" charset="2"/>
              </a:rPr>
              <a:t>capture the working set and keep it in the memory closest to CPU</a:t>
            </a:r>
          </a:p>
        </p:txBody>
      </p:sp>
    </p:spTree>
    <p:extLst>
      <p:ext uri="{BB962C8B-B14F-4D97-AF65-F5344CB8AC3E}">
        <p14:creationId xmlns:p14="http://schemas.microsoft.com/office/powerpoint/2010/main" val="173841710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8" name="Rectangle 2"/>
          <p:cNvSpPr>
            <a:spLocks noGrp="1" noChangeArrowheads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1976438" indent="-1976438"/>
            <a:r>
              <a:rPr lang="en-GB" sz="3600" dirty="0"/>
              <a:t>Two Aspects of Memory Access</a:t>
            </a:r>
            <a:endParaRPr lang="en-GB" sz="3600" b="1" dirty="0"/>
          </a:p>
        </p:txBody>
      </p:sp>
      <p:sp>
        <p:nvSpPr>
          <p:cNvPr id="12" name="[Date Placeholder 3]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Aaron Tan, NUS</a:t>
            </a:r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>
            <a:noAutofit/>
          </a:bodyPr>
          <a:lstStyle/>
          <a:p>
            <a:pPr algn="r">
              <a:defRPr/>
            </a:pPr>
            <a:fld id="{F7EC234A-9094-4BB8-9EA4-75ECDA8A365B}" type="slidenum">
              <a:rPr smtClean="0"/>
              <a:pPr algn="r">
                <a:defRPr/>
              </a:pPr>
              <a:t>16</a:t>
            </a:fld>
            <a:endParaRPr dirty="0"/>
          </a:p>
        </p:txBody>
      </p:sp>
      <p:sp>
        <p:nvSpPr>
          <p:cNvPr id="10" name="Rectangle 3">
            <a:extLst>
              <a:ext uri="{FF2B5EF4-FFF2-40B4-BE49-F238E27FC236}">
                <a16:creationId xmlns:a16="http://schemas.microsoft.com/office/drawing/2014/main" id="{AD9896A1-4426-42B4-8585-8027D23339DA}"/>
              </a:ext>
            </a:extLst>
          </p:cNvPr>
          <p:cNvSpPr txBox="1">
            <a:spLocks noChangeArrowheads="1"/>
          </p:cNvSpPr>
          <p:nvPr/>
        </p:nvSpPr>
        <p:spPr>
          <a:xfrm>
            <a:off x="457200" y="3336856"/>
            <a:ext cx="8229600" cy="324441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182880" indent="-18288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SzPct val="85000"/>
              <a:buFont typeface="Arial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-18288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SzPct val="85000"/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31520" indent="-18288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SzPct val="90000"/>
              <a:buFont typeface="Arial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5840" indent="-18288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Font typeface="Arial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188720" indent="-13716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SzPct val="100000"/>
              <a:buFont typeface="Arial" pitchFamily="34" charset="0"/>
              <a:buChar char="•"/>
              <a:defRPr sz="14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371600" indent="-18288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Font typeface="Arial" pitchFamily="34" charset="0"/>
              <a:buChar char="•"/>
              <a:defRPr sz="13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554480" indent="-18288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Font typeface="Arial" pitchFamily="34" charset="0"/>
              <a:buChar char="•"/>
              <a:defRPr sz="13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737360" indent="-18288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Font typeface="Arial" pitchFamily="34" charset="0"/>
              <a:buChar char="•"/>
              <a:defRPr sz="13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920240" indent="-18288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Font typeface="Arial" pitchFamily="34" charset="0"/>
              <a:buChar char="•"/>
              <a:defRPr sz="13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65113" indent="-265113" fontAlgn="auto">
              <a:spcBef>
                <a:spcPts val="600"/>
              </a:spcBef>
              <a:spcAft>
                <a:spcPts val="0"/>
              </a:spcAft>
              <a:buClr>
                <a:srgbClr val="663300"/>
              </a:buClr>
              <a:buSzPct val="100000"/>
              <a:buFont typeface="Wingdings" panose="05000000000000000000" pitchFamily="2" charset="2"/>
              <a:buChar char="§"/>
            </a:pPr>
            <a:r>
              <a:rPr lang="en-US" dirty="0">
                <a:solidFill>
                  <a:srgbClr val="000000"/>
                </a:solidFill>
                <a:latin typeface="Verdana"/>
              </a:rPr>
              <a:t>How to make SLOW main memory appear faster? </a:t>
            </a:r>
          </a:p>
          <a:p>
            <a:pPr marL="625475" lvl="1" indent="-265113" fontAlgn="auto">
              <a:spcBef>
                <a:spcPts val="600"/>
              </a:spcBef>
              <a:spcAft>
                <a:spcPts val="0"/>
              </a:spcAft>
              <a:buClr>
                <a:srgbClr val="CC3300"/>
              </a:buClr>
              <a:buSzPct val="100000"/>
              <a:buFont typeface="Wingdings" panose="05000000000000000000" pitchFamily="2" charset="2"/>
              <a:buChar char="§"/>
            </a:pPr>
            <a:r>
              <a:rPr lang="en-US" b="1" dirty="0">
                <a:solidFill>
                  <a:srgbClr val="C00000"/>
                </a:solidFill>
                <a:latin typeface="Verdana"/>
              </a:rPr>
              <a:t>Cache </a:t>
            </a:r>
            <a:r>
              <a:rPr lang="en-US" dirty="0">
                <a:solidFill>
                  <a:srgbClr val="000000"/>
                </a:solidFill>
                <a:latin typeface="Verdana"/>
              </a:rPr>
              <a:t>– a small but fast SRAM near CPU</a:t>
            </a:r>
          </a:p>
          <a:p>
            <a:pPr marL="625475" lvl="1" indent="-265113" fontAlgn="auto">
              <a:spcBef>
                <a:spcPts val="600"/>
              </a:spcBef>
              <a:spcAft>
                <a:spcPts val="0"/>
              </a:spcAft>
              <a:buClr>
                <a:srgbClr val="CC3300"/>
              </a:buClr>
              <a:buSzPct val="100000"/>
              <a:buFont typeface="Wingdings" panose="05000000000000000000" pitchFamily="2" charset="2"/>
              <a:buChar char="§"/>
            </a:pPr>
            <a:r>
              <a:rPr lang="en-US" b="1" dirty="0">
                <a:solidFill>
                  <a:srgbClr val="C00000"/>
                </a:solidFill>
                <a:latin typeface="Verdana"/>
              </a:rPr>
              <a:t>Hardware managed: </a:t>
            </a:r>
            <a:r>
              <a:rPr lang="en-US" dirty="0">
                <a:solidFill>
                  <a:srgbClr val="000000"/>
                </a:solidFill>
                <a:latin typeface="Verdana"/>
              </a:rPr>
              <a:t>Transparent to programmer</a:t>
            </a:r>
          </a:p>
          <a:p>
            <a:pPr marL="265113" indent="-265113" fontAlgn="auto">
              <a:spcBef>
                <a:spcPts val="1200"/>
              </a:spcBef>
              <a:spcAft>
                <a:spcPts val="0"/>
              </a:spcAft>
              <a:buClr>
                <a:srgbClr val="663300"/>
              </a:buClr>
              <a:buSzPct val="100000"/>
              <a:buFont typeface="Wingdings" panose="05000000000000000000" pitchFamily="2" charset="2"/>
              <a:buChar char="§"/>
            </a:pPr>
            <a:r>
              <a:rPr lang="en-US" dirty="0">
                <a:solidFill>
                  <a:srgbClr val="000000"/>
                </a:solidFill>
                <a:latin typeface="Verdana"/>
              </a:rPr>
              <a:t>How to make SMALL main memory appear bigger than it is? </a:t>
            </a:r>
          </a:p>
          <a:p>
            <a:pPr marL="625475" lvl="1" indent="-265113" fontAlgn="auto">
              <a:spcBef>
                <a:spcPts val="600"/>
              </a:spcBef>
              <a:spcAft>
                <a:spcPts val="0"/>
              </a:spcAft>
              <a:buClr>
                <a:srgbClr val="CC3300"/>
              </a:buClr>
              <a:buSzPct val="100000"/>
              <a:buFont typeface="Wingdings" panose="05000000000000000000" pitchFamily="2" charset="2"/>
              <a:buChar char="§"/>
            </a:pPr>
            <a:r>
              <a:rPr lang="en-US" b="1" dirty="0">
                <a:solidFill>
                  <a:srgbClr val="660066"/>
                </a:solidFill>
                <a:latin typeface="Verdana"/>
              </a:rPr>
              <a:t>Virtual memory </a:t>
            </a:r>
          </a:p>
          <a:p>
            <a:pPr marL="625475" lvl="1" indent="-265113" fontAlgn="auto">
              <a:spcBef>
                <a:spcPts val="600"/>
              </a:spcBef>
              <a:spcAft>
                <a:spcPts val="0"/>
              </a:spcAft>
              <a:buClr>
                <a:srgbClr val="CC3300"/>
              </a:buClr>
              <a:buSzPct val="100000"/>
              <a:buFont typeface="Wingdings" panose="05000000000000000000" pitchFamily="2" charset="2"/>
              <a:buChar char="§"/>
            </a:pPr>
            <a:r>
              <a:rPr lang="en-US" b="1" dirty="0">
                <a:solidFill>
                  <a:srgbClr val="660066"/>
                </a:solidFill>
                <a:latin typeface="Verdana"/>
              </a:rPr>
              <a:t>OS managed: </a:t>
            </a:r>
            <a:r>
              <a:rPr lang="en-US" dirty="0">
                <a:solidFill>
                  <a:srgbClr val="000000"/>
                </a:solidFill>
                <a:latin typeface="Verdana"/>
              </a:rPr>
              <a:t>Transparent to programmer</a:t>
            </a: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7CA3E96D-CE6B-4141-AB32-77EBB8E07DE2}"/>
              </a:ext>
            </a:extLst>
          </p:cNvPr>
          <p:cNvGrpSpPr/>
          <p:nvPr/>
        </p:nvGrpSpPr>
        <p:grpSpPr>
          <a:xfrm>
            <a:off x="1371600" y="1447800"/>
            <a:ext cx="6400800" cy="1601822"/>
            <a:chOff x="1219200" y="1905001"/>
            <a:chExt cx="6400800" cy="1601822"/>
          </a:xfrm>
        </p:grpSpPr>
        <p:sp>
          <p:nvSpPr>
            <p:cNvPr id="15" name="Rectangle 96">
              <a:extLst>
                <a:ext uri="{FF2B5EF4-FFF2-40B4-BE49-F238E27FC236}">
                  <a16:creationId xmlns:a16="http://schemas.microsoft.com/office/drawing/2014/main" id="{BE2BB3A5-8D90-4F8C-A530-405017F58C9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629150" y="1963367"/>
              <a:ext cx="1314450" cy="1543455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  <a:ln w="9525" algn="ctr">
              <a:solidFill>
                <a:schemeClr val="tx2"/>
              </a:solidFill>
              <a:miter lim="800000"/>
              <a:headEnd/>
              <a:tailEnd/>
            </a:ln>
            <a:effectLst>
              <a:outerShdw dist="107763" dir="2700000" algn="ctr" rotWithShape="0">
                <a:schemeClr val="bg2">
                  <a:alpha val="50000"/>
                </a:schemeClr>
              </a:outerShdw>
            </a:effectLst>
          </p:spPr>
          <p:txBody>
            <a:bodyPr wrap="none" anchor="ctr">
              <a:noAutofit/>
            </a:bodyPr>
            <a:lstStyle/>
            <a:p>
              <a:pPr algn="ctr"/>
              <a:r>
                <a:rPr lang="en-US" sz="2000" b="1" dirty="0">
                  <a:solidFill>
                    <a:srgbClr val="C00000"/>
                  </a:solidFill>
                </a:rPr>
                <a:t>Memory</a:t>
              </a:r>
            </a:p>
            <a:p>
              <a:pPr algn="ctr"/>
              <a:r>
                <a:rPr lang="en-US" sz="2000" dirty="0">
                  <a:solidFill>
                    <a:srgbClr val="C00000"/>
                  </a:solidFill>
                </a:rPr>
                <a:t>(DRAM)</a:t>
              </a:r>
            </a:p>
          </p:txBody>
        </p:sp>
        <p:sp>
          <p:nvSpPr>
            <p:cNvPr id="16" name="Rectangle 97">
              <a:extLst>
                <a:ext uri="{FF2B5EF4-FFF2-40B4-BE49-F238E27FC236}">
                  <a16:creationId xmlns:a16="http://schemas.microsoft.com/office/drawing/2014/main" id="{C8ED90CE-4861-4F0D-9341-65F3395B5D8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324600" y="1981200"/>
              <a:ext cx="1295400" cy="1524000"/>
            </a:xfrm>
            <a:prstGeom prst="rect">
              <a:avLst/>
            </a:prstGeom>
            <a:solidFill>
              <a:schemeClr val="bg1"/>
            </a:solidFill>
            <a:ln w="9525" algn="ctr">
              <a:solidFill>
                <a:schemeClr val="tx2"/>
              </a:solidFill>
              <a:miter lim="800000"/>
              <a:headEnd/>
              <a:tailEnd/>
            </a:ln>
            <a:effectLst>
              <a:outerShdw dist="107763" dir="2700000" algn="ctr" rotWithShape="0">
                <a:schemeClr val="bg2">
                  <a:alpha val="50000"/>
                </a:schemeClr>
              </a:outerShdw>
            </a:effectLst>
          </p:spPr>
          <p:txBody>
            <a:bodyPr wrap="square" anchor="ctr">
              <a:noAutofit/>
            </a:bodyPr>
            <a:lstStyle/>
            <a:p>
              <a:endParaRPr lang="en-US" sz="1600"/>
            </a:p>
          </p:txBody>
        </p:sp>
        <p:sp>
          <p:nvSpPr>
            <p:cNvPr id="17" name="Text Box 103">
              <a:extLst>
                <a:ext uri="{FF2B5EF4-FFF2-40B4-BE49-F238E27FC236}">
                  <a16:creationId xmlns:a16="http://schemas.microsoft.com/office/drawing/2014/main" id="{71762EE6-240B-47DD-9C89-22C4CEFF2EF1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333199" y="1963367"/>
              <a:ext cx="1286801" cy="338577"/>
            </a:xfrm>
            <a:prstGeom prst="rect">
              <a:avLst/>
            </a:prstGeom>
            <a:noFill/>
            <a:ln w="9525" algn="ctr">
              <a:noFill/>
              <a:miter lim="800000"/>
              <a:headEnd/>
              <a:tailEnd/>
            </a:ln>
          </p:spPr>
          <p:txBody>
            <a:bodyPr wrap="square">
              <a:spAutoFit/>
            </a:bodyPr>
            <a:lstStyle/>
            <a:p>
              <a:pPr algn="ctr"/>
              <a:r>
                <a:rPr lang="en-US" sz="1600" b="1" dirty="0">
                  <a:latin typeface="Verdana" pitchFamily="34" charset="0"/>
                </a:rPr>
                <a:t>Devices</a:t>
              </a:r>
            </a:p>
          </p:txBody>
        </p:sp>
        <p:sp>
          <p:nvSpPr>
            <p:cNvPr id="18" name="AutoShape 104">
              <a:extLst>
                <a:ext uri="{FF2B5EF4-FFF2-40B4-BE49-F238E27FC236}">
                  <a16:creationId xmlns:a16="http://schemas.microsoft.com/office/drawing/2014/main" id="{60D57CCB-2224-465E-BEC1-C5B05EDAA92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442075" y="2286001"/>
              <a:ext cx="949325" cy="363166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9525" algn="ctr">
              <a:solidFill>
                <a:schemeClr val="tx2"/>
              </a:solidFill>
              <a:round/>
              <a:headEnd/>
              <a:tailEnd/>
            </a:ln>
            <a:effectLst>
              <a:outerShdw dist="107763" dir="2700000" algn="ctr" rotWithShape="0">
                <a:schemeClr val="bg2">
                  <a:alpha val="50000"/>
                </a:schemeClr>
              </a:outerShdw>
            </a:effectLst>
          </p:spPr>
          <p:txBody>
            <a:bodyPr wrap="none" anchor="ctr">
              <a:noAutofit/>
            </a:bodyPr>
            <a:lstStyle/>
            <a:p>
              <a:pPr algn="ctr"/>
              <a:r>
                <a:rPr lang="en-US" sz="1600" b="1" dirty="0"/>
                <a:t>Input</a:t>
              </a:r>
            </a:p>
          </p:txBody>
        </p:sp>
        <p:sp>
          <p:nvSpPr>
            <p:cNvPr id="19" name="AutoShape 105">
              <a:extLst>
                <a:ext uri="{FF2B5EF4-FFF2-40B4-BE49-F238E27FC236}">
                  <a16:creationId xmlns:a16="http://schemas.microsoft.com/office/drawing/2014/main" id="{1DB6A37E-65B1-43EF-BBE8-9CD6BB54C71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442075" y="2761035"/>
              <a:ext cx="949325" cy="363166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9525" algn="ctr">
              <a:solidFill>
                <a:schemeClr val="tx2"/>
              </a:solidFill>
              <a:round/>
              <a:headEnd/>
              <a:tailEnd/>
            </a:ln>
            <a:effectLst>
              <a:outerShdw dist="107763" dir="2700000" algn="ctr" rotWithShape="0">
                <a:schemeClr val="bg2">
                  <a:alpha val="50000"/>
                </a:schemeClr>
              </a:outerShdw>
            </a:effectLst>
          </p:spPr>
          <p:txBody>
            <a:bodyPr wrap="none" anchor="ctr">
              <a:noAutofit/>
            </a:bodyPr>
            <a:lstStyle/>
            <a:p>
              <a:pPr algn="ctr"/>
              <a:r>
                <a:rPr lang="en-US" sz="1600" b="1" dirty="0"/>
                <a:t>Output</a:t>
              </a:r>
            </a:p>
          </p:txBody>
        </p:sp>
        <p:grpSp>
          <p:nvGrpSpPr>
            <p:cNvPr id="20" name="Group 28">
              <a:extLst>
                <a:ext uri="{FF2B5EF4-FFF2-40B4-BE49-F238E27FC236}">
                  <a16:creationId xmlns:a16="http://schemas.microsoft.com/office/drawing/2014/main" id="{0ACE79BC-D891-4345-B329-9D75F5160792}"/>
                </a:ext>
              </a:extLst>
            </p:cNvPr>
            <p:cNvGrpSpPr/>
            <p:nvPr/>
          </p:nvGrpSpPr>
          <p:grpSpPr>
            <a:xfrm>
              <a:off x="1219200" y="1905001"/>
              <a:ext cx="1335749" cy="1601822"/>
              <a:chOff x="1371600" y="1963367"/>
              <a:chExt cx="1335749" cy="1543455"/>
            </a:xfrm>
          </p:grpSpPr>
          <p:sp>
            <p:nvSpPr>
              <p:cNvPr id="25" name="Rectangle 95">
                <a:extLst>
                  <a:ext uri="{FF2B5EF4-FFF2-40B4-BE49-F238E27FC236}">
                    <a16:creationId xmlns:a16="http://schemas.microsoft.com/office/drawing/2014/main" id="{E56EF469-E78E-4ED0-92C7-378F75AD0CD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392899" y="1963367"/>
                <a:ext cx="1314450" cy="1543455"/>
              </a:xfrm>
              <a:prstGeom prst="rect">
                <a:avLst/>
              </a:prstGeom>
              <a:solidFill>
                <a:srgbClr val="FFFFFF"/>
              </a:solidFill>
              <a:ln w="9525" algn="ctr">
                <a:solidFill>
                  <a:schemeClr val="tx2"/>
                </a:solidFill>
                <a:miter lim="800000"/>
                <a:headEnd/>
                <a:tailEnd/>
              </a:ln>
              <a:effectLst>
                <a:outerShdw dist="107763" dir="2700000" algn="ctr" rotWithShape="0">
                  <a:schemeClr val="bg2">
                    <a:alpha val="50000"/>
                  </a:schemeClr>
                </a:outerShdw>
              </a:effectLst>
            </p:spPr>
            <p:txBody>
              <a:bodyPr wrap="none" anchor="ctr">
                <a:noAutofit/>
              </a:bodyPr>
              <a:lstStyle/>
              <a:p>
                <a:endParaRPr lang="en-US" sz="1600"/>
              </a:p>
            </p:txBody>
          </p:sp>
          <p:sp>
            <p:nvSpPr>
              <p:cNvPr id="26" name="Text Box 99">
                <a:extLst>
                  <a:ext uri="{FF2B5EF4-FFF2-40B4-BE49-F238E27FC236}">
                    <a16:creationId xmlns:a16="http://schemas.microsoft.com/office/drawing/2014/main" id="{1C86EFFF-0C3A-44C3-9379-B680559B35D9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1371600" y="1963367"/>
                <a:ext cx="1322057" cy="338577"/>
              </a:xfrm>
              <a:prstGeom prst="rect">
                <a:avLst/>
              </a:prstGeom>
              <a:noFill/>
              <a:ln w="9525" algn="ctr">
                <a:noFill/>
                <a:miter lim="800000"/>
                <a:headEnd/>
                <a:tailEnd/>
              </a:ln>
            </p:spPr>
            <p:txBody>
              <a:bodyPr wrap="none">
                <a:spAutoFit/>
              </a:bodyPr>
              <a:lstStyle/>
              <a:p>
                <a:pPr algn="ctr"/>
                <a:r>
                  <a:rPr lang="en-US" sz="1600" b="1" dirty="0">
                    <a:latin typeface="Verdana" pitchFamily="34" charset="0"/>
                  </a:rPr>
                  <a:t>Processor</a:t>
                </a:r>
              </a:p>
            </p:txBody>
          </p:sp>
          <p:sp>
            <p:nvSpPr>
              <p:cNvPr id="27" name="AutoShape 100">
                <a:extLst>
                  <a:ext uri="{FF2B5EF4-FFF2-40B4-BE49-F238E27FC236}">
                    <a16:creationId xmlns:a16="http://schemas.microsoft.com/office/drawing/2014/main" id="{B092CD2C-90BE-4286-8039-28781D2B8C2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560248" y="2326533"/>
                <a:ext cx="1001051" cy="363166"/>
              </a:xfrm>
              <a:prstGeom prst="roundRect">
                <a:avLst>
                  <a:gd name="adj" fmla="val 16667"/>
                </a:avLst>
              </a:prstGeom>
              <a:solidFill>
                <a:srgbClr val="FFFFFF"/>
              </a:solidFill>
              <a:ln w="9525" algn="ctr">
                <a:solidFill>
                  <a:schemeClr val="tx2"/>
                </a:solidFill>
                <a:round/>
                <a:headEnd/>
                <a:tailEnd/>
              </a:ln>
              <a:effectLst>
                <a:outerShdw dist="107763" dir="2700000" algn="ctr" rotWithShape="0">
                  <a:schemeClr val="bg2">
                    <a:alpha val="50000"/>
                  </a:schemeClr>
                </a:outerShdw>
              </a:effectLst>
            </p:spPr>
            <p:txBody>
              <a:bodyPr wrap="none" anchor="ctr">
                <a:noAutofit/>
              </a:bodyPr>
              <a:lstStyle/>
              <a:p>
                <a:pPr algn="ctr"/>
                <a:r>
                  <a:rPr lang="en-US" sz="1600" b="1" dirty="0"/>
                  <a:t>Control</a:t>
                </a:r>
              </a:p>
            </p:txBody>
          </p:sp>
          <p:sp>
            <p:nvSpPr>
              <p:cNvPr id="28" name="AutoShape 108">
                <a:extLst>
                  <a:ext uri="{FF2B5EF4-FFF2-40B4-BE49-F238E27FC236}">
                    <a16:creationId xmlns:a16="http://schemas.microsoft.com/office/drawing/2014/main" id="{D9B8A4A7-5564-4E88-9CA2-26D094CC948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560248" y="2871282"/>
                <a:ext cx="1001051" cy="544749"/>
              </a:xfrm>
              <a:prstGeom prst="roundRect">
                <a:avLst>
                  <a:gd name="adj" fmla="val 16667"/>
                </a:avLst>
              </a:prstGeom>
              <a:solidFill>
                <a:srgbClr val="FFFFFF"/>
              </a:solidFill>
              <a:ln w="9525" algn="ctr">
                <a:solidFill>
                  <a:schemeClr val="tx2"/>
                </a:solidFill>
                <a:round/>
                <a:headEnd/>
                <a:tailEnd/>
              </a:ln>
              <a:effectLst>
                <a:outerShdw dist="107763" dir="2700000" algn="ctr" rotWithShape="0">
                  <a:schemeClr val="bg2">
                    <a:alpha val="50000"/>
                  </a:schemeClr>
                </a:outerShdw>
              </a:effectLst>
            </p:spPr>
            <p:txBody>
              <a:bodyPr wrap="none" anchor="ctr">
                <a:noAutofit/>
              </a:bodyPr>
              <a:lstStyle/>
              <a:p>
                <a:pPr algn="ctr"/>
                <a:r>
                  <a:rPr lang="en-US" sz="1600" b="1" dirty="0" err="1"/>
                  <a:t>Datapath</a:t>
                </a:r>
                <a:endParaRPr lang="en-US" sz="1600" b="1" dirty="0"/>
              </a:p>
              <a:p>
                <a:pPr algn="ctr"/>
                <a:r>
                  <a:rPr lang="en-US" sz="1600" b="1" dirty="0">
                    <a:solidFill>
                      <a:srgbClr val="C00000"/>
                    </a:solidFill>
                  </a:rPr>
                  <a:t>Registers</a:t>
                </a:r>
              </a:p>
            </p:txBody>
          </p:sp>
        </p:grpSp>
        <p:sp>
          <p:nvSpPr>
            <p:cNvPr id="21" name="Rectangle 95">
              <a:extLst>
                <a:ext uri="{FF2B5EF4-FFF2-40B4-BE49-F238E27FC236}">
                  <a16:creationId xmlns:a16="http://schemas.microsoft.com/office/drawing/2014/main" id="{AC26CD0E-120A-409E-B66E-C8CAFC8FBBC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048000" y="2743201"/>
              <a:ext cx="1143000" cy="762000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9525" algn="ctr">
              <a:solidFill>
                <a:schemeClr val="tx2"/>
              </a:solidFill>
              <a:miter lim="800000"/>
              <a:headEnd/>
              <a:tailEnd/>
            </a:ln>
            <a:effectLst>
              <a:outerShdw dist="107763" dir="2700000" algn="ctr" rotWithShape="0">
                <a:schemeClr val="bg2">
                  <a:alpha val="50000"/>
                </a:schemeClr>
              </a:outerShdw>
            </a:effectLst>
          </p:spPr>
          <p:txBody>
            <a:bodyPr wrap="none" anchor="ctr">
              <a:noAutofit/>
            </a:bodyPr>
            <a:lstStyle/>
            <a:p>
              <a:pPr algn="ctr"/>
              <a:r>
                <a:rPr lang="en-US" sz="2000" b="1" dirty="0">
                  <a:solidFill>
                    <a:srgbClr val="006600"/>
                  </a:solidFill>
                </a:rPr>
                <a:t>Cache</a:t>
              </a:r>
            </a:p>
            <a:p>
              <a:pPr algn="ctr"/>
              <a:r>
                <a:rPr lang="en-US" sz="2000" dirty="0">
                  <a:solidFill>
                    <a:srgbClr val="006600"/>
                  </a:solidFill>
                </a:rPr>
                <a:t>(SRAM)</a:t>
              </a:r>
            </a:p>
          </p:txBody>
        </p:sp>
        <p:sp>
          <p:nvSpPr>
            <p:cNvPr id="22" name="AutoShape 21">
              <a:extLst>
                <a:ext uri="{FF2B5EF4-FFF2-40B4-BE49-F238E27FC236}">
                  <a16:creationId xmlns:a16="http://schemas.microsoft.com/office/drawing/2014/main" id="{5B185B79-CE65-4A64-A565-AA4BAF35343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667000" y="3048000"/>
              <a:ext cx="304800" cy="228600"/>
            </a:xfrm>
            <a:prstGeom prst="leftRightArrow">
              <a:avLst>
                <a:gd name="adj1" fmla="val 50000"/>
                <a:gd name="adj2" fmla="val 26667"/>
              </a:avLst>
            </a:prstGeom>
            <a:solidFill>
              <a:srgbClr val="3333FF"/>
            </a:solidFill>
            <a:ln w="9525" algn="ctr">
              <a:noFill/>
              <a:miter lim="800000"/>
              <a:headEnd/>
              <a:tailEnd/>
            </a:ln>
          </p:spPr>
          <p:txBody>
            <a:bodyPr wrap="none" anchor="ctr">
              <a:spAutoFit/>
            </a:bodyPr>
            <a:lstStyle/>
            <a:p>
              <a:endParaRPr lang="en-US"/>
            </a:p>
          </p:txBody>
        </p:sp>
        <p:sp>
          <p:nvSpPr>
            <p:cNvPr id="23" name="AutoShape 21">
              <a:extLst>
                <a:ext uri="{FF2B5EF4-FFF2-40B4-BE49-F238E27FC236}">
                  <a16:creationId xmlns:a16="http://schemas.microsoft.com/office/drawing/2014/main" id="{501FD1E9-6024-4EDD-A887-F0FD1AF10ED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67200" y="3048000"/>
              <a:ext cx="304800" cy="228600"/>
            </a:xfrm>
            <a:prstGeom prst="leftRightArrow">
              <a:avLst>
                <a:gd name="adj1" fmla="val 50000"/>
                <a:gd name="adj2" fmla="val 26667"/>
              </a:avLst>
            </a:prstGeom>
            <a:solidFill>
              <a:srgbClr val="3333FF"/>
            </a:solidFill>
            <a:ln w="9525" algn="ctr">
              <a:noFill/>
              <a:miter lim="800000"/>
              <a:headEnd/>
              <a:tailEnd/>
            </a:ln>
          </p:spPr>
          <p:txBody>
            <a:bodyPr wrap="none" anchor="ctr">
              <a:spAutoFit/>
            </a:bodyPr>
            <a:lstStyle/>
            <a:p>
              <a:endParaRPr lang="en-US"/>
            </a:p>
          </p:txBody>
        </p:sp>
        <p:sp>
          <p:nvSpPr>
            <p:cNvPr id="24" name="AutoShape 21">
              <a:extLst>
                <a:ext uri="{FF2B5EF4-FFF2-40B4-BE49-F238E27FC236}">
                  <a16:creationId xmlns:a16="http://schemas.microsoft.com/office/drawing/2014/main" id="{971B8D89-CC24-4DFA-A98A-3C8905AE840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019800" y="3048000"/>
              <a:ext cx="304800" cy="228600"/>
            </a:xfrm>
            <a:prstGeom prst="leftRightArrow">
              <a:avLst>
                <a:gd name="adj1" fmla="val 50000"/>
                <a:gd name="adj2" fmla="val 26667"/>
              </a:avLst>
            </a:prstGeom>
            <a:solidFill>
              <a:srgbClr val="3333FF"/>
            </a:solidFill>
            <a:ln w="9525" algn="ctr">
              <a:noFill/>
              <a:miter lim="800000"/>
              <a:headEnd/>
              <a:tailEnd/>
            </a:ln>
          </p:spPr>
          <p:txBody>
            <a:bodyPr wrap="none" anchor="ctr">
              <a:spAutoFit/>
            </a:bodyPr>
            <a:lstStyle/>
            <a:p>
              <a:endParaRPr lang="en-US"/>
            </a:p>
          </p:txBody>
        </p:sp>
      </p:grpSp>
      <p:sp>
        <p:nvSpPr>
          <p:cNvPr id="29" name="Text Box 103">
            <a:extLst>
              <a:ext uri="{FF2B5EF4-FFF2-40B4-BE49-F238E27FC236}">
                <a16:creationId xmlns:a16="http://schemas.microsoft.com/office/drawing/2014/main" id="{9FFBF75B-894C-411D-A67A-41A0EB58A98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485599" y="2709423"/>
            <a:ext cx="1286801" cy="338577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algn="ctr"/>
            <a:r>
              <a:rPr lang="en-US" sz="1600" dirty="0">
                <a:solidFill>
                  <a:srgbClr val="660066"/>
                </a:solidFill>
                <a:latin typeface="Verdana" pitchFamily="34" charset="0"/>
              </a:rPr>
              <a:t>(</a:t>
            </a:r>
            <a:r>
              <a:rPr lang="en-US" sz="1600" dirty="0" err="1">
                <a:solidFill>
                  <a:srgbClr val="660066"/>
                </a:solidFill>
                <a:latin typeface="Verdana" pitchFamily="34" charset="0"/>
              </a:rPr>
              <a:t>Harddisk</a:t>
            </a:r>
            <a:r>
              <a:rPr lang="en-US" sz="1600" dirty="0">
                <a:solidFill>
                  <a:srgbClr val="660066"/>
                </a:solidFill>
                <a:latin typeface="Verdana" pitchFamily="34" charset="0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24558131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build="p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13581A-09E1-24C3-BE5C-1B9FDB6BDF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is a cache?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751EA11-74E1-CE52-BA7E-DC74BA0A182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Memory Cache</a:t>
            </a:r>
          </a:p>
          <a:p>
            <a:pPr lvl="1"/>
            <a:r>
              <a:rPr lang="en-US" dirty="0"/>
              <a:t>Holds a copy of a subset of main memory</a:t>
            </a:r>
          </a:p>
          <a:p>
            <a:pPr lvl="1"/>
            <a:r>
              <a:rPr lang="en-US" dirty="0"/>
              <a:t>We often use $ (“cash”) to abbreviate cache (e.g. D$ = Data Cache, L1$ = Level 1 Cache)</a:t>
            </a:r>
          </a:p>
          <a:p>
            <a:pPr lvl="1"/>
            <a:endParaRPr lang="en-US" dirty="0"/>
          </a:p>
          <a:p>
            <a:r>
              <a:rPr lang="en-US" dirty="0"/>
              <a:t>Modern processors have separate caches for instructions and data, as well as several levels of caches implemented in different sizes</a:t>
            </a:r>
          </a:p>
          <a:p>
            <a:pPr marL="0" indent="0">
              <a:buNone/>
            </a:pPr>
            <a:endParaRPr lang="en-US" dirty="0"/>
          </a:p>
          <a:p>
            <a:r>
              <a:rPr lang="en-US" dirty="0"/>
              <a:t>Implemented with same IC processing technology as CPU and integrated on-chip</a:t>
            </a:r>
          </a:p>
          <a:p>
            <a:pPr lvl="1"/>
            <a:r>
              <a:rPr lang="en-US" dirty="0"/>
              <a:t>Faster but more expensive than main memory 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D694D30-8412-1A6F-D9C7-40C3A4BA4B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B13859-67C5-4393-B6C2-556CF3F770C0}" type="datetime3">
              <a:rPr lang="en-US" smtClean="0"/>
              <a:t>25 March 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95E385B-3626-3DF6-E7EA-5649031A9C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C3541-01C1-4CA5-B68F-FEE868C7D1AF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786143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The Importance of a School Library for Students">
            <a:extLst>
              <a:ext uri="{FF2B5EF4-FFF2-40B4-BE49-F238E27FC236}">
                <a16:creationId xmlns:a16="http://schemas.microsoft.com/office/drawing/2014/main" id="{2C91ABFF-D6FB-B447-F7F0-C72A6C04758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1352994"/>
            <a:ext cx="9144000" cy="520020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itle 6">
            <a:extLst>
              <a:ext uri="{FF2B5EF4-FFF2-40B4-BE49-F238E27FC236}">
                <a16:creationId xmlns:a16="http://schemas.microsoft.com/office/drawing/2014/main" id="{1B4F2FCE-05B8-DB1A-D1BF-D9B340B067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Memory hierarchy</a:t>
            </a:r>
          </a:p>
        </p:txBody>
      </p:sp>
      <p:pic>
        <p:nvPicPr>
          <p:cNvPr id="24" name="Content Placeholder 23">
            <a:extLst>
              <a:ext uri="{FF2B5EF4-FFF2-40B4-BE49-F238E27FC236}">
                <a16:creationId xmlns:a16="http://schemas.microsoft.com/office/drawing/2014/main" id="{A00E5025-64C8-6F5C-D872-98AC62F17F6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5949223" y="1395778"/>
            <a:ext cx="3181794" cy="2772162"/>
          </a:xfr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5198BE6-CE93-3437-A8A9-F3AD55F87F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B13859-67C5-4393-B6C2-556CF3F770C0}" type="datetime3">
              <a:rPr lang="en-US" smtClean="0"/>
              <a:t>25 March 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44FA953-D6E2-2A00-3A3E-DC5DEBA314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C3541-01C1-4CA5-B68F-FEE868C7D1AF}" type="slidenum">
              <a:rPr lang="en-US" smtClean="0"/>
              <a:t>18</a:t>
            </a:fld>
            <a:endParaRPr lang="en-US"/>
          </a:p>
        </p:txBody>
      </p:sp>
      <p:grpSp>
        <p:nvGrpSpPr>
          <p:cNvPr id="17" name="Group 16">
            <a:extLst>
              <a:ext uri="{FF2B5EF4-FFF2-40B4-BE49-F238E27FC236}">
                <a16:creationId xmlns:a16="http://schemas.microsoft.com/office/drawing/2014/main" id="{CF2E2257-E4FA-423B-F170-686187CEA291}"/>
              </a:ext>
            </a:extLst>
          </p:cNvPr>
          <p:cNvGrpSpPr/>
          <p:nvPr/>
        </p:nvGrpSpPr>
        <p:grpSpPr>
          <a:xfrm>
            <a:off x="94575" y="2209800"/>
            <a:ext cx="2871510" cy="646331"/>
            <a:chOff x="126100" y="2124194"/>
            <a:chExt cx="3828680" cy="861775"/>
          </a:xfrm>
        </p:grpSpPr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3A894450-5016-938D-30A5-009403692C91}"/>
                </a:ext>
              </a:extLst>
            </p:cNvPr>
            <p:cNvSpPr txBox="1"/>
            <p:nvPr/>
          </p:nvSpPr>
          <p:spPr>
            <a:xfrm>
              <a:off x="126100" y="2124194"/>
              <a:ext cx="3126123" cy="86177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b="1" dirty="0">
                  <a:solidFill>
                    <a:srgbClr val="FF0000"/>
                  </a:solidFill>
                </a:rPr>
                <a:t>L3</a:t>
              </a:r>
              <a:r>
                <a:rPr lang="en-US" b="1" dirty="0">
                  <a:solidFill>
                    <a:schemeClr val="accent2"/>
                  </a:solidFill>
                </a:rPr>
                <a:t>: Engineering section</a:t>
              </a:r>
              <a:endParaRPr lang="en-US" dirty="0"/>
            </a:p>
          </p:txBody>
        </p:sp>
        <p:sp>
          <p:nvSpPr>
            <p:cNvPr id="16" name="Arrow: Right 15">
              <a:extLst>
                <a:ext uri="{FF2B5EF4-FFF2-40B4-BE49-F238E27FC236}">
                  <a16:creationId xmlns:a16="http://schemas.microsoft.com/office/drawing/2014/main" id="{AD499CC9-1B82-0AD9-E5E8-A97024FEBFBA}"/>
                </a:ext>
              </a:extLst>
            </p:cNvPr>
            <p:cNvSpPr/>
            <p:nvPr/>
          </p:nvSpPr>
          <p:spPr>
            <a:xfrm>
              <a:off x="3166312" y="2263586"/>
              <a:ext cx="788468" cy="239584"/>
            </a:xfrm>
            <a:prstGeom prst="rightArrow">
              <a:avLst/>
            </a:prstGeom>
            <a:ln>
              <a:solidFill>
                <a:schemeClr val="accent2"/>
              </a:solidFill>
            </a:ln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8923101A-E216-7D55-F48E-504955F7C13F}"/>
              </a:ext>
            </a:extLst>
          </p:cNvPr>
          <p:cNvGrpSpPr/>
          <p:nvPr/>
        </p:nvGrpSpPr>
        <p:grpSpPr>
          <a:xfrm>
            <a:off x="75269" y="3238219"/>
            <a:ext cx="1679021" cy="3169601"/>
            <a:chOff x="126100" y="2631866"/>
            <a:chExt cx="2238694" cy="4226134"/>
          </a:xfrm>
        </p:grpSpPr>
        <p:pic>
          <p:nvPicPr>
            <p:cNvPr id="1028" name="Picture 4" descr="Sliding Door Cupboards | Book case with doors | Godrej">
              <a:extLst>
                <a:ext uri="{FF2B5EF4-FFF2-40B4-BE49-F238E27FC236}">
                  <a16:creationId xmlns:a16="http://schemas.microsoft.com/office/drawing/2014/main" id="{1C03A157-4836-8C56-2CAF-FEBB629E72C5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7277" t="8787" r="28056" b="8787"/>
            <a:stretch/>
          </p:blipFill>
          <p:spPr bwMode="auto">
            <a:xfrm>
              <a:off x="126100" y="2726804"/>
              <a:ext cx="2238694" cy="413119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55995E11-CFC1-0068-DA53-870D9095BE12}"/>
                </a:ext>
              </a:extLst>
            </p:cNvPr>
            <p:cNvSpPr txBox="1"/>
            <p:nvPr/>
          </p:nvSpPr>
          <p:spPr>
            <a:xfrm rot="16200000">
              <a:off x="-48152" y="4118349"/>
              <a:ext cx="3834739" cy="86177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b="1" dirty="0">
                  <a:solidFill>
                    <a:srgbClr val="FF0000"/>
                  </a:solidFill>
                </a:rPr>
                <a:t>L2</a:t>
              </a:r>
              <a:r>
                <a:rPr lang="en-US" b="1" dirty="0">
                  <a:solidFill>
                    <a:schemeClr val="accent2"/>
                  </a:solidFill>
                </a:rPr>
                <a:t>: All books on Computers</a:t>
              </a:r>
              <a:endParaRPr lang="en-US" dirty="0"/>
            </a:p>
          </p:txBody>
        </p:sp>
      </p:grpSp>
      <p:grpSp>
        <p:nvGrpSpPr>
          <p:cNvPr id="22" name="Group 21">
            <a:extLst>
              <a:ext uri="{FF2B5EF4-FFF2-40B4-BE49-F238E27FC236}">
                <a16:creationId xmlns:a16="http://schemas.microsoft.com/office/drawing/2014/main" id="{0ED7E2C2-CF5C-DA32-F8B8-AA1F4785289B}"/>
              </a:ext>
            </a:extLst>
          </p:cNvPr>
          <p:cNvGrpSpPr/>
          <p:nvPr/>
        </p:nvGrpSpPr>
        <p:grpSpPr>
          <a:xfrm>
            <a:off x="1734732" y="4190065"/>
            <a:ext cx="2482300" cy="2217756"/>
            <a:chOff x="2300105" y="3821711"/>
            <a:chExt cx="3309733" cy="2957008"/>
          </a:xfrm>
        </p:grpSpPr>
        <p:pic>
          <p:nvPicPr>
            <p:cNvPr id="1030" name="Picture 6" descr="Teenager Girl Reading A Book In The Library Stock Photo - Download Image  Now - Beautiful People, Beauty, Book - iStock">
              <a:extLst>
                <a:ext uri="{FF2B5EF4-FFF2-40B4-BE49-F238E27FC236}">
                  <a16:creationId xmlns:a16="http://schemas.microsoft.com/office/drawing/2014/main" id="{992365B7-6AFB-6EE3-E204-954028AC4347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364794" y="4617469"/>
              <a:ext cx="3245044" cy="216125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F88BCA34-3E36-9F75-5A67-21F694466D14}"/>
                </a:ext>
              </a:extLst>
            </p:cNvPr>
            <p:cNvSpPr txBox="1"/>
            <p:nvPr/>
          </p:nvSpPr>
          <p:spPr>
            <a:xfrm>
              <a:off x="2300105" y="3821711"/>
              <a:ext cx="3270786" cy="86177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b="1" dirty="0">
                  <a:solidFill>
                    <a:srgbClr val="FF0000"/>
                  </a:solidFill>
                </a:rPr>
                <a:t>L1</a:t>
              </a:r>
              <a:r>
                <a:rPr lang="en-US" b="1" dirty="0">
                  <a:solidFill>
                    <a:schemeClr val="accent2"/>
                  </a:solidFill>
                </a:rPr>
                <a:t>: History of computers</a:t>
              </a:r>
              <a:endParaRPr lang="en-US" dirty="0"/>
            </a:p>
          </p:txBody>
        </p:sp>
      </p:grpSp>
      <p:pic>
        <p:nvPicPr>
          <p:cNvPr id="26" name="Picture 25">
            <a:extLst>
              <a:ext uri="{FF2B5EF4-FFF2-40B4-BE49-F238E27FC236}">
                <a16:creationId xmlns:a16="http://schemas.microsoft.com/office/drawing/2014/main" id="{ABB2CDD4-5FDE-4572-54C8-6C55BB98B5F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24400" y="1384892"/>
            <a:ext cx="2114846" cy="1100291"/>
          </a:xfrm>
          <a:prstGeom prst="rect">
            <a:avLst/>
          </a:prstGeom>
        </p:spPr>
      </p:pic>
      <p:sp>
        <p:nvSpPr>
          <p:cNvPr id="27" name="TextBox 26">
            <a:extLst>
              <a:ext uri="{FF2B5EF4-FFF2-40B4-BE49-F238E27FC236}">
                <a16:creationId xmlns:a16="http://schemas.microsoft.com/office/drawing/2014/main" id="{E851D933-AD3D-E3CF-E27F-FB86E2FC3FA4}"/>
              </a:ext>
            </a:extLst>
          </p:cNvPr>
          <p:cNvSpPr txBox="1"/>
          <p:nvPr/>
        </p:nvSpPr>
        <p:spPr>
          <a:xfrm>
            <a:off x="4330417" y="4572000"/>
            <a:ext cx="4800600" cy="19236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700" b="1" dirty="0">
                <a:solidFill>
                  <a:srgbClr val="FF0000"/>
                </a:solidFill>
              </a:rPr>
              <a:t>How do we manage all the books in different locations?</a:t>
            </a:r>
          </a:p>
          <a:p>
            <a:pPr marL="257175" indent="-257175">
              <a:buFont typeface="Arial" panose="020B0604020202020204" pitchFamily="34" charset="0"/>
              <a:buChar char="•"/>
            </a:pPr>
            <a:r>
              <a:rPr lang="en-US" sz="1700" b="1" dirty="0">
                <a:solidFill>
                  <a:srgbClr val="FF0000"/>
                </a:solidFill>
              </a:rPr>
              <a:t>When to go to L1 / L2 / L3 / Main memory?</a:t>
            </a:r>
          </a:p>
          <a:p>
            <a:pPr marL="257175" indent="-257175">
              <a:buFont typeface="Arial" panose="020B0604020202020204" pitchFamily="34" charset="0"/>
              <a:buChar char="•"/>
            </a:pPr>
            <a:r>
              <a:rPr lang="en-US" sz="1700" b="1" dirty="0">
                <a:solidFill>
                  <a:srgbClr val="FF0000"/>
                </a:solidFill>
              </a:rPr>
              <a:t>When to bring a book from shelf to cupboard?</a:t>
            </a:r>
          </a:p>
          <a:p>
            <a:pPr marL="257175" indent="-257175">
              <a:buFont typeface="Arial" panose="020B0604020202020204" pitchFamily="34" charset="0"/>
              <a:buChar char="•"/>
            </a:pPr>
            <a:r>
              <a:rPr lang="en-US" sz="1700" b="1" dirty="0">
                <a:solidFill>
                  <a:srgbClr val="FF0000"/>
                </a:solidFill>
              </a:rPr>
              <a:t>When to bring from cupboard to desk?</a:t>
            </a:r>
          </a:p>
          <a:p>
            <a:pPr marL="257175" indent="-257175">
              <a:buFont typeface="Arial" panose="020B0604020202020204" pitchFamily="34" charset="0"/>
              <a:buChar char="•"/>
            </a:pPr>
            <a:r>
              <a:rPr lang="en-US" sz="1700" b="1" dirty="0">
                <a:solidFill>
                  <a:srgbClr val="FF0000"/>
                </a:solidFill>
              </a:rPr>
              <a:t>If desk is full, which book to put back?</a:t>
            </a:r>
            <a:endParaRPr lang="en-US" sz="17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024187A-5D9D-2EB6-EE25-6B2D86C1395F}"/>
              </a:ext>
            </a:extLst>
          </p:cNvPr>
          <p:cNvSpPr txBox="1"/>
          <p:nvPr/>
        </p:nvSpPr>
        <p:spPr>
          <a:xfrm>
            <a:off x="43355" y="1398498"/>
            <a:ext cx="4606158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b="1" dirty="0">
                <a:solidFill>
                  <a:srgbClr val="FF0000"/>
                </a:solidFill>
              </a:rPr>
              <a:t>What if we run out of desk space and need more books?</a:t>
            </a:r>
          </a:p>
        </p:txBody>
      </p:sp>
    </p:spTree>
    <p:extLst>
      <p:ext uri="{BB962C8B-B14F-4D97-AF65-F5344CB8AC3E}">
        <p14:creationId xmlns:p14="http://schemas.microsoft.com/office/powerpoint/2010/main" val="3273676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7" grpId="0" build="p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1B873E60-1193-1ACD-524F-F9632BEC5D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Memory transfer in the hierarchy</a:t>
            </a:r>
          </a:p>
        </p:txBody>
      </p:sp>
      <p:pic>
        <p:nvPicPr>
          <p:cNvPr id="9" name="Content Placeholder 8">
            <a:extLst>
              <a:ext uri="{FF2B5EF4-FFF2-40B4-BE49-F238E27FC236}">
                <a16:creationId xmlns:a16="http://schemas.microsoft.com/office/drawing/2014/main" id="{A07D0DA6-DB1A-D116-7D3A-C2CF2BA9B11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 rotWithShape="1">
          <a:blip r:embed="rId2"/>
          <a:srcRect l="20129" r="33560"/>
          <a:stretch>
            <a:fillRect/>
          </a:stretch>
        </p:blipFill>
        <p:spPr>
          <a:xfrm>
            <a:off x="228600" y="1752600"/>
            <a:ext cx="3330828" cy="4658375"/>
          </a:xfr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75EC63E-261F-A842-CBF6-C7B6913A1A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E0464C-7207-4298-A27C-0CEAF85D3DD1}" type="datetime3">
              <a:rPr lang="en-US" smtClean="0"/>
              <a:t>25 March 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9BA6055-8C6A-1A07-CE64-65B47B094E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C3541-01C1-4CA5-B68F-FEE868C7D1AF}" type="slidenum">
              <a:rPr lang="en-US" smtClean="0"/>
              <a:t>19</a:t>
            </a:fld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B3846ED-7303-6505-DD78-70AE2686FB06}"/>
              </a:ext>
            </a:extLst>
          </p:cNvPr>
          <p:cNvSpPr>
            <a:spLocks noGrp="1"/>
          </p:cNvSpPr>
          <p:nvPr>
            <p:ph idx="4294967295"/>
          </p:nvPr>
        </p:nvSpPr>
        <p:spPr>
          <a:xfrm>
            <a:off x="3810000" y="1447800"/>
            <a:ext cx="5272238" cy="5105400"/>
          </a:xfrm>
        </p:spPr>
        <p:txBody>
          <a:bodyPr>
            <a:normAutofit fontScale="85000" lnSpcReduction="20000"/>
          </a:bodyPr>
          <a:lstStyle/>
          <a:p>
            <a:r>
              <a:rPr lang="en-US" dirty="0"/>
              <a:t>registers ↔ memory</a:t>
            </a:r>
            <a:br>
              <a:rPr lang="en-US" dirty="0"/>
            </a:br>
            <a:r>
              <a:rPr lang="en-US" dirty="0"/>
              <a:t>By compiler (or assembly level programmer)</a:t>
            </a:r>
          </a:p>
          <a:p>
            <a:pPr marL="0" indent="0">
              <a:buNone/>
            </a:pPr>
            <a:endParaRPr lang="en-US" dirty="0"/>
          </a:p>
          <a:p>
            <a:r>
              <a:rPr lang="en-US" dirty="0"/>
              <a:t>cache ↔ main memory</a:t>
            </a:r>
            <a:br>
              <a:rPr lang="en-US" dirty="0"/>
            </a:br>
            <a:r>
              <a:rPr lang="en-US" dirty="0"/>
              <a:t>By the cache controller hardware</a:t>
            </a:r>
          </a:p>
          <a:p>
            <a:endParaRPr lang="en-US" dirty="0"/>
          </a:p>
          <a:p>
            <a:r>
              <a:rPr lang="en-US" dirty="0"/>
              <a:t>main memory ↔ disks (secondary storage)</a:t>
            </a:r>
          </a:p>
          <a:p>
            <a:pPr lvl="1"/>
            <a:r>
              <a:rPr lang="en-US" dirty="0"/>
              <a:t>By the OS (virtual memory)</a:t>
            </a:r>
          </a:p>
          <a:p>
            <a:pPr lvl="1"/>
            <a:r>
              <a:rPr lang="en-US" dirty="0"/>
              <a:t>Virtual to physical address mapping assisted by the hardware (TLB)</a:t>
            </a:r>
          </a:p>
          <a:p>
            <a:pPr lvl="1"/>
            <a:r>
              <a:rPr lang="en-US" dirty="0"/>
              <a:t>By the programmer (files)</a:t>
            </a:r>
          </a:p>
        </p:txBody>
      </p:sp>
      <p:pic>
        <p:nvPicPr>
          <p:cNvPr id="2" name="Content Placeholder 8">
            <a:extLst>
              <a:ext uri="{FF2B5EF4-FFF2-40B4-BE49-F238E27FC236}">
                <a16:creationId xmlns:a16="http://schemas.microsoft.com/office/drawing/2014/main" id="{8F16B142-92A7-32BB-2273-AD4A3F0895B8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65685" t="22901" r="412" b="55834"/>
          <a:stretch>
            <a:fillRect/>
          </a:stretch>
        </p:blipFill>
        <p:spPr bwMode="auto">
          <a:xfrm>
            <a:off x="2209800" y="2769395"/>
            <a:ext cx="1700742" cy="69092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14634373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0F6DA686-7568-673E-7E0F-7E2B286A71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Cache management – four important questions to resolve</a:t>
            </a:r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9E430D65-3C94-DD6D-4EFF-8C8D6476CCA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buAutoNum type="arabicPeriod"/>
            </a:pPr>
            <a:r>
              <a:rPr lang="en-US" sz="2400" dirty="0">
                <a:solidFill>
                  <a:schemeClr val="accent4"/>
                </a:solidFill>
              </a:rPr>
              <a:t>Where to put the data?</a:t>
            </a:r>
            <a:r>
              <a:rPr lang="en-US" sz="2400" dirty="0"/>
              <a:t> When we copy a block of data from main memory to the cache, where exactly should we put it?</a:t>
            </a:r>
          </a:p>
          <a:p>
            <a:pPr>
              <a:buAutoNum type="arabicPeriod"/>
            </a:pPr>
            <a:endParaRPr lang="en-US" sz="2400" dirty="0"/>
          </a:p>
          <a:p>
            <a:pPr>
              <a:buAutoNum type="arabicPeriod"/>
            </a:pPr>
            <a:r>
              <a:rPr lang="en-US" sz="2400" dirty="0">
                <a:solidFill>
                  <a:schemeClr val="accent4"/>
                </a:solidFill>
              </a:rPr>
              <a:t>How to find the data?</a:t>
            </a:r>
            <a:r>
              <a:rPr lang="en-US" sz="2400" dirty="0"/>
              <a:t> How can we tell if a word is already in the cache, or if it has to be fetched from main memory first?</a:t>
            </a:r>
          </a:p>
          <a:p>
            <a:pPr>
              <a:buAutoNum type="arabicPeriod"/>
            </a:pPr>
            <a:endParaRPr lang="en-US" sz="2400" dirty="0"/>
          </a:p>
          <a:p>
            <a:pPr>
              <a:buAutoNum type="arabicPeriod"/>
            </a:pPr>
            <a:r>
              <a:rPr lang="en-US" sz="2400" dirty="0">
                <a:solidFill>
                  <a:schemeClr val="accent4"/>
                </a:solidFill>
              </a:rPr>
              <a:t>How to replace data?</a:t>
            </a:r>
            <a:r>
              <a:rPr lang="en-US" sz="2400" dirty="0"/>
              <a:t> Eventually, the small cache memory might fill up. To load a new block from RAM, we’d have to replace one of the existing cache blocks... which one?</a:t>
            </a:r>
          </a:p>
          <a:p>
            <a:pPr>
              <a:buAutoNum type="arabicPeriod"/>
            </a:pPr>
            <a:endParaRPr lang="en-US" sz="2400" dirty="0"/>
          </a:p>
          <a:p>
            <a:pPr>
              <a:buAutoNum type="arabicPeriod"/>
            </a:pPr>
            <a:r>
              <a:rPr lang="en-US" sz="2400" dirty="0">
                <a:solidFill>
                  <a:schemeClr val="accent4"/>
                </a:solidFill>
              </a:rPr>
              <a:t>How to write data?</a:t>
            </a:r>
            <a:r>
              <a:rPr lang="en-US" sz="2400" dirty="0"/>
              <a:t> How can write operations be handled by the memory system?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BB8D852-5D7A-EDB3-6D1D-F87FF754436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E0464C-7207-4298-A27C-0CEAF85D3DD1}" type="datetime3">
              <a:rPr lang="en-US" smtClean="0"/>
              <a:t>25 March 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0D3724F-0566-88EA-AC41-CB4E10D953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C3541-01C1-4CA5-B68F-FEE868C7D1AF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859473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build="p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F332AB-41F7-4D51-0A52-6EE0FEACDB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1: Where to put the data?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8CD73F3-A16D-EA4E-A352-6CBDC2F2CF0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4575" y="1371600"/>
            <a:ext cx="4405987" cy="5029199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US" sz="2400" dirty="0">
                <a:solidFill>
                  <a:schemeClr val="accent4"/>
                </a:solidFill>
              </a:rPr>
              <a:t>Direct-mapped cache </a:t>
            </a:r>
          </a:p>
          <a:p>
            <a:r>
              <a:rPr lang="en-US" sz="2400" dirty="0"/>
              <a:t>Each main memory address maps to exactly one cache block</a:t>
            </a:r>
          </a:p>
          <a:p>
            <a:r>
              <a:rPr lang="en-US" sz="2400" dirty="0"/>
              <a:t>For example, on the right is a 16-byte main memory and a 4-byte cache (four 1-byte blocks)</a:t>
            </a:r>
          </a:p>
          <a:p>
            <a:r>
              <a:rPr lang="en-US" sz="2400" dirty="0"/>
              <a:t>Memory locations </a:t>
            </a:r>
            <a:r>
              <a:rPr lang="en-US" sz="2400" dirty="0">
                <a:solidFill>
                  <a:srgbClr val="FF0000"/>
                </a:solidFill>
              </a:rPr>
              <a:t>0, 4, 8</a:t>
            </a:r>
            <a:r>
              <a:rPr lang="en-US" sz="2400" dirty="0"/>
              <a:t> and </a:t>
            </a:r>
            <a:r>
              <a:rPr lang="en-US" sz="2400" dirty="0">
                <a:solidFill>
                  <a:srgbClr val="FF0000"/>
                </a:solidFill>
              </a:rPr>
              <a:t>12</a:t>
            </a:r>
            <a:r>
              <a:rPr lang="en-US" sz="2400" dirty="0"/>
              <a:t> all map to cache block </a:t>
            </a:r>
            <a:r>
              <a:rPr lang="en-US" sz="2400" dirty="0">
                <a:solidFill>
                  <a:srgbClr val="FF0000"/>
                </a:solidFill>
              </a:rPr>
              <a:t>0</a:t>
            </a:r>
          </a:p>
          <a:p>
            <a:r>
              <a:rPr lang="en-US" sz="2400" dirty="0"/>
              <a:t>Addresses </a:t>
            </a:r>
            <a:r>
              <a:rPr lang="en-US" sz="2400" dirty="0">
                <a:solidFill>
                  <a:srgbClr val="0070C0"/>
                </a:solidFill>
              </a:rPr>
              <a:t>1, 5, 9</a:t>
            </a:r>
            <a:r>
              <a:rPr lang="en-US" sz="2400" dirty="0"/>
              <a:t> and </a:t>
            </a:r>
            <a:r>
              <a:rPr lang="en-US" sz="2400" dirty="0">
                <a:solidFill>
                  <a:srgbClr val="0070C0"/>
                </a:solidFill>
              </a:rPr>
              <a:t>13</a:t>
            </a:r>
            <a:r>
              <a:rPr lang="en-US" sz="2400" dirty="0"/>
              <a:t> map to cache block </a:t>
            </a:r>
            <a:r>
              <a:rPr lang="en-US" sz="2400" dirty="0">
                <a:solidFill>
                  <a:srgbClr val="0070C0"/>
                </a:solidFill>
              </a:rPr>
              <a:t>1</a:t>
            </a:r>
            <a:r>
              <a:rPr lang="en-US" sz="2400" dirty="0"/>
              <a:t>, etc.</a:t>
            </a:r>
          </a:p>
          <a:p>
            <a:r>
              <a:rPr lang="en-US" sz="2400" dirty="0"/>
              <a:t>How can we compute this mapping?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44CADD4-02E3-2864-261B-833A235855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B13859-67C5-4393-B6C2-556CF3F770C0}" type="datetime3">
              <a:rPr lang="en-US" smtClean="0"/>
              <a:t>25 March 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005E9A-3E8C-AACE-88C2-59E4981FB9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C3541-01C1-4CA5-B68F-FEE868C7D1AF}" type="slidenum">
              <a:rPr lang="en-US" smtClean="0"/>
              <a:t>21</a:t>
            </a:fld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2173DD90-4794-9BB3-530C-4F1144D2649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03265" y="1609808"/>
            <a:ext cx="3590272" cy="3532629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F62E8549-EC84-19BC-0013-CF46A7D25CE7}"/>
              </a:ext>
            </a:extLst>
          </p:cNvPr>
          <p:cNvSpPr txBox="1"/>
          <p:nvPr/>
        </p:nvSpPr>
        <p:spPr>
          <a:xfrm>
            <a:off x="5344954" y="5090726"/>
            <a:ext cx="1410177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dirty="0"/>
              <a:t>main memory 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061C981-8E6A-C0F7-8D83-132335387856}"/>
              </a:ext>
            </a:extLst>
          </p:cNvPr>
          <p:cNvSpPr txBox="1"/>
          <p:nvPr/>
        </p:nvSpPr>
        <p:spPr>
          <a:xfrm>
            <a:off x="7096820" y="5088755"/>
            <a:ext cx="141017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dirty="0"/>
              <a:t>cache</a:t>
            </a:r>
          </a:p>
        </p:txBody>
      </p:sp>
    </p:spTree>
    <p:extLst>
      <p:ext uri="{BB962C8B-B14F-4D97-AF65-F5344CB8AC3E}">
        <p14:creationId xmlns:p14="http://schemas.microsoft.com/office/powerpoint/2010/main" val="2002599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F332AB-41F7-4D51-0A52-6EE0FEACDB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1: Where to put the data?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8CD73F3-A16D-EA4E-A352-6CBDC2F2CF0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4575" y="1609808"/>
            <a:ext cx="4477425" cy="4867191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500" dirty="0">
                <a:solidFill>
                  <a:schemeClr val="accent4"/>
                </a:solidFill>
              </a:rPr>
              <a:t>Computing the mapping – modulo operation</a:t>
            </a:r>
            <a:endParaRPr lang="en-US" sz="2500" dirty="0"/>
          </a:p>
          <a:p>
            <a:r>
              <a:rPr lang="en-US" sz="2500" dirty="0"/>
              <a:t>If the cache contains </a:t>
            </a:r>
            <a:r>
              <a:rPr lang="en-US" sz="2500" dirty="0">
                <a:latin typeface="Harlow Solid Italic" panose="04030604020F02020D02" pitchFamily="82" charset="0"/>
              </a:rPr>
              <a:t>2</a:t>
            </a:r>
            <a:r>
              <a:rPr lang="en-US" sz="2500" baseline="30000" dirty="0">
                <a:latin typeface="Harlow Solid Italic" panose="04030604020F02020D02" pitchFamily="82" charset="0"/>
              </a:rPr>
              <a:t>k</a:t>
            </a:r>
            <a:r>
              <a:rPr lang="en-US" sz="2500" dirty="0"/>
              <a:t> blocks, then the data at memory address </a:t>
            </a:r>
            <a:r>
              <a:rPr lang="en-US" sz="2500" dirty="0" err="1">
                <a:latin typeface="Harlow Solid Italic" panose="04030604020F02020D02" pitchFamily="82" charset="0"/>
              </a:rPr>
              <a:t>i</a:t>
            </a:r>
            <a:r>
              <a:rPr lang="en-US" sz="2500" dirty="0"/>
              <a:t> would go to cache block index</a:t>
            </a:r>
            <a:br>
              <a:rPr lang="en-US" sz="2500" dirty="0"/>
            </a:br>
            <a:r>
              <a:rPr lang="en-US" sz="2500" dirty="0"/>
              <a:t>	</a:t>
            </a:r>
            <a:r>
              <a:rPr lang="en-US" sz="2500" dirty="0">
                <a:latin typeface="Harlow Solid Italic" panose="04030604020F02020D02" pitchFamily="82" charset="0"/>
              </a:rPr>
              <a:t>     </a:t>
            </a:r>
            <a:r>
              <a:rPr lang="en-US" sz="2500" dirty="0" err="1">
                <a:latin typeface="Harlow Solid Italic" panose="04030604020F02020D02" pitchFamily="82" charset="0"/>
              </a:rPr>
              <a:t>i</a:t>
            </a:r>
            <a:r>
              <a:rPr lang="en-US" sz="2500" dirty="0">
                <a:latin typeface="Harlow Solid Italic" panose="04030604020F02020D02" pitchFamily="82" charset="0"/>
              </a:rPr>
              <a:t> mod 2</a:t>
            </a:r>
            <a:r>
              <a:rPr lang="en-US" sz="2500" baseline="30000" dirty="0">
                <a:latin typeface="Harlow Solid Italic" panose="04030604020F02020D02" pitchFamily="82" charset="0"/>
              </a:rPr>
              <a:t>k</a:t>
            </a:r>
            <a:endParaRPr lang="en-US" sz="2500" dirty="0">
              <a:latin typeface="Harlow Solid Italic" panose="04030604020F02020D02" pitchFamily="82" charset="0"/>
            </a:endParaRPr>
          </a:p>
          <a:p>
            <a:r>
              <a:rPr lang="en-US" sz="2500" dirty="0"/>
              <a:t>For instance, with the four-block cache here, address </a:t>
            </a:r>
            <a:r>
              <a:rPr lang="en-US" sz="2500" dirty="0">
                <a:solidFill>
                  <a:srgbClr val="92D050"/>
                </a:solidFill>
              </a:rPr>
              <a:t>14</a:t>
            </a:r>
            <a:r>
              <a:rPr lang="en-US" sz="2500" dirty="0"/>
              <a:t> would map to cache block </a:t>
            </a:r>
            <a:r>
              <a:rPr lang="en-US" sz="2500" dirty="0">
                <a:solidFill>
                  <a:srgbClr val="92D050"/>
                </a:solidFill>
              </a:rPr>
              <a:t>2</a:t>
            </a:r>
          </a:p>
          <a:p>
            <a:r>
              <a:rPr lang="en-US" sz="2500" dirty="0">
                <a:solidFill>
                  <a:srgbClr val="92D050"/>
                </a:solidFill>
              </a:rPr>
              <a:t>14</a:t>
            </a:r>
            <a:r>
              <a:rPr lang="en-US" sz="2500" dirty="0"/>
              <a:t> mod 4 = </a:t>
            </a:r>
            <a:r>
              <a:rPr lang="en-US" sz="2500" dirty="0">
                <a:solidFill>
                  <a:srgbClr val="92D050"/>
                </a:solidFill>
              </a:rPr>
              <a:t>2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44CADD4-02E3-2864-261B-833A235855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B13859-67C5-4393-B6C2-556CF3F770C0}" type="datetime3">
              <a:rPr lang="en-US" smtClean="0"/>
              <a:t>25 March 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005E9A-3E8C-AACE-88C2-59E4981FB9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C3541-01C1-4CA5-B68F-FEE868C7D1AF}" type="slidenum">
              <a:rPr lang="en-US" smtClean="0"/>
              <a:t>22</a:t>
            </a:fld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2173DD90-4794-9BB3-530C-4F1144D2649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003265" y="1659215"/>
            <a:ext cx="3590272" cy="3433815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F62E8549-EC84-19BC-0013-CF46A7D25CE7}"/>
              </a:ext>
            </a:extLst>
          </p:cNvPr>
          <p:cNvSpPr txBox="1"/>
          <p:nvPr/>
        </p:nvSpPr>
        <p:spPr>
          <a:xfrm>
            <a:off x="5344954" y="5090726"/>
            <a:ext cx="1410177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dirty="0"/>
              <a:t>main memory 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061C981-8E6A-C0F7-8D83-132335387856}"/>
              </a:ext>
            </a:extLst>
          </p:cNvPr>
          <p:cNvSpPr txBox="1"/>
          <p:nvPr/>
        </p:nvSpPr>
        <p:spPr>
          <a:xfrm>
            <a:off x="7096820" y="5088755"/>
            <a:ext cx="141017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dirty="0"/>
              <a:t>cache</a:t>
            </a:r>
          </a:p>
        </p:txBody>
      </p:sp>
    </p:spTree>
    <p:extLst>
      <p:ext uri="{BB962C8B-B14F-4D97-AF65-F5344CB8AC3E}">
        <p14:creationId xmlns:p14="http://schemas.microsoft.com/office/powerpoint/2010/main" val="116233706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1B65C942-D956-1683-E264-0CAAC2AD806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03265" y="1609808"/>
            <a:ext cx="3590272" cy="3532629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2AF332AB-41F7-4D51-0A52-6EE0FEACDB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1: Where to put the data?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8CD73F3-A16D-EA4E-A352-6CBDC2F2CF0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2760" y="1447800"/>
            <a:ext cx="4405987" cy="636187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US" sz="2500" dirty="0">
                <a:solidFill>
                  <a:schemeClr val="accent4"/>
                </a:solidFill>
              </a:rPr>
              <a:t>Computing the mapping – least significant address bits</a:t>
            </a:r>
            <a:endParaRPr lang="en-US" sz="2500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44CADD4-02E3-2864-261B-833A235855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B13859-67C5-4393-B6C2-556CF3F770C0}" type="datetime3">
              <a:rPr lang="en-US" smtClean="0"/>
              <a:t>25 March 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005E9A-3E8C-AACE-88C2-59E4981FB9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C3541-01C1-4CA5-B68F-FEE868C7D1AF}" type="slidenum">
              <a:rPr lang="en-US" smtClean="0"/>
              <a:t>23</a:t>
            </a:fld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2173DD90-4794-9BB3-530C-4F1144D2649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003265" y="1678903"/>
            <a:ext cx="3590272" cy="3394439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F62E8549-EC84-19BC-0013-CF46A7D25CE7}"/>
              </a:ext>
            </a:extLst>
          </p:cNvPr>
          <p:cNvSpPr txBox="1"/>
          <p:nvPr/>
        </p:nvSpPr>
        <p:spPr>
          <a:xfrm>
            <a:off x="5344954" y="5090726"/>
            <a:ext cx="1410177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dirty="0"/>
              <a:t>main memory 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061C981-8E6A-C0F7-8D83-132335387856}"/>
              </a:ext>
            </a:extLst>
          </p:cNvPr>
          <p:cNvSpPr txBox="1"/>
          <p:nvPr/>
        </p:nvSpPr>
        <p:spPr>
          <a:xfrm>
            <a:off x="7096820" y="5088755"/>
            <a:ext cx="141017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dirty="0"/>
              <a:t>cache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4DE016B-D390-A788-1DAE-26A512DB9AF5}"/>
              </a:ext>
            </a:extLst>
          </p:cNvPr>
          <p:cNvSpPr txBox="1"/>
          <p:nvPr/>
        </p:nvSpPr>
        <p:spPr>
          <a:xfrm>
            <a:off x="92760" y="2287988"/>
            <a:ext cx="4659153" cy="3672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57175" indent="-257175"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bg1">
                    <a:lumMod val="50000"/>
                  </a:schemeClr>
                </a:solidFill>
                <a:latin typeface="+mj-lt"/>
              </a:rPr>
              <a:t>With our four-byte cache we would inspect the two least significant bits of our memory addresses</a:t>
            </a:r>
          </a:p>
          <a:p>
            <a:pPr marL="257175" indent="-257175"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bg1">
                    <a:lumMod val="50000"/>
                  </a:schemeClr>
                </a:solidFill>
                <a:latin typeface="+mj-lt"/>
              </a:rPr>
              <a:t>Address 14 (1110 in binary) maps to cache block 2 (10 in binary)</a:t>
            </a:r>
          </a:p>
          <a:p>
            <a:pPr marL="257175" indent="-257175"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bg1">
                    <a:lumMod val="50000"/>
                  </a:schemeClr>
                </a:solidFill>
                <a:latin typeface="+mj-lt"/>
              </a:rPr>
              <a:t>Taking the least k bits of a binary value is the same as computing that value mod 2</a:t>
            </a:r>
            <a:r>
              <a:rPr lang="en-US" sz="2400" baseline="30000" dirty="0">
                <a:solidFill>
                  <a:schemeClr val="bg1">
                    <a:lumMod val="50000"/>
                  </a:schemeClr>
                </a:solidFill>
                <a:latin typeface="+mj-lt"/>
              </a:rPr>
              <a:t>k</a:t>
            </a:r>
            <a:endParaRPr lang="en-US" sz="2400" dirty="0">
              <a:solidFill>
                <a:schemeClr val="bg1">
                  <a:lumMod val="50000"/>
                </a:schemeClr>
              </a:solidFill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7335714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12" grpId="0" build="p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345C1D-628D-F7D3-0065-74577D1865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2: How to find the data?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80C72CE-10D0-FC8F-87DA-44E95F18CC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B13859-67C5-4393-B6C2-556CF3F770C0}" type="datetime3">
              <a:rPr lang="en-US" smtClean="0"/>
              <a:t>25 March 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716C1EC-FACC-215C-402C-A8A6E1C06B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C3541-01C1-4CA5-B68F-FEE868C7D1AF}" type="slidenum">
              <a:rPr lang="en-US" smtClean="0"/>
              <a:t>24</a:t>
            </a:fld>
            <a:endParaRPr lang="en-US"/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CA5575BC-A3CC-E195-515D-1367B19B9B1A}"/>
              </a:ext>
            </a:extLst>
          </p:cNvPr>
          <p:cNvSpPr txBox="1">
            <a:spLocks/>
          </p:cNvSpPr>
          <p:nvPr/>
        </p:nvSpPr>
        <p:spPr>
          <a:xfrm>
            <a:off x="94575" y="1609809"/>
            <a:ext cx="5115996" cy="3963076"/>
          </a:xfrm>
          <a:prstGeom prst="rect">
            <a:avLst/>
          </a:prstGeom>
        </p:spPr>
        <p:txBody>
          <a:bodyPr vert="horz" lIns="68580" tIns="34290" rIns="68580" bIns="3429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When the CPU wants to read data at a particular main memory address, how can it check whether the cache contains the data?</a:t>
            </a:r>
          </a:p>
          <a:p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Problem: Different main memory locations map on to the same location in the cache</a:t>
            </a:r>
          </a:p>
          <a:p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For instance, cache block 2 could contain data from addresses 2, 6, 10 or 14</a:t>
            </a:r>
          </a:p>
          <a:p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Solution: Store ‘tags’ along with the data to identify the source</a:t>
            </a:r>
          </a:p>
          <a:p>
            <a:endParaRPr lang="en-US" dirty="0">
              <a:solidFill>
                <a:schemeClr val="bg1">
                  <a:lumMod val="50000"/>
                </a:schemeClr>
              </a:solidFill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E538F32D-7D8E-67F2-AA77-5C7D7AE54FE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257800" y="1631457"/>
            <a:ext cx="3590272" cy="3457298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89B4A9D6-072A-93CD-A5A0-7D5DA62E78B3}"/>
              </a:ext>
            </a:extLst>
          </p:cNvPr>
          <p:cNvSpPr txBox="1"/>
          <p:nvPr/>
        </p:nvSpPr>
        <p:spPr>
          <a:xfrm>
            <a:off x="5638800" y="5090726"/>
            <a:ext cx="1410177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dirty="0"/>
              <a:t>main memory 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7D17C89-2ECB-0BBA-DB0E-8B928F0A7375}"/>
              </a:ext>
            </a:extLst>
          </p:cNvPr>
          <p:cNvSpPr txBox="1"/>
          <p:nvPr/>
        </p:nvSpPr>
        <p:spPr>
          <a:xfrm>
            <a:off x="7390666" y="5088755"/>
            <a:ext cx="141017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dirty="0"/>
              <a:t>cache</a:t>
            </a:r>
          </a:p>
        </p:txBody>
      </p:sp>
    </p:spTree>
    <p:extLst>
      <p:ext uri="{BB962C8B-B14F-4D97-AF65-F5344CB8AC3E}">
        <p14:creationId xmlns:p14="http://schemas.microsoft.com/office/powerpoint/2010/main" val="12662369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build="p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345C1D-628D-F7D3-0065-74577D1865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2: How to find the data?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80C72CE-10D0-FC8F-87DA-44E95F18CC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B13859-67C5-4393-B6C2-556CF3F770C0}" type="datetime3">
              <a:rPr lang="en-US" smtClean="0"/>
              <a:t>25 March 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716C1EC-FACC-215C-402C-A8A6E1C06B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C3541-01C1-4CA5-B68F-FEE868C7D1AF}" type="slidenum">
              <a:rPr lang="en-US" smtClean="0"/>
              <a:t>25</a:t>
            </a:fld>
            <a:endParaRPr lang="en-US"/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CA5575BC-A3CC-E195-515D-1367B19B9B1A}"/>
              </a:ext>
            </a:extLst>
          </p:cNvPr>
          <p:cNvSpPr txBox="1">
            <a:spLocks/>
          </p:cNvSpPr>
          <p:nvPr/>
        </p:nvSpPr>
        <p:spPr>
          <a:xfrm>
            <a:off x="84065" y="1455642"/>
            <a:ext cx="4477425" cy="408385"/>
          </a:xfrm>
          <a:prstGeom prst="rect">
            <a:avLst/>
          </a:prstGeom>
        </p:spPr>
        <p:txBody>
          <a:bodyPr vert="horz" lIns="68580" tIns="34290" rIns="68580" bIns="3429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dirty="0">
                <a:solidFill>
                  <a:schemeClr val="accent4"/>
                </a:solidFill>
              </a:rPr>
              <a:t>What are the tags?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2DCBD990-5C3F-7EC3-50F9-399EB233462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74494" y="1910048"/>
            <a:ext cx="4595013" cy="2868129"/>
          </a:xfrm>
          <a:prstGeom prst="rect">
            <a:avLst/>
          </a:prstGeom>
        </p:spPr>
      </p:pic>
      <p:sp>
        <p:nvSpPr>
          <p:cNvPr id="12" name="Content Placeholder 2">
            <a:extLst>
              <a:ext uri="{FF2B5EF4-FFF2-40B4-BE49-F238E27FC236}">
                <a16:creationId xmlns:a16="http://schemas.microsoft.com/office/drawing/2014/main" id="{E98C5DBF-78A9-4E31-7B17-F2548C2E799B}"/>
              </a:ext>
            </a:extLst>
          </p:cNvPr>
          <p:cNvSpPr txBox="1">
            <a:spLocks/>
          </p:cNvSpPr>
          <p:nvPr/>
        </p:nvSpPr>
        <p:spPr>
          <a:xfrm>
            <a:off x="94575" y="5116005"/>
            <a:ext cx="3944025" cy="408385"/>
          </a:xfrm>
          <a:prstGeom prst="rect">
            <a:avLst/>
          </a:prstGeom>
        </p:spPr>
        <p:txBody>
          <a:bodyPr vert="horz" lIns="68580" tIns="34290" rIns="68580" bIns="3429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&lt;Tag&gt;&lt;index&gt; == main memory address!</a:t>
            </a: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66A5BA11-EB9E-9310-6D31-06A95599A1C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04720" y="4723905"/>
            <a:ext cx="5355790" cy="15244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773658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build="p"/>
      <p:bldP spid="12" grpId="0" build="p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345C1D-628D-F7D3-0065-74577D1865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2: How to find the data?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80C72CE-10D0-FC8F-87DA-44E95F18CC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B13859-67C5-4393-B6C2-556CF3F770C0}" type="datetime3">
              <a:rPr lang="en-US" smtClean="0"/>
              <a:t>25 March 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716C1EC-FACC-215C-402C-A8A6E1C06B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C3541-01C1-4CA5-B68F-FEE868C7D1AF}" type="slidenum">
              <a:rPr lang="en-US" smtClean="0"/>
              <a:t>26</a:t>
            </a:fld>
            <a:endParaRPr lang="en-US"/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CA5575BC-A3CC-E195-515D-1367B19B9B1A}"/>
              </a:ext>
            </a:extLst>
          </p:cNvPr>
          <p:cNvSpPr txBox="1">
            <a:spLocks/>
          </p:cNvSpPr>
          <p:nvPr/>
        </p:nvSpPr>
        <p:spPr>
          <a:xfrm>
            <a:off x="94575" y="1609809"/>
            <a:ext cx="4477425" cy="3963076"/>
          </a:xfrm>
          <a:prstGeom prst="rect">
            <a:avLst/>
          </a:prstGeom>
        </p:spPr>
        <p:txBody>
          <a:bodyPr vert="horz" lIns="68580" tIns="34290" rIns="68580" bIns="3429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dirty="0">
                <a:solidFill>
                  <a:schemeClr val="accent4"/>
                </a:solidFill>
              </a:rPr>
              <a:t>The valid bit</a:t>
            </a:r>
          </a:p>
          <a:p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The cache starts out empty, so how do we know if at any location, it is actual data or the default value?</a:t>
            </a:r>
          </a:p>
          <a:p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Add a ‘valid’ bit to each location: 0 means invalid and 1 means data is valid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2FC66D62-F6DF-A621-2430-2D45C162A5D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90800" y="4472212"/>
            <a:ext cx="6195102" cy="16138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301398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build="p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345C1D-628D-F7D3-0065-74577D1865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Taking advantage of spatial locality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80C72CE-10D0-FC8F-87DA-44E95F18CC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B13859-67C5-4393-B6C2-556CF3F770C0}" type="datetime3">
              <a:rPr lang="en-US" smtClean="0"/>
              <a:t>25 March 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716C1EC-FACC-215C-402C-A8A6E1C06B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C3541-01C1-4CA5-B68F-FEE868C7D1AF}" type="slidenum">
              <a:rPr lang="en-US" smtClean="0"/>
              <a:t>27</a:t>
            </a:fld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E538F32D-7D8E-67F2-AA77-5C7D7AE54FE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88390" y="2211522"/>
            <a:ext cx="3590272" cy="3457298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EBC32328-20B9-6B8D-A699-B526AC94A9D5}"/>
              </a:ext>
            </a:extLst>
          </p:cNvPr>
          <p:cNvSpPr txBox="1"/>
          <p:nvPr/>
        </p:nvSpPr>
        <p:spPr>
          <a:xfrm>
            <a:off x="602823" y="5984390"/>
            <a:ext cx="7938353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dirty="0">
                <a:solidFill>
                  <a:schemeClr val="accent2"/>
                </a:solidFill>
              </a:rPr>
              <a:t>Solution: make the cache block size larger than one byte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7C3C587-3CBB-8452-945A-042537A9222C}"/>
              </a:ext>
            </a:extLst>
          </p:cNvPr>
          <p:cNvSpPr txBox="1"/>
          <p:nvPr/>
        </p:nvSpPr>
        <p:spPr>
          <a:xfrm>
            <a:off x="917258" y="1429263"/>
            <a:ext cx="7938353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dirty="0">
                <a:solidFill>
                  <a:schemeClr val="accent2"/>
                </a:solidFill>
              </a:rPr>
              <a:t>If we access 0, we are likely to access 4 and perhaps 8 also… but we are keeping only one of them in the cache</a:t>
            </a: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30B12678-E3EC-A5A8-2E87-3495070F9F5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62439" y="2330546"/>
            <a:ext cx="4311358" cy="3457298"/>
          </a:xfrm>
          <a:prstGeom prst="rect">
            <a:avLst/>
          </a:prstGeom>
        </p:spPr>
      </p:pic>
      <p:sp>
        <p:nvSpPr>
          <p:cNvPr id="15" name="Arrow: Right 14">
            <a:extLst>
              <a:ext uri="{FF2B5EF4-FFF2-40B4-BE49-F238E27FC236}">
                <a16:creationId xmlns:a16="http://schemas.microsoft.com/office/drawing/2014/main" id="{E2A14A20-550F-5E74-180B-CEABA8D005C2}"/>
              </a:ext>
            </a:extLst>
          </p:cNvPr>
          <p:cNvSpPr/>
          <p:nvPr/>
        </p:nvSpPr>
        <p:spPr>
          <a:xfrm>
            <a:off x="3889603" y="3940170"/>
            <a:ext cx="390444" cy="276999"/>
          </a:xfrm>
          <a:prstGeom prst="rightArrow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08093C11-1E6A-6C62-89EC-2388C37F608A}"/>
              </a:ext>
            </a:extLst>
          </p:cNvPr>
          <p:cNvGrpSpPr/>
          <p:nvPr/>
        </p:nvGrpSpPr>
        <p:grpSpPr>
          <a:xfrm>
            <a:off x="4284850" y="2307836"/>
            <a:ext cx="1982072" cy="3413105"/>
            <a:chOff x="5713133" y="1275413"/>
            <a:chExt cx="2642762" cy="4550807"/>
          </a:xfrm>
        </p:grpSpPr>
        <p:pic>
          <p:nvPicPr>
            <p:cNvPr id="17" name="Picture 16">
              <a:extLst>
                <a:ext uri="{FF2B5EF4-FFF2-40B4-BE49-F238E27FC236}">
                  <a16:creationId xmlns:a16="http://schemas.microsoft.com/office/drawing/2014/main" id="{D6D390EF-97EC-313F-05FB-28243125A6F5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/>
            <a:srcRect r="12176"/>
            <a:stretch/>
          </p:blipFill>
          <p:spPr>
            <a:xfrm>
              <a:off x="5713133" y="1275413"/>
              <a:ext cx="2253577" cy="4550807"/>
            </a:xfrm>
            <a:prstGeom prst="rect">
              <a:avLst/>
            </a:prstGeom>
          </p:spPr>
        </p:pic>
        <p:pic>
          <p:nvPicPr>
            <p:cNvPr id="18" name="Picture 17">
              <a:extLst>
                <a:ext uri="{FF2B5EF4-FFF2-40B4-BE49-F238E27FC236}">
                  <a16:creationId xmlns:a16="http://schemas.microsoft.com/office/drawing/2014/main" id="{E8DD31F4-03C8-0DB0-9733-694FC953C978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/>
            <a:srcRect t="1616" r="-2991" b="88677"/>
            <a:stretch/>
          </p:blipFill>
          <p:spPr>
            <a:xfrm>
              <a:off x="5713133" y="1357060"/>
              <a:ext cx="2642762" cy="441752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3817888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2" grpId="0"/>
      <p:bldP spid="15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4DAF47-AB6D-76C5-1794-A8DED7E662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Locating a byte within the cache block – block offsets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9B96423-96AB-0833-99ED-3E8293553C5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B13859-67C5-4393-B6C2-556CF3F770C0}" type="datetime3">
              <a:rPr lang="en-US" smtClean="0"/>
              <a:t>25 March 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545919E-1851-D707-074A-3CB25DF8B8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C3541-01C1-4CA5-B68F-FEE868C7D1AF}" type="slidenum">
              <a:rPr lang="en-US" smtClean="0"/>
              <a:t>28</a:t>
            </a:fld>
            <a:endParaRPr lang="en-US"/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C44BCFFD-1B4D-2AEE-64FD-8C821294E763}"/>
              </a:ext>
            </a:extLst>
          </p:cNvPr>
          <p:cNvGrpSpPr/>
          <p:nvPr/>
        </p:nvGrpSpPr>
        <p:grpSpPr>
          <a:xfrm>
            <a:off x="4496462" y="1780315"/>
            <a:ext cx="4488947" cy="3480008"/>
            <a:chOff x="5713133" y="1252553"/>
            <a:chExt cx="5985262" cy="4640011"/>
          </a:xfrm>
        </p:grpSpPr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1F2DEC59-5566-C239-C184-6DE2F0D4AFCB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5949918" y="1282833"/>
              <a:ext cx="5748477" cy="4609731"/>
            </a:xfrm>
            <a:prstGeom prst="rect">
              <a:avLst/>
            </a:prstGeom>
          </p:spPr>
        </p:pic>
        <p:grpSp>
          <p:nvGrpSpPr>
            <p:cNvPr id="8" name="Group 7">
              <a:extLst>
                <a:ext uri="{FF2B5EF4-FFF2-40B4-BE49-F238E27FC236}">
                  <a16:creationId xmlns:a16="http://schemas.microsoft.com/office/drawing/2014/main" id="{9E4C6F30-762F-42ED-64A8-F42134D23449}"/>
                </a:ext>
              </a:extLst>
            </p:cNvPr>
            <p:cNvGrpSpPr/>
            <p:nvPr/>
          </p:nvGrpSpPr>
          <p:grpSpPr>
            <a:xfrm>
              <a:off x="5713133" y="1252553"/>
              <a:ext cx="2642762" cy="4550807"/>
              <a:chOff x="5713133" y="1275413"/>
              <a:chExt cx="2642762" cy="4550807"/>
            </a:xfrm>
          </p:grpSpPr>
          <p:pic>
            <p:nvPicPr>
              <p:cNvPr id="9" name="Picture 8">
                <a:extLst>
                  <a:ext uri="{FF2B5EF4-FFF2-40B4-BE49-F238E27FC236}">
                    <a16:creationId xmlns:a16="http://schemas.microsoft.com/office/drawing/2014/main" id="{61C39EE6-2B64-0D18-4273-8FCC54F91BB3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3"/>
              <a:srcRect r="12176"/>
              <a:stretch/>
            </p:blipFill>
            <p:spPr>
              <a:xfrm>
                <a:off x="5713133" y="1275413"/>
                <a:ext cx="2253577" cy="4550807"/>
              </a:xfrm>
              <a:prstGeom prst="rect">
                <a:avLst/>
              </a:prstGeom>
            </p:spPr>
          </p:pic>
          <p:pic>
            <p:nvPicPr>
              <p:cNvPr id="10" name="Picture 9">
                <a:extLst>
                  <a:ext uri="{FF2B5EF4-FFF2-40B4-BE49-F238E27FC236}">
                    <a16:creationId xmlns:a16="http://schemas.microsoft.com/office/drawing/2014/main" id="{7BD510E1-2B5F-1B8E-76BF-550C198BC658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3"/>
              <a:srcRect t="1616" r="-2991" b="88677"/>
              <a:stretch/>
            </p:blipFill>
            <p:spPr>
              <a:xfrm>
                <a:off x="5713133" y="1357060"/>
                <a:ext cx="2642762" cy="441752"/>
              </a:xfrm>
              <a:prstGeom prst="rect">
                <a:avLst/>
              </a:prstGeom>
            </p:spPr>
          </p:pic>
        </p:grpSp>
      </p:grpSp>
      <p:sp>
        <p:nvSpPr>
          <p:cNvPr id="13" name="TextBox 12">
            <a:extLst>
              <a:ext uri="{FF2B5EF4-FFF2-40B4-BE49-F238E27FC236}">
                <a16:creationId xmlns:a16="http://schemas.microsoft.com/office/drawing/2014/main" id="{81C2417A-DD2E-F34A-4DBB-84AAA663EE8F}"/>
              </a:ext>
            </a:extLst>
          </p:cNvPr>
          <p:cNvSpPr txBox="1"/>
          <p:nvPr/>
        </p:nvSpPr>
        <p:spPr>
          <a:xfrm>
            <a:off x="158591" y="1581327"/>
            <a:ext cx="4126259" cy="255454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dirty="0">
                <a:solidFill>
                  <a:schemeClr val="bg1">
                    <a:lumMod val="50000"/>
                  </a:schemeClr>
                </a:solidFill>
                <a:latin typeface="Trebuchet MS" panose="020B0603020202020204" pitchFamily="34" charset="0"/>
              </a:rPr>
              <a:t>Assume we have a cache with 2</a:t>
            </a:r>
            <a:r>
              <a:rPr lang="en-US" sz="2000" i="1" baseline="30000" dirty="0">
                <a:solidFill>
                  <a:schemeClr val="bg1">
                    <a:lumMod val="50000"/>
                  </a:schemeClr>
                </a:solidFill>
                <a:latin typeface="Trebuchet MS" panose="020B0603020202020204" pitchFamily="34" charset="0"/>
              </a:rPr>
              <a:t>k</a:t>
            </a:r>
            <a:r>
              <a:rPr lang="en-US" sz="2000" i="1" dirty="0">
                <a:solidFill>
                  <a:schemeClr val="bg1">
                    <a:lumMod val="50000"/>
                  </a:schemeClr>
                </a:solidFill>
                <a:latin typeface="Trebuchet MS" panose="020B0603020202020204" pitchFamily="34" charset="0"/>
              </a:rPr>
              <a:t> </a:t>
            </a:r>
            <a:r>
              <a:rPr lang="en-US" sz="2000" dirty="0">
                <a:solidFill>
                  <a:schemeClr val="bg1">
                    <a:lumMod val="50000"/>
                  </a:schemeClr>
                </a:solidFill>
                <a:latin typeface="Trebuchet MS" panose="020B0603020202020204" pitchFamily="34" charset="0"/>
              </a:rPr>
              <a:t>blocks, each containing 2</a:t>
            </a:r>
            <a:r>
              <a:rPr lang="en-US" sz="2000" i="1" baseline="30000" dirty="0">
                <a:solidFill>
                  <a:schemeClr val="bg1">
                    <a:lumMod val="50000"/>
                  </a:schemeClr>
                </a:solidFill>
                <a:latin typeface="Trebuchet MS" panose="020B0603020202020204" pitchFamily="34" charset="0"/>
              </a:rPr>
              <a:t>n</a:t>
            </a:r>
            <a:r>
              <a:rPr lang="en-US" sz="2000" i="1" dirty="0">
                <a:solidFill>
                  <a:schemeClr val="bg1">
                    <a:lumMod val="50000"/>
                  </a:schemeClr>
                </a:solidFill>
                <a:latin typeface="Trebuchet MS" panose="020B0603020202020204" pitchFamily="34" charset="0"/>
              </a:rPr>
              <a:t> </a:t>
            </a:r>
            <a:r>
              <a:rPr lang="en-US" sz="2000" dirty="0">
                <a:solidFill>
                  <a:schemeClr val="bg1">
                    <a:lumMod val="50000"/>
                  </a:schemeClr>
                </a:solidFill>
                <a:latin typeface="Trebuchet MS" panose="020B0603020202020204" pitchFamily="34" charset="0"/>
              </a:rPr>
              <a:t>bytes</a:t>
            </a:r>
          </a:p>
          <a:p>
            <a:endParaRPr lang="en-US" sz="2000" dirty="0">
              <a:solidFill>
                <a:schemeClr val="bg1">
                  <a:lumMod val="50000"/>
                </a:schemeClr>
              </a:solidFill>
              <a:latin typeface="Trebuchet MS" panose="020B0603020202020204" pitchFamily="34" charset="0"/>
            </a:endParaRPr>
          </a:p>
          <a:p>
            <a:pPr marL="257175" indent="-257175"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chemeClr val="bg1">
                    <a:lumMod val="50000"/>
                  </a:schemeClr>
                </a:solidFill>
              </a:rPr>
              <a:t> </a:t>
            </a:r>
            <a:r>
              <a:rPr lang="en-US" sz="2000" i="1" dirty="0">
                <a:solidFill>
                  <a:schemeClr val="bg1">
                    <a:lumMod val="50000"/>
                  </a:schemeClr>
                </a:solidFill>
                <a:latin typeface="Trebuchet MS" panose="020B0603020202020204" pitchFamily="34" charset="0"/>
              </a:rPr>
              <a:t>k </a:t>
            </a:r>
            <a:r>
              <a:rPr lang="en-US" sz="2000" dirty="0">
                <a:solidFill>
                  <a:schemeClr val="bg1">
                    <a:lumMod val="50000"/>
                  </a:schemeClr>
                </a:solidFill>
                <a:latin typeface="Trebuchet MS" panose="020B0603020202020204" pitchFamily="34" charset="0"/>
              </a:rPr>
              <a:t>bits of the address will select one of the 2</a:t>
            </a:r>
            <a:r>
              <a:rPr lang="en-US" sz="2000" i="1" baseline="30000" dirty="0">
                <a:solidFill>
                  <a:schemeClr val="bg1">
                    <a:lumMod val="50000"/>
                  </a:schemeClr>
                </a:solidFill>
                <a:latin typeface="Trebuchet MS" panose="020B0603020202020204" pitchFamily="34" charset="0"/>
              </a:rPr>
              <a:t>k</a:t>
            </a:r>
            <a:r>
              <a:rPr lang="en-US" sz="2000" i="1" dirty="0">
                <a:solidFill>
                  <a:schemeClr val="bg1">
                    <a:lumMod val="50000"/>
                  </a:schemeClr>
                </a:solidFill>
                <a:latin typeface="Trebuchet MS" panose="020B0603020202020204" pitchFamily="34" charset="0"/>
              </a:rPr>
              <a:t> </a:t>
            </a:r>
            <a:r>
              <a:rPr lang="en-US" sz="2000" dirty="0">
                <a:solidFill>
                  <a:schemeClr val="bg1">
                    <a:lumMod val="50000"/>
                  </a:schemeClr>
                </a:solidFill>
                <a:latin typeface="Trebuchet MS" panose="020B0603020202020204" pitchFamily="34" charset="0"/>
              </a:rPr>
              <a:t>cache blocks</a:t>
            </a:r>
          </a:p>
          <a:p>
            <a:pPr marL="257175" indent="-257175">
              <a:buFont typeface="Arial" panose="020B0604020202020204" pitchFamily="34" charset="0"/>
              <a:buChar char="•"/>
            </a:pPr>
            <a:endParaRPr lang="en-US" sz="2000" dirty="0">
              <a:solidFill>
                <a:schemeClr val="bg1">
                  <a:lumMod val="50000"/>
                </a:schemeClr>
              </a:solidFill>
              <a:latin typeface="Trebuchet MS" panose="020B0603020202020204" pitchFamily="34" charset="0"/>
            </a:endParaRPr>
          </a:p>
          <a:p>
            <a:pPr marL="257175" indent="-257175"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chemeClr val="bg1">
                    <a:lumMod val="50000"/>
                  </a:schemeClr>
                </a:solidFill>
                <a:latin typeface="Trebuchet MS" panose="020B0603020202020204" pitchFamily="34" charset="0"/>
              </a:rPr>
              <a:t>The lowest </a:t>
            </a:r>
            <a:r>
              <a:rPr lang="en-US" sz="2000" i="1" dirty="0">
                <a:solidFill>
                  <a:schemeClr val="bg1">
                    <a:lumMod val="50000"/>
                  </a:schemeClr>
                </a:solidFill>
                <a:latin typeface="Trebuchet MS" panose="020B0603020202020204" pitchFamily="34" charset="0"/>
              </a:rPr>
              <a:t>n </a:t>
            </a:r>
            <a:r>
              <a:rPr lang="en-US" sz="2000" dirty="0">
                <a:solidFill>
                  <a:schemeClr val="bg1">
                    <a:lumMod val="50000"/>
                  </a:schemeClr>
                </a:solidFill>
                <a:latin typeface="Trebuchet MS" panose="020B0603020202020204" pitchFamily="34" charset="0"/>
              </a:rPr>
              <a:t>bits are a block offset within the block</a:t>
            </a:r>
            <a:endParaRPr lang="en-US" sz="2000" dirty="0">
              <a:solidFill>
                <a:schemeClr val="bg1">
                  <a:lumMod val="50000"/>
                </a:schemeClr>
              </a:solidFill>
            </a:endParaRP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053B6BE4-962D-5B9F-5A18-6EC7FEEADBB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652" y="4614911"/>
            <a:ext cx="4553026" cy="660497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6E49838E-D9E3-135A-4B07-9EA3BCDE7FE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628" y="5613350"/>
            <a:ext cx="4676316" cy="6957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313272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build="p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EE59D9-2C44-C005-3E76-89C7BE05CE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 circuit to implement direct-addressed cache</a:t>
            </a:r>
          </a:p>
        </p:txBody>
      </p: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FCBF78BE-6925-43AB-A87C-6243C7C6F47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469871" y="1421479"/>
            <a:ext cx="6204258" cy="5068703"/>
          </a:xfr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CE1E83F-7690-D1A1-324B-64376996051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B13859-67C5-4393-B6C2-556CF3F770C0}" type="datetime3">
              <a:rPr lang="en-US" smtClean="0"/>
              <a:t>25 March 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FE6AB75-F6EF-71B8-FDC1-2DFD94FFA3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C3541-01C1-4CA5-B68F-FEE868C7D1AF}" type="slidenum">
              <a:rPr lang="en-US" smtClean="0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39686274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EE59D9-2C44-C005-3E76-89C7BE05CE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 circuit to implement direct-addressed cache</a:t>
            </a:r>
          </a:p>
        </p:txBody>
      </p: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FCBF78BE-6925-43AB-A87C-6243C7C6F47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33400" y="1464652"/>
            <a:ext cx="8077200" cy="4919294"/>
          </a:xfr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CE1E83F-7690-D1A1-324B-64376996051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B13859-67C5-4393-B6C2-556CF3F770C0}" type="datetime3">
              <a:rPr lang="en-US" smtClean="0"/>
              <a:t>25 March 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FE6AB75-F6EF-71B8-FDC1-2DFD94FFA3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C3541-01C1-4CA5-B68F-FEE868C7D1AF}" type="slidenum">
              <a:rPr lang="en-US" smtClean="0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9492148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6D68A6-542E-4E82-68D2-F9306E93D6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Disadvantage of direct mapped cache</a:t>
            </a:r>
          </a:p>
        </p:txBody>
      </p: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284B6F7C-5FA6-5E17-E150-B45E5B4DD0F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428439" y="1570309"/>
            <a:ext cx="6287123" cy="3982388"/>
          </a:xfr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FFBE141-81EF-A44C-1718-5827A7831B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B13859-67C5-4393-B6C2-556CF3F770C0}" type="datetime3">
              <a:rPr lang="en-US" smtClean="0"/>
              <a:t>25 March 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ED567B5-0E87-AAB2-05A1-A36BF7F9A1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C3541-01C1-4CA5-B68F-FEE868C7D1AF}" type="slidenum">
              <a:rPr lang="en-US" smtClean="0"/>
              <a:t>31</a:t>
            </a:fld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81C51C2-2530-1759-7298-07B6E22734B6}"/>
              </a:ext>
            </a:extLst>
          </p:cNvPr>
          <p:cNvSpPr txBox="1"/>
          <p:nvPr/>
        </p:nvSpPr>
        <p:spPr>
          <a:xfrm>
            <a:off x="94575" y="4444701"/>
            <a:ext cx="4583316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Rendered ineffective!</a:t>
            </a:r>
          </a:p>
          <a:p>
            <a:endParaRPr lang="en-US" dirty="0"/>
          </a:p>
          <a:p>
            <a:r>
              <a:rPr lang="en-US" dirty="0"/>
              <a:t>Cache may also be wasted – empty slots</a:t>
            </a:r>
          </a:p>
          <a:p>
            <a:endParaRPr lang="en-US" dirty="0"/>
          </a:p>
          <a:p>
            <a:r>
              <a:rPr lang="en-US" dirty="0"/>
              <a:t>What about replacement policy? Do we need one?</a:t>
            </a:r>
          </a:p>
        </p:txBody>
      </p:sp>
    </p:spTree>
    <p:extLst>
      <p:ext uri="{BB962C8B-B14F-4D97-AF65-F5344CB8AC3E}">
        <p14:creationId xmlns:p14="http://schemas.microsoft.com/office/powerpoint/2010/main" val="29726137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build="p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7A04E5-DA1B-64C2-D3A5-440AF6E0D5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Fully associative caches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E9E3394-85B8-086A-3EAB-82A2EDF0221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4576" y="1416214"/>
            <a:ext cx="8972549" cy="4156670"/>
          </a:xfrm>
        </p:spPr>
        <p:txBody>
          <a:bodyPr>
            <a:normAutofit fontScale="55000" lnSpcReduction="20000"/>
          </a:bodyPr>
          <a:lstStyle/>
          <a:p>
            <a:pPr marL="0" indent="0">
              <a:buNone/>
            </a:pPr>
            <a:r>
              <a:rPr lang="en-US" dirty="0"/>
              <a:t>Store data in any (unused) cache block (where to put the data)</a:t>
            </a:r>
          </a:p>
          <a:p>
            <a:pPr marL="0" indent="0">
              <a:buNone/>
            </a:pPr>
            <a:endParaRPr lang="en-US" sz="450" dirty="0"/>
          </a:p>
          <a:p>
            <a:pPr marL="0" indent="0">
              <a:buNone/>
            </a:pPr>
            <a:r>
              <a:rPr lang="en-US" dirty="0"/>
              <a:t>What is the trade-off here?</a:t>
            </a:r>
          </a:p>
          <a:p>
            <a:pPr marL="0" indent="0">
              <a:buNone/>
            </a:pPr>
            <a:endParaRPr lang="en-US" sz="450" dirty="0"/>
          </a:p>
          <a:p>
            <a:r>
              <a:rPr lang="en-US" dirty="0"/>
              <a:t>How to find data?</a:t>
            </a:r>
          </a:p>
          <a:p>
            <a:r>
              <a:rPr lang="en-US" dirty="0"/>
              <a:t>Entire address must be used as </a:t>
            </a:r>
            <a:r>
              <a:rPr lang="en-US" i="1" dirty="0"/>
              <a:t>tag</a:t>
            </a:r>
            <a:r>
              <a:rPr lang="en-US" dirty="0"/>
              <a:t> (more cache ‘wasted’)</a:t>
            </a:r>
          </a:p>
          <a:p>
            <a:r>
              <a:rPr lang="en-US" dirty="0"/>
              <a:t>Data can be in any cache block, so each tag must be compared</a:t>
            </a:r>
            <a:br>
              <a:rPr lang="en-US" dirty="0"/>
            </a:br>
            <a:r>
              <a:rPr lang="en-US" dirty="0"/>
              <a:t>to the address to check</a:t>
            </a:r>
            <a:br>
              <a:rPr lang="en-US" dirty="0"/>
            </a:br>
            <a:r>
              <a:rPr lang="en-US" dirty="0"/>
              <a:t>if data is available in</a:t>
            </a:r>
            <a:br>
              <a:rPr lang="en-US" dirty="0"/>
            </a:br>
            <a:r>
              <a:rPr lang="en-US" dirty="0"/>
              <a:t>the cache!</a:t>
            </a:r>
          </a:p>
          <a:p>
            <a:r>
              <a:rPr lang="en-US" dirty="0"/>
              <a:t>How many comparators</a:t>
            </a:r>
            <a:br>
              <a:rPr lang="en-US" dirty="0"/>
            </a:br>
            <a:r>
              <a:rPr lang="en-US" dirty="0"/>
              <a:t>do you need?</a:t>
            </a:r>
          </a:p>
          <a:p>
            <a:r>
              <a:rPr lang="en-US" dirty="0"/>
              <a:t>= # cache blocks</a:t>
            </a:r>
          </a:p>
          <a:p>
            <a:r>
              <a:rPr lang="en-US" dirty="0"/>
              <a:t>How parallel?</a:t>
            </a:r>
          </a:p>
          <a:p>
            <a:r>
              <a:rPr lang="en-US" dirty="0"/>
              <a:t>Content Associative</a:t>
            </a:r>
            <a:br>
              <a:rPr lang="en-US" dirty="0"/>
            </a:br>
            <a:r>
              <a:rPr lang="en-US" dirty="0"/>
              <a:t>Memory – expensive and</a:t>
            </a:r>
            <a:br>
              <a:rPr lang="en-US" dirty="0"/>
            </a:br>
            <a:r>
              <a:rPr lang="en-US" dirty="0"/>
              <a:t>power hungry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A42AE74-8D05-C4B3-FABE-A3823C2A231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B13859-67C5-4393-B6C2-556CF3F770C0}" type="datetime3">
              <a:rPr lang="en-US" smtClean="0"/>
              <a:t>25 March 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848485D-BDD8-E9BA-292D-0F23DB6F3E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C3541-01C1-4CA5-B68F-FEE868C7D1AF}" type="slidenum">
              <a:rPr lang="en-US" smtClean="0"/>
              <a:t>32</a:t>
            </a:fld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C12DF332-CDF8-AAF1-33BB-12A7F871FCB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91525" y="911459"/>
            <a:ext cx="2857899" cy="2822175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992726B4-A678-77E5-F334-56BEE8CED78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59999" y="3396060"/>
            <a:ext cx="4414325" cy="22766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877730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FB8D6A-F85D-F339-7479-94C44C8948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Set associative caches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EF1A6B4-21A0-E974-3F56-1E403C317B2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Somewhere in between direct mapped and fully associative caches</a:t>
            </a:r>
          </a:p>
          <a:p>
            <a:r>
              <a:rPr lang="en-US" dirty="0"/>
              <a:t>Cache divided into </a:t>
            </a:r>
            <a:r>
              <a:rPr lang="en-US" i="1" dirty="0"/>
              <a:t>groups</a:t>
            </a:r>
            <a:r>
              <a:rPr lang="en-US" dirty="0"/>
              <a:t> of blocks called </a:t>
            </a:r>
            <a:r>
              <a:rPr lang="en-US" i="1" dirty="0"/>
              <a:t>sets</a:t>
            </a:r>
            <a:endParaRPr lang="en-US" dirty="0"/>
          </a:p>
          <a:p>
            <a:r>
              <a:rPr lang="en-US" dirty="0"/>
              <a:t>Each memory address maps to exactly one set, but it can be in any block within the set</a:t>
            </a:r>
          </a:p>
          <a:p>
            <a:r>
              <a:rPr lang="en-US" dirty="0"/>
              <a:t>If each set has 2</a:t>
            </a:r>
            <a:r>
              <a:rPr lang="en-US" baseline="30000" dirty="0"/>
              <a:t>x</a:t>
            </a:r>
            <a:r>
              <a:rPr lang="en-US" dirty="0"/>
              <a:t> blocks, it is said to be 2</a:t>
            </a:r>
            <a:r>
              <a:rPr lang="en-US" baseline="30000" dirty="0"/>
              <a:t>x</a:t>
            </a:r>
            <a:r>
              <a:rPr lang="en-US" dirty="0"/>
              <a:t>-way associative cache</a:t>
            </a:r>
          </a:p>
          <a:p>
            <a:r>
              <a:rPr lang="en-US" dirty="0"/>
              <a:t>Example: we have a cache with 8 blocks: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5ED5654-18E5-C28C-B372-6C703041AC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B13859-67C5-4393-B6C2-556CF3F770C0}" type="datetime3">
              <a:rPr lang="en-US" smtClean="0"/>
              <a:t>25 March 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91A9CA0-82C3-9CA0-A0C4-9C752A63F3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C3541-01C1-4CA5-B68F-FEE868C7D1AF}" type="slidenum">
              <a:rPr lang="en-US" smtClean="0"/>
              <a:t>33</a:t>
            </a:fld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360EC4A4-CA7B-1ACD-733F-65359D14117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10582" y="3300809"/>
            <a:ext cx="5322836" cy="24292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448558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6EBB33-5082-6171-C468-A209DB6B05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1: Where to put the data (set associative caches)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32DB5F-7B5A-613A-2C71-7575BA00827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What set does the data belong to? Within the set it can be put anywhere</a:t>
            </a:r>
          </a:p>
          <a:p>
            <a:endParaRPr lang="en-US" dirty="0"/>
          </a:p>
          <a:p>
            <a:r>
              <a:rPr lang="en-US" dirty="0"/>
              <a:t>Assume the cache has 2</a:t>
            </a:r>
            <a:r>
              <a:rPr lang="en-US" baseline="30000" dirty="0"/>
              <a:t>s</a:t>
            </a:r>
            <a:r>
              <a:rPr lang="en-US" dirty="0"/>
              <a:t> sets, and each block has 2</a:t>
            </a:r>
            <a:r>
              <a:rPr lang="en-US" baseline="30000" dirty="0"/>
              <a:t>n</a:t>
            </a:r>
            <a:r>
              <a:rPr lang="en-US" dirty="0"/>
              <a:t> bytes</a:t>
            </a:r>
          </a:p>
          <a:p>
            <a:r>
              <a:rPr lang="en-US" dirty="0"/>
              <a:t>This means all memory address blocks must map to one of the 2</a:t>
            </a:r>
            <a:r>
              <a:rPr lang="en-US" baseline="30000" dirty="0"/>
              <a:t>s</a:t>
            </a:r>
            <a:r>
              <a:rPr lang="en-US" dirty="0"/>
              <a:t> sets</a:t>
            </a:r>
          </a:p>
          <a:p>
            <a:r>
              <a:rPr lang="en-US" dirty="0" err="1"/>
              <a:t>ie</a:t>
            </a:r>
            <a:r>
              <a:rPr lang="en-US" dirty="0"/>
              <a:t> least s bits of address determine the set address (set index)</a:t>
            </a:r>
          </a:p>
          <a:p>
            <a:r>
              <a:rPr lang="en-US" dirty="0"/>
              <a:t>But…</a:t>
            </a:r>
          </a:p>
          <a:p>
            <a:r>
              <a:rPr lang="en-US" dirty="0"/>
              <a:t>Least n bits of address determine the block offset within the block</a:t>
            </a:r>
          </a:p>
          <a:p>
            <a:r>
              <a:rPr lang="en-US" dirty="0"/>
              <a:t>So the next s bits give the set and the remaining bits will be tag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905830C-84D5-5560-165F-8C3F045AB4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B13859-67C5-4393-B6C2-556CF3F770C0}" type="datetime3">
              <a:rPr lang="en-US" smtClean="0"/>
              <a:t>25 March 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B83D5D1-E3F6-B776-A1B9-30764E0653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ELL305: Computer Architecture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FE91DFF-8D44-B7A3-5246-0DACC9E81F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C3541-01C1-4CA5-B68F-FEE868C7D1AF}" type="slidenum">
              <a:rPr lang="en-US" smtClean="0"/>
              <a:t>34</a:t>
            </a:fld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B325BE5D-0BBE-B61A-9F67-D245189EA40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27593" y="959644"/>
            <a:ext cx="1521831" cy="2472083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2688A5C5-76FC-0C03-3DC7-BF115F765D7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6431" y="4605164"/>
            <a:ext cx="4351151" cy="643028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7386D634-CA58-8DAE-4CDD-3E9E1CC88A8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49751" y="4401539"/>
            <a:ext cx="3465203" cy="10502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545508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843DC9-A8DE-6CBF-1879-203535B3D9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2: How to find the data?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BAD21D2-4D4C-BCCB-FA35-F7FDBF817BA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4576" y="1609809"/>
            <a:ext cx="8972549" cy="4062889"/>
          </a:xfrm>
        </p:spPr>
        <p:txBody>
          <a:bodyPr>
            <a:normAutofit fontScale="62500" lnSpcReduction="20000"/>
          </a:bodyPr>
          <a:lstStyle/>
          <a:p>
            <a:pPr marL="0" indent="0">
              <a:buNone/>
            </a:pPr>
            <a:r>
              <a:rPr lang="en-US" dirty="0"/>
              <a:t>We want to find data with memory address 6195 (just an example); cache has 8 blocks with 16 bytes per block</a:t>
            </a:r>
          </a:p>
          <a:p>
            <a:r>
              <a:rPr lang="en-US" dirty="0"/>
              <a:t>6195 in binary is </a:t>
            </a:r>
            <a:r>
              <a:rPr lang="en-US" sz="1350" dirty="0">
                <a:solidFill>
                  <a:srgbClr val="000000"/>
                </a:solidFill>
                <a:latin typeface="Trebuchet MS" panose="020B0603020202020204" pitchFamily="34" charset="0"/>
              </a:rPr>
              <a:t>00...0110000 </a:t>
            </a:r>
            <a:r>
              <a:rPr lang="en-US" sz="1350" dirty="0">
                <a:solidFill>
                  <a:schemeClr val="accent4">
                    <a:lumMod val="60000"/>
                    <a:lumOff val="40000"/>
                  </a:schemeClr>
                </a:solidFill>
                <a:latin typeface="Trebuchet MS" panose="020B0603020202020204" pitchFamily="34" charset="0"/>
              </a:rPr>
              <a:t>0</a:t>
            </a:r>
            <a:r>
              <a:rPr lang="en-US" sz="1350" dirty="0">
                <a:solidFill>
                  <a:schemeClr val="accent2">
                    <a:lumMod val="75000"/>
                  </a:schemeClr>
                </a:solidFill>
                <a:latin typeface="Trebuchet MS" panose="020B0603020202020204" pitchFamily="34" charset="0"/>
              </a:rPr>
              <a:t>1</a:t>
            </a:r>
            <a:r>
              <a:rPr lang="en-US" sz="1350" dirty="0">
                <a:solidFill>
                  <a:schemeClr val="accent6">
                    <a:lumMod val="60000"/>
                    <a:lumOff val="40000"/>
                  </a:schemeClr>
                </a:solidFill>
                <a:latin typeface="Trebuchet MS" panose="020B0603020202020204" pitchFamily="34" charset="0"/>
              </a:rPr>
              <a:t>1</a:t>
            </a:r>
            <a:r>
              <a:rPr lang="en-US" sz="1350" dirty="0">
                <a:solidFill>
                  <a:srgbClr val="00CC00"/>
                </a:solidFill>
                <a:latin typeface="Trebuchet MS" panose="020B0603020202020204" pitchFamily="34" charset="0"/>
              </a:rPr>
              <a:t> </a:t>
            </a:r>
            <a:r>
              <a:rPr lang="en-US" sz="1350" dirty="0">
                <a:solidFill>
                  <a:srgbClr val="3333FF"/>
                </a:solidFill>
                <a:latin typeface="Trebuchet MS" panose="020B0603020202020204" pitchFamily="34" charset="0"/>
              </a:rPr>
              <a:t>0011</a:t>
            </a:r>
            <a:endParaRPr lang="en-US" dirty="0"/>
          </a:p>
          <a:p>
            <a:r>
              <a:rPr lang="en-US" dirty="0"/>
              <a:t>How many bits is the block offset?</a:t>
            </a:r>
          </a:p>
          <a:p>
            <a:r>
              <a:rPr lang="en-US" dirty="0"/>
              <a:t>4</a:t>
            </a:r>
          </a:p>
          <a:p>
            <a:r>
              <a:rPr lang="en-US" dirty="0"/>
              <a:t>How many sets do we have for 1-way, 2-way and 4-way designs?</a:t>
            </a:r>
          </a:p>
          <a:p>
            <a:r>
              <a:rPr lang="en-US" dirty="0"/>
              <a:t>8, 4 and 2</a:t>
            </a:r>
          </a:p>
          <a:p>
            <a:r>
              <a:rPr lang="en-US" dirty="0"/>
              <a:t>How many bits do we need for set index?</a:t>
            </a:r>
          </a:p>
          <a:p>
            <a:r>
              <a:rPr lang="en-US" dirty="0"/>
              <a:t>3, 2 and 1</a:t>
            </a:r>
          </a:p>
          <a:p>
            <a:r>
              <a:rPr lang="en-US" dirty="0"/>
              <a:t>Set index for our address will be:</a:t>
            </a:r>
          </a:p>
          <a:p>
            <a:r>
              <a:rPr lang="en-US" dirty="0">
                <a:solidFill>
                  <a:schemeClr val="accent4">
                    <a:lumMod val="60000"/>
                    <a:lumOff val="40000"/>
                  </a:schemeClr>
                </a:solidFill>
                <a:latin typeface="Trebuchet MS" panose="020B0603020202020204" pitchFamily="34" charset="0"/>
              </a:rPr>
              <a:t>0</a:t>
            </a:r>
            <a:r>
              <a:rPr lang="en-US" dirty="0">
                <a:solidFill>
                  <a:schemeClr val="accent2">
                    <a:lumMod val="75000"/>
                  </a:schemeClr>
                </a:solidFill>
                <a:latin typeface="Trebuchet MS" panose="020B0603020202020204" pitchFamily="34" charset="0"/>
              </a:rPr>
              <a:t>1</a:t>
            </a:r>
            <a:r>
              <a:rPr lang="en-US" dirty="0">
                <a:solidFill>
                  <a:schemeClr val="accent6">
                    <a:lumMod val="60000"/>
                    <a:lumOff val="40000"/>
                  </a:schemeClr>
                </a:solidFill>
                <a:latin typeface="Trebuchet MS" panose="020B0603020202020204" pitchFamily="34" charset="0"/>
              </a:rPr>
              <a:t>1</a:t>
            </a:r>
            <a:r>
              <a:rPr lang="en-US" dirty="0"/>
              <a:t> for 1-way; </a:t>
            </a:r>
            <a:r>
              <a:rPr lang="en-US" dirty="0">
                <a:solidFill>
                  <a:schemeClr val="accent2">
                    <a:lumMod val="75000"/>
                  </a:schemeClr>
                </a:solidFill>
                <a:latin typeface="Trebuchet MS" panose="020B0603020202020204" pitchFamily="34" charset="0"/>
              </a:rPr>
              <a:t>1</a:t>
            </a:r>
            <a:r>
              <a:rPr lang="en-US" dirty="0">
                <a:solidFill>
                  <a:schemeClr val="accent6">
                    <a:lumMod val="60000"/>
                    <a:lumOff val="40000"/>
                  </a:schemeClr>
                </a:solidFill>
                <a:latin typeface="Trebuchet MS" panose="020B0603020202020204" pitchFamily="34" charset="0"/>
              </a:rPr>
              <a:t>1</a:t>
            </a:r>
            <a:r>
              <a:rPr lang="en-US" dirty="0"/>
              <a:t> for 2-way; and </a:t>
            </a:r>
            <a:r>
              <a:rPr lang="en-US" dirty="0">
                <a:solidFill>
                  <a:schemeClr val="accent6">
                    <a:lumMod val="60000"/>
                    <a:lumOff val="40000"/>
                  </a:schemeClr>
                </a:solidFill>
                <a:latin typeface="Trebuchet MS" panose="020B0603020202020204" pitchFamily="34" charset="0"/>
              </a:rPr>
              <a:t>1</a:t>
            </a:r>
            <a:r>
              <a:rPr lang="en-US" dirty="0"/>
              <a:t> for 4-way</a:t>
            </a:r>
          </a:p>
          <a:p>
            <a:r>
              <a:rPr lang="en-US" dirty="0"/>
              <a:t>Data can go in any block within the set</a:t>
            </a:r>
          </a:p>
          <a:p>
            <a:r>
              <a:rPr lang="en-US" dirty="0"/>
              <a:t>Found by searching for </a:t>
            </a:r>
            <a:r>
              <a:rPr lang="en-US" i="1" dirty="0"/>
              <a:t>tag</a:t>
            </a:r>
            <a:r>
              <a:rPr lang="en-US" dirty="0"/>
              <a:t>!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7B95302-8A43-D6EA-0C26-A85423E6BA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B13859-67C5-4393-B6C2-556CF3F770C0}" type="datetime3">
              <a:rPr lang="en-US" smtClean="0"/>
              <a:t>25 March 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57506C1-CE49-48A7-A649-D221E44CD4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ELL305: Computer Architecture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1DFFDE0-770E-622C-EBB0-2FF5670F53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C3541-01C1-4CA5-B68F-FEE868C7D1AF}" type="slidenum">
              <a:rPr lang="en-US" smtClean="0"/>
              <a:t>35</a:t>
            </a:fld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5B1146A4-022B-9C24-D6B0-79AA37AEA20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43188" y="891290"/>
            <a:ext cx="3100812" cy="458249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2A545C24-0164-6691-3DB2-12219120548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63325" y="4264276"/>
            <a:ext cx="3086100" cy="1408421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45FEA814-19A0-0273-C524-A8950636D0C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14176" y="4314873"/>
            <a:ext cx="3142039" cy="1357825"/>
          </a:xfrm>
          <a:prstGeom prst="rect">
            <a:avLst/>
          </a:prstGeom>
        </p:spPr>
      </p:pic>
      <mc:AlternateContent xmlns:mc="http://schemas.openxmlformats.org/markup-compatibility/2006" xmlns:p14="http://schemas.microsoft.com/office/powerpoint/2010/main">
        <mc:Choice Requires="p14">
          <p:contentPart p14:bwMode="auto" r:id="rId5">
            <p14:nvContentPartPr>
              <p14:cNvPr id="9" name="Ink 8">
                <a:extLst>
                  <a:ext uri="{FF2B5EF4-FFF2-40B4-BE49-F238E27FC236}">
                    <a16:creationId xmlns:a16="http://schemas.microsoft.com/office/drawing/2014/main" id="{43289E4B-03D8-2AD7-227A-87DB3E5AAF8D}"/>
                  </a:ext>
                </a:extLst>
              </p14:cNvPr>
              <p14:cNvContentPartPr/>
              <p14:nvPr/>
            </p14:nvContentPartPr>
            <p14:xfrm>
              <a:off x="6210270" y="4729050"/>
              <a:ext cx="328860" cy="124200"/>
            </p14:xfrm>
          </p:contentPart>
        </mc:Choice>
        <mc:Fallback xmlns="">
          <p:pic>
            <p:nvPicPr>
              <p:cNvPr id="9" name="Ink 8">
                <a:extLst>
                  <a:ext uri="{FF2B5EF4-FFF2-40B4-BE49-F238E27FC236}">
                    <a16:creationId xmlns:a16="http://schemas.microsoft.com/office/drawing/2014/main" id="{43289E4B-03D8-2AD7-227A-87DB3E5AAF8D}"/>
                  </a:ext>
                </a:extLst>
              </p:cNvPr>
              <p:cNvPicPr/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6200915" y="4719690"/>
                <a:ext cx="347570" cy="14292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444701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D9DB7C-84CD-7ADF-AB93-6938A82A48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Implementation of a set-associative cache</a:t>
            </a:r>
          </a:p>
        </p:txBody>
      </p: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E91BFA84-8D59-939F-8AE0-92AFFBC4C0B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600578" y="1464219"/>
            <a:ext cx="5942844" cy="4208479"/>
          </a:xfr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3AF9D26-C556-930B-0F78-94046C820C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B13859-67C5-4393-B6C2-556CF3F770C0}" type="datetime3">
              <a:rPr lang="en-US" smtClean="0"/>
              <a:t>25 March 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3660FE9-593C-1859-2BB0-EC510169C2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ELL305: Computer Architecture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1F126A1-1D3A-7CA6-879F-DEFF1F29B7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C3541-01C1-4CA5-B68F-FEE868C7D1AF}" type="slidenum">
              <a:rPr lang="en-US" smtClean="0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25008600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C062DA-7170-2A01-E9CC-D0F233D0B0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Set associative caches are a general idea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FF78B30-8D68-D7D3-A4CB-051FB0A78A5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4576" y="4075758"/>
            <a:ext cx="8972549" cy="1497127"/>
          </a:xfrm>
        </p:spPr>
        <p:txBody>
          <a:bodyPr/>
          <a:lstStyle/>
          <a:p>
            <a:r>
              <a:rPr lang="en-US" dirty="0"/>
              <a:t>1- way set associative == direct mapped</a:t>
            </a:r>
          </a:p>
          <a:p>
            <a:r>
              <a:rPr lang="en-US" dirty="0"/>
              <a:t>If a cache has 2</a:t>
            </a:r>
            <a:r>
              <a:rPr lang="en-US" baseline="30000" dirty="0"/>
              <a:t>k</a:t>
            </a:r>
            <a:r>
              <a:rPr lang="en-US" dirty="0"/>
              <a:t> blocks, a 2k-way set associative cache would be the same as a fully-associative cache.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C62DCD4-7543-707F-638E-FB4B91BFF1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B13859-67C5-4393-B6C2-556CF3F770C0}" type="datetime3">
              <a:rPr lang="en-US" smtClean="0"/>
              <a:t>25 March 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BB8008-42A0-652D-AC83-C753ECB318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ELL305: Computer Architecture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0B65379-F8DD-C74C-727C-D7EB93AAA6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C3541-01C1-4CA5-B68F-FEE868C7D1AF}" type="slidenum">
              <a:rPr lang="en-US" smtClean="0"/>
              <a:t>37</a:t>
            </a:fld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0192A1C3-0F68-F0E8-F5AB-84B68FEBBD1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52260" y="1575870"/>
            <a:ext cx="5457179" cy="2125938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686E2BF1-D408-FA01-6D3B-6CF0AC72BD7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70979" y="3647488"/>
            <a:ext cx="5255537" cy="2597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180170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DE926D-FA53-3A73-038B-F11712D57C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Review of different types of caches</a:t>
            </a:r>
          </a:p>
        </p:txBody>
      </p: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E7443C1C-F9A5-315D-AC1D-F566AA6AB35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94575" y="1368028"/>
            <a:ext cx="3467729" cy="2574620"/>
          </a:xfr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76330B6-A60A-C5BA-7161-71A4D1903A4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B13859-67C5-4393-B6C2-556CF3F770C0}" type="datetime3">
              <a:rPr lang="en-US" smtClean="0"/>
              <a:t>25 March 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12962B3-BCC7-482B-9798-1A87642790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ELL305: Computer Architecture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C2A147E-F86C-FB92-4FFD-90F23A26DB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C3541-01C1-4CA5-B68F-FEE868C7D1AF}" type="slidenum">
              <a:rPr lang="en-US" smtClean="0"/>
              <a:t>38</a:t>
            </a:fld>
            <a:endParaRPr lang="en-US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450E3660-A29F-D1AD-FB75-1BDD7214DD8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62304" y="1339789"/>
            <a:ext cx="5395959" cy="2602859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E9713C72-DDF4-B78F-4817-21469FDD9C7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575" y="4240521"/>
            <a:ext cx="4200248" cy="1134521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AE3E92F8-8C3A-37CC-FEF7-36F0AFD6C43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80851" y="4240304"/>
            <a:ext cx="2554843" cy="499161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9B608276-AFA5-C853-5A9F-76FD9D96629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423411" y="4807781"/>
            <a:ext cx="4430264" cy="5713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911214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03846F-F6BF-5F2B-15A4-589E66E88D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3: How to remove data to make space for new data?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8778C7-1BE0-1DAF-AF78-DC1F5E70B24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Block replacement policies</a:t>
            </a:r>
          </a:p>
          <a:p>
            <a:r>
              <a:rPr lang="en-US" dirty="0"/>
              <a:t>Need to replace a block only if no more empty blocks left in the set and we need to load data</a:t>
            </a:r>
          </a:p>
          <a:p>
            <a:r>
              <a:rPr lang="en-US" dirty="0"/>
              <a:t>Best policy: remove what will not be needed for the longest time (cannot know beforehand)</a:t>
            </a:r>
          </a:p>
          <a:p>
            <a:r>
              <a:rPr lang="en-US" dirty="0"/>
              <a:t>Random replacement</a:t>
            </a:r>
          </a:p>
          <a:p>
            <a:r>
              <a:rPr lang="en-US" dirty="0"/>
              <a:t>Queue based: FIFO, LIFO, FILO</a:t>
            </a:r>
          </a:p>
          <a:p>
            <a:r>
              <a:rPr lang="en-US" dirty="0"/>
              <a:t>Recency-based: Least Recently Used (LRU), Most Recently Used (MRU), Time-aware LRU</a:t>
            </a:r>
          </a:p>
          <a:p>
            <a:r>
              <a:rPr lang="en-US" dirty="0"/>
              <a:t>Frequency-based: LFU, MFU (?)</a:t>
            </a:r>
          </a:p>
          <a:p>
            <a:r>
              <a:rPr lang="en-US" dirty="0">
                <a:hlinkClick r:id="rId2"/>
              </a:rPr>
              <a:t>https://en.wikipedia.org/wiki/Cache_replacement_policies</a:t>
            </a:r>
            <a:r>
              <a:rPr lang="en-US" dirty="0"/>
              <a:t> for an extensive list</a:t>
            </a:r>
          </a:p>
          <a:p>
            <a:endParaRPr lang="en-US" dirty="0"/>
          </a:p>
          <a:p>
            <a:pPr marL="0" indent="0">
              <a:buNone/>
            </a:pPr>
            <a:r>
              <a:rPr lang="en-US" dirty="0"/>
              <a:t>LRU</a:t>
            </a:r>
          </a:p>
          <a:p>
            <a:r>
              <a:rPr lang="en-US" dirty="0"/>
              <a:t>Have to keep track of ‘last used’ for each block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79E3FA1-CC78-C5C5-9910-10A97482FC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B13859-67C5-4393-B6C2-556CF3F770C0}" type="datetime3">
              <a:rPr lang="en-US" smtClean="0"/>
              <a:t>25 March 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D4B1E32-B1FA-B829-A0D1-362FFFB645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ELL305: Computer Architecture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AA20F0F-0F2B-9395-76F3-7CEBDD109D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C3541-01C1-4CA5-B68F-FEE868C7D1AF}" type="slidenum">
              <a:rPr lang="en-US" smtClean="0"/>
              <a:t>39</a:t>
            </a:fld>
            <a:endParaRPr lang="en-US"/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7" name="Ink 6">
                <a:extLst>
                  <a:ext uri="{FF2B5EF4-FFF2-40B4-BE49-F238E27FC236}">
                    <a16:creationId xmlns:a16="http://schemas.microsoft.com/office/drawing/2014/main" id="{586C573B-D4DE-5F4E-96D1-7DD7218B14B7}"/>
                  </a:ext>
                </a:extLst>
              </p14:cNvPr>
              <p14:cNvContentPartPr/>
              <p14:nvPr/>
            </p14:nvContentPartPr>
            <p14:xfrm>
              <a:off x="0" y="5642730"/>
              <a:ext cx="2970" cy="167400"/>
            </p14:xfrm>
          </p:contentPart>
        </mc:Choice>
        <mc:Fallback xmlns="">
          <p:pic>
            <p:nvPicPr>
              <p:cNvPr id="7" name="Ink 6">
                <a:extLst>
                  <a:ext uri="{FF2B5EF4-FFF2-40B4-BE49-F238E27FC236}">
                    <a16:creationId xmlns:a16="http://schemas.microsoft.com/office/drawing/2014/main" id="{586C573B-D4DE-5F4E-96D1-7DD7218B14B7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-8580" y="5633370"/>
                <a:ext cx="19800" cy="18612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20242383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FC0D7F-FEE6-F799-B1AD-4D86C8A6CF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 of LRU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C672457-B413-C207-6823-96CE8620EEB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4576" y="1609809"/>
            <a:ext cx="4142447" cy="3963076"/>
          </a:xfrm>
        </p:spPr>
        <p:txBody>
          <a:bodyPr/>
          <a:lstStyle/>
          <a:p>
            <a:r>
              <a:rPr lang="en-US" sz="1350" dirty="0">
                <a:solidFill>
                  <a:srgbClr val="000000"/>
                </a:solidFill>
                <a:latin typeface="Trebuchet MS" panose="020B0603020202020204" pitchFamily="34" charset="0"/>
              </a:rPr>
              <a:t>Assume a fully-associative cache with two blocks, which of the following memory references miss in the cache?</a:t>
            </a:r>
          </a:p>
          <a:p>
            <a:r>
              <a:rPr lang="en-US" sz="1350" dirty="0">
                <a:solidFill>
                  <a:srgbClr val="000000"/>
                </a:solidFill>
                <a:latin typeface="Trebuchet MS" panose="020B0603020202020204" pitchFamily="34" charset="0"/>
              </a:rPr>
              <a:t>Also assume distinct addresses go to distinct blocks</a:t>
            </a:r>
            <a:r>
              <a:rPr lang="en-US" dirty="0"/>
              <a:t> </a:t>
            </a:r>
            <a:br>
              <a:rPr lang="en-US" dirty="0"/>
            </a:b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E957C69-06F6-E9B8-5A22-6AE22915A9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B13859-67C5-4393-B6C2-556CF3F770C0}" type="datetime3">
              <a:rPr lang="en-US" smtClean="0"/>
              <a:t>25 March 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B5AAB5E-CEF0-C603-2795-4C42A47251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ELL305: Computer Architecture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279B48D-E46C-69A5-56C5-94129AF739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C3541-01C1-4CA5-B68F-FEE868C7D1AF}" type="slidenum">
              <a:rPr lang="en-US" smtClean="0"/>
              <a:t>40</a:t>
            </a:fld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27AB259C-17ED-35A0-3C34-91F8F8CDFB4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80329" y="1608111"/>
            <a:ext cx="3643821" cy="35652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5098435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BA2DE4-4AAC-7FAE-BCF8-BC1E2148FD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to write data?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78F48B9-C5D8-2BD7-22F5-0D7D93A23D3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62500" lnSpcReduction="20000"/>
          </a:bodyPr>
          <a:lstStyle/>
          <a:p>
            <a:pPr marL="0" indent="0">
              <a:buNone/>
            </a:pPr>
            <a:r>
              <a:rPr lang="en-US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Write-through policy</a:t>
            </a:r>
          </a:p>
          <a:p>
            <a:r>
              <a:rPr lang="en-US" dirty="0"/>
              <a:t>Always write data to cache and the memory (i.e. never write to cache-only)</a:t>
            </a:r>
          </a:p>
          <a:p>
            <a:pPr lvl="1"/>
            <a:r>
              <a:rPr lang="en-US" dirty="0"/>
              <a:t>Cache and memory are always forced to be consistent – good!</a:t>
            </a:r>
          </a:p>
          <a:p>
            <a:pPr lvl="1"/>
            <a:r>
              <a:rPr lang="en-US" dirty="0"/>
              <a:t>Each memory write access as slow as main memory access – slow!</a:t>
            </a:r>
          </a:p>
          <a:p>
            <a:pPr lvl="1"/>
            <a:r>
              <a:rPr lang="en-US" dirty="0"/>
              <a:t>Write to a ‘buffer’ and separate hardware updates main memory while processor moves forward</a:t>
            </a:r>
          </a:p>
          <a:p>
            <a:pPr marL="0" indent="0">
              <a:buNone/>
            </a:pPr>
            <a:r>
              <a:rPr lang="en-US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Write-back policy</a:t>
            </a:r>
          </a:p>
          <a:p>
            <a:r>
              <a:rPr lang="en-US" dirty="0"/>
              <a:t>Write data only to cache; update memory when the block is removed</a:t>
            </a:r>
          </a:p>
          <a:p>
            <a:pPr lvl="1"/>
            <a:r>
              <a:rPr lang="en-US" dirty="0"/>
              <a:t>Cache and memory can be inconsistent for some time</a:t>
            </a:r>
          </a:p>
          <a:p>
            <a:pPr lvl="1"/>
            <a:r>
              <a:rPr lang="en-US" dirty="0"/>
              <a:t>Multiple writes to the same block collected in the cache; written back together</a:t>
            </a:r>
          </a:p>
          <a:p>
            <a:pPr lvl="1"/>
            <a:r>
              <a:rPr lang="en-US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Dirty bit</a:t>
            </a:r>
            <a:r>
              <a:rPr lang="en-US" dirty="0"/>
              <a:t>: Extra bit for each cache block to indicate whether it needs to be written back</a:t>
            </a:r>
          </a:p>
          <a:p>
            <a:pPr marL="0" indent="0">
              <a:buNone/>
            </a:pPr>
            <a:r>
              <a:rPr lang="en-US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Write-allocate policy</a:t>
            </a:r>
          </a:p>
          <a:p>
            <a:r>
              <a:rPr lang="en-US" dirty="0"/>
              <a:t>If there is a miss for a write, bring that data into cache and then update it</a:t>
            </a:r>
          </a:p>
          <a:p>
            <a:pPr lvl="1"/>
            <a:r>
              <a:rPr lang="en-US" dirty="0"/>
              <a:t>Typically paired with write-back</a:t>
            </a:r>
          </a:p>
          <a:p>
            <a:r>
              <a:rPr lang="en-US" dirty="0"/>
              <a:t>No write allocate: just change the main memory directly</a:t>
            </a:r>
          </a:p>
          <a:p>
            <a:pPr lvl="1"/>
            <a:r>
              <a:rPr lang="en-US" dirty="0"/>
              <a:t>Typically paired with write-through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F6DCE7A-A8F4-26C7-255C-CE3A80312C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B13859-67C5-4393-B6C2-556CF3F770C0}" type="datetime3">
              <a:rPr lang="en-US" smtClean="0"/>
              <a:t>25 March 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F0E8AC2-190E-230A-81A7-69A6B33202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ELL305: Computer Architecture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BC64379-BECB-4417-2738-9210A048AA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C3541-01C1-4CA5-B68F-FEE868C7D1AF}" type="slidenum">
              <a:rPr lang="en-US" smtClean="0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230626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17E96B-2F48-B8DF-D687-9B9B12F0D6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 picture of the cache</a:t>
            </a:r>
          </a:p>
        </p:txBody>
      </p: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B78E8018-2737-8E09-ED73-834F1577181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4391101" y="3989725"/>
            <a:ext cx="4067897" cy="1269749"/>
          </a:xfr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4BF4010-356C-5135-92E7-1DE9DA374E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B13859-67C5-4393-B6C2-556CF3F770C0}" type="datetime3">
              <a:rPr lang="en-US" smtClean="0"/>
              <a:t>25 March 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FE7077A-01D9-79A9-5980-9DC4DD6BD6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ELL305: Computer Architecture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7B79D7C-CCE2-179C-A846-7C5C14BB77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C3541-01C1-4CA5-B68F-FEE868C7D1AF}" type="slidenum">
              <a:rPr lang="en-US" smtClean="0"/>
              <a:t>42</a:t>
            </a:fld>
            <a:endParaRPr lang="en-US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6318CECA-669F-48E0-9BCA-FE1DB4F6441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6851" y="1702262"/>
            <a:ext cx="5444199" cy="19532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580815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BC940E-60AD-7E34-7C05-D7837F8C41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Fully associative cache example operation</a:t>
            </a:r>
          </a:p>
        </p:txBody>
      </p: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90F0CC87-CBE8-53B6-D141-FC6F00200BD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 rotWithShape="1">
          <a:blip r:embed="rId2"/>
          <a:srcRect b="83463"/>
          <a:stretch/>
        </p:blipFill>
        <p:spPr>
          <a:xfrm>
            <a:off x="94575" y="1478457"/>
            <a:ext cx="5841381" cy="499160"/>
          </a:xfr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30A38E3-40FA-9928-1F9D-B949D36B11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B13859-67C5-4393-B6C2-556CF3F770C0}" type="datetime3">
              <a:rPr lang="en-US" smtClean="0"/>
              <a:t>25 March 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C9116C8-0A78-13D8-AC8A-8C830C98D6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ELL305: Computer Architecture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AAF8867-1590-BD7C-FBA3-9256098B88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C3541-01C1-4CA5-B68F-FEE868C7D1AF}" type="slidenum">
              <a:rPr lang="en-US" smtClean="0"/>
              <a:t>43</a:t>
            </a:fld>
            <a:endParaRPr lang="en-US"/>
          </a:p>
        </p:txBody>
      </p:sp>
      <p:pic>
        <p:nvPicPr>
          <p:cNvPr id="13" name="Content Placeholder 7">
            <a:extLst>
              <a:ext uri="{FF2B5EF4-FFF2-40B4-BE49-F238E27FC236}">
                <a16:creationId xmlns:a16="http://schemas.microsoft.com/office/drawing/2014/main" id="{187DEAA9-9967-C91B-BC31-F9460A15BBF3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17469" t="18786" r="44133" b="40497"/>
          <a:stretch/>
        </p:blipFill>
        <p:spPr>
          <a:xfrm>
            <a:off x="62520" y="2045516"/>
            <a:ext cx="2242996" cy="1229007"/>
          </a:xfrm>
          <a:prstGeom prst="rect">
            <a:avLst/>
          </a:prstGeom>
        </p:spPr>
      </p:pic>
      <p:pic>
        <p:nvPicPr>
          <p:cNvPr id="14" name="Content Placeholder 7">
            <a:extLst>
              <a:ext uri="{FF2B5EF4-FFF2-40B4-BE49-F238E27FC236}">
                <a16:creationId xmlns:a16="http://schemas.microsoft.com/office/drawing/2014/main" id="{19A4756E-CFA7-7D7F-E991-159B325E1B3A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61602" t="18785" b="40497"/>
          <a:stretch/>
        </p:blipFill>
        <p:spPr>
          <a:xfrm>
            <a:off x="2255727" y="2046106"/>
            <a:ext cx="2242996" cy="1229007"/>
          </a:xfrm>
          <a:prstGeom prst="rect">
            <a:avLst/>
          </a:prstGeom>
        </p:spPr>
      </p:pic>
      <p:pic>
        <p:nvPicPr>
          <p:cNvPr id="15" name="Content Placeholder 7">
            <a:extLst>
              <a:ext uri="{FF2B5EF4-FFF2-40B4-BE49-F238E27FC236}">
                <a16:creationId xmlns:a16="http://schemas.microsoft.com/office/drawing/2014/main" id="{3142C54B-A446-19D0-5E90-3B649F8AAE0D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17469" t="59504" r="44133" b="-220"/>
          <a:stretch/>
        </p:blipFill>
        <p:spPr>
          <a:xfrm>
            <a:off x="4442916" y="2103332"/>
            <a:ext cx="2249014" cy="1232305"/>
          </a:xfrm>
          <a:prstGeom prst="rect">
            <a:avLst/>
          </a:prstGeom>
        </p:spPr>
      </p:pic>
      <p:pic>
        <p:nvPicPr>
          <p:cNvPr id="16" name="Content Placeholder 7">
            <a:extLst>
              <a:ext uri="{FF2B5EF4-FFF2-40B4-BE49-F238E27FC236}">
                <a16:creationId xmlns:a16="http://schemas.microsoft.com/office/drawing/2014/main" id="{82118B88-FBA9-BD0A-14AE-3C4809D9537D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60865" t="59505"/>
          <a:stretch/>
        </p:blipFill>
        <p:spPr>
          <a:xfrm>
            <a:off x="6630808" y="2106541"/>
            <a:ext cx="2286021" cy="1222307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255E318E-4C5C-4A49-29C1-75ABA8A69BA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950" y="3368549"/>
            <a:ext cx="2209523" cy="1159256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29B0ECD8-6740-225E-B7F9-A7D65A7FC18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84053" y="3400238"/>
            <a:ext cx="2214670" cy="1166922"/>
          </a:xfrm>
          <a:prstGeom prst="rect">
            <a:avLst/>
          </a:prstGeom>
        </p:spPr>
      </p:pic>
      <p:pic>
        <p:nvPicPr>
          <p:cNvPr id="22" name="Picture 21">
            <a:extLst>
              <a:ext uri="{FF2B5EF4-FFF2-40B4-BE49-F238E27FC236}">
                <a16:creationId xmlns:a16="http://schemas.microsoft.com/office/drawing/2014/main" id="{6117A9CD-4E17-BD07-85D1-905C25B9836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69210" y="3343602"/>
            <a:ext cx="2260812" cy="1223558"/>
          </a:xfrm>
          <a:prstGeom prst="rect">
            <a:avLst/>
          </a:prstGeom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B19CB034-A71F-73B9-8FF4-82AF261B547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719942" y="3352907"/>
            <a:ext cx="2266612" cy="1229007"/>
          </a:xfrm>
          <a:prstGeom prst="rect">
            <a:avLst/>
          </a:prstGeom>
        </p:spPr>
      </p:pic>
      <p:pic>
        <p:nvPicPr>
          <p:cNvPr id="26" name="Picture 25">
            <a:extLst>
              <a:ext uri="{FF2B5EF4-FFF2-40B4-BE49-F238E27FC236}">
                <a16:creationId xmlns:a16="http://schemas.microsoft.com/office/drawing/2014/main" id="{E8B54CBC-4FF7-C5A5-F604-98C55802ACA7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2520" y="5120328"/>
            <a:ext cx="2983327" cy="2592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830584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BC940E-60AD-7E34-7C05-D7837F8C41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Fully associative cache example operation</a:t>
            </a:r>
          </a:p>
        </p:txBody>
      </p: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90F0CC87-CBE8-53B6-D141-FC6F00200BD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070" b="1070"/>
          <a:stretch/>
        </p:blipFill>
        <p:spPr>
          <a:xfrm>
            <a:off x="94575" y="1478457"/>
            <a:ext cx="5841381" cy="499160"/>
          </a:xfr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30A38E3-40FA-9928-1F9D-B949D36B11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B13859-67C5-4393-B6C2-556CF3F770C0}" type="datetime3">
              <a:rPr lang="en-US" smtClean="0"/>
              <a:t>25 March 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C9116C8-0A78-13D8-AC8A-8C830C98D6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ELL305: Computer Architecture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AAF8867-1590-BD7C-FBA3-9256098B88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C3541-01C1-4CA5-B68F-FEE868C7D1AF}" type="slidenum">
              <a:rPr lang="en-US" smtClean="0"/>
              <a:t>44</a:t>
            </a:fld>
            <a:endParaRPr lang="en-US"/>
          </a:p>
        </p:txBody>
      </p:sp>
      <p:pic>
        <p:nvPicPr>
          <p:cNvPr id="13" name="Content Placeholder 7">
            <a:extLst>
              <a:ext uri="{FF2B5EF4-FFF2-40B4-BE49-F238E27FC236}">
                <a16:creationId xmlns:a16="http://schemas.microsoft.com/office/drawing/2014/main" id="{187DEAA9-9967-C91B-BC31-F9460A15BBF3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24" r="993"/>
          <a:stretch/>
        </p:blipFill>
        <p:spPr>
          <a:xfrm>
            <a:off x="62520" y="2096250"/>
            <a:ext cx="2155496" cy="1178272"/>
          </a:xfrm>
          <a:prstGeom prst="rect">
            <a:avLst/>
          </a:prstGeom>
        </p:spPr>
      </p:pic>
      <p:pic>
        <p:nvPicPr>
          <p:cNvPr id="14" name="Content Placeholder 7">
            <a:extLst>
              <a:ext uri="{FF2B5EF4-FFF2-40B4-BE49-F238E27FC236}">
                <a16:creationId xmlns:a16="http://schemas.microsoft.com/office/drawing/2014/main" id="{19A4756E-CFA7-7D7F-E991-159B325E1B3A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86" r="486"/>
          <a:stretch/>
        </p:blipFill>
        <p:spPr>
          <a:xfrm>
            <a:off x="2255727" y="2071643"/>
            <a:ext cx="2196389" cy="1203470"/>
          </a:xfrm>
          <a:prstGeom prst="rect">
            <a:avLst/>
          </a:prstGeom>
        </p:spPr>
      </p:pic>
      <p:pic>
        <p:nvPicPr>
          <p:cNvPr id="15" name="Content Placeholder 7">
            <a:extLst>
              <a:ext uri="{FF2B5EF4-FFF2-40B4-BE49-F238E27FC236}">
                <a16:creationId xmlns:a16="http://schemas.microsoft.com/office/drawing/2014/main" id="{3142C54B-A446-19D0-5E90-3B649F8AAE0D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93" r="393"/>
          <a:stretch/>
        </p:blipFill>
        <p:spPr>
          <a:xfrm>
            <a:off x="4470929" y="2071643"/>
            <a:ext cx="2237268" cy="1225869"/>
          </a:xfrm>
          <a:prstGeom prst="rect">
            <a:avLst/>
          </a:prstGeom>
        </p:spPr>
      </p:pic>
      <p:pic>
        <p:nvPicPr>
          <p:cNvPr id="16" name="Content Placeholder 7">
            <a:extLst>
              <a:ext uri="{FF2B5EF4-FFF2-40B4-BE49-F238E27FC236}">
                <a16:creationId xmlns:a16="http://schemas.microsoft.com/office/drawing/2014/main" id="{82118B88-FBA9-BD0A-14AE-3C4809D9537D}"/>
              </a:ext>
            </a:extLst>
          </p:cNvPr>
          <p:cNvPicPr>
            <a:picLocks noChangeAspect="1"/>
          </p:cNvPicPr>
          <p:nvPr/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152" b="1152"/>
          <a:stretch/>
        </p:blipFill>
        <p:spPr>
          <a:xfrm>
            <a:off x="6700532" y="2096250"/>
            <a:ext cx="2203665" cy="1178272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255E318E-4C5C-4A49-29C1-75ABA8A69BAE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71950" y="3371136"/>
            <a:ext cx="2209523" cy="1154081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29B0ECD8-6740-225E-B7F9-A7D65A7FC187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295860" y="3400238"/>
            <a:ext cx="2191055" cy="1166922"/>
          </a:xfrm>
          <a:prstGeom prst="rect">
            <a:avLst/>
          </a:prstGeom>
        </p:spPr>
      </p:pic>
      <p:pic>
        <p:nvPicPr>
          <p:cNvPr id="22" name="Picture 21">
            <a:extLst>
              <a:ext uri="{FF2B5EF4-FFF2-40B4-BE49-F238E27FC236}">
                <a16:creationId xmlns:a16="http://schemas.microsoft.com/office/drawing/2014/main" id="{6117A9CD-4E17-BD07-85D1-905C25B98366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470929" y="3393984"/>
            <a:ext cx="2225865" cy="1187128"/>
          </a:xfrm>
          <a:prstGeom prst="rect">
            <a:avLst/>
          </a:prstGeom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B19CB034-A71F-73B9-8FF4-82AF261B5471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723273" y="3352907"/>
            <a:ext cx="2259950" cy="1229007"/>
          </a:xfrm>
          <a:prstGeom prst="rect">
            <a:avLst/>
          </a:prstGeom>
        </p:spPr>
      </p:pic>
      <p:pic>
        <p:nvPicPr>
          <p:cNvPr id="26" name="Picture 25">
            <a:extLst>
              <a:ext uri="{FF2B5EF4-FFF2-40B4-BE49-F238E27FC236}">
                <a16:creationId xmlns:a16="http://schemas.microsoft.com/office/drawing/2014/main" id="{E8B54CBC-4FF7-C5A5-F604-98C55802ACA7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94575" y="5105701"/>
            <a:ext cx="3863683" cy="273843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340365F4-B73F-46F1-1D5D-4E7489E12512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916592" y="4813010"/>
            <a:ext cx="3613361" cy="8528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414686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D1A4B5-F62F-DBCA-756D-1700320CEC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Fully associative cache example operation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AFF7176-6D0C-8B59-4F6A-3D4D0C439E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B13859-67C5-4393-B6C2-556CF3F770C0}" type="datetime3">
              <a:rPr lang="en-US" smtClean="0"/>
              <a:t>25 March 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7698C68-C199-35D9-D397-B3E499C4D1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ELL305: Computer Architecture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FEEA0D6-CA5C-C934-0029-0891A114AA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C3541-01C1-4CA5-B68F-FEE868C7D1AF}" type="slidenum">
              <a:rPr lang="en-US" smtClean="0"/>
              <a:t>45</a:t>
            </a:fld>
            <a:endParaRPr lang="en-US"/>
          </a:p>
        </p:txBody>
      </p:sp>
      <p:pic>
        <p:nvPicPr>
          <p:cNvPr id="7" name="Content Placeholder 7">
            <a:extLst>
              <a:ext uri="{FF2B5EF4-FFF2-40B4-BE49-F238E27FC236}">
                <a16:creationId xmlns:a16="http://schemas.microsoft.com/office/drawing/2014/main" id="{ED8E144E-C9EA-E46C-03FC-8FFA71B2C7CE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7" b="27"/>
          <a:stretch/>
        </p:blipFill>
        <p:spPr>
          <a:xfrm>
            <a:off x="94575" y="1478457"/>
            <a:ext cx="5841381" cy="49916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156C5990-CDCA-B07F-7E56-99A0183AB24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574" y="2249477"/>
            <a:ext cx="4493426" cy="590483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90292557-923B-6F98-B58C-92AA1255365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575" y="2904226"/>
            <a:ext cx="4475162" cy="568427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03EE5EE1-10E4-6B51-D037-C275AA7477F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4575" y="3536919"/>
            <a:ext cx="4475162" cy="571504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5835B2F1-A6EA-D56A-D532-3745ACEBFF1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4575" y="4170017"/>
            <a:ext cx="4493426" cy="608535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1CED2ECA-E129-43E3-85D4-03A6D9F19303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569737" y="2280890"/>
            <a:ext cx="4566449" cy="527657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13E31A4C-7C37-E742-A7AC-F5E6E29A4B33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569737" y="2929617"/>
            <a:ext cx="4566449" cy="543037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9FF79D7D-3DB0-9BCF-4697-DEACFF52CF49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569737" y="3539175"/>
            <a:ext cx="4566449" cy="557245"/>
          </a:xfrm>
          <a:prstGeom prst="rect">
            <a:avLst/>
          </a:prstGeom>
        </p:spPr>
      </p:pic>
      <p:pic>
        <p:nvPicPr>
          <p:cNvPr id="23" name="Picture 22">
            <a:extLst>
              <a:ext uri="{FF2B5EF4-FFF2-40B4-BE49-F238E27FC236}">
                <a16:creationId xmlns:a16="http://schemas.microsoft.com/office/drawing/2014/main" id="{7073B834-30A5-01CD-DFEA-7FC0E0D022FF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577551" y="4212666"/>
            <a:ext cx="4566449" cy="565886"/>
          </a:xfrm>
          <a:prstGeom prst="rect">
            <a:avLst/>
          </a:prstGeom>
        </p:spPr>
      </p:pic>
      <p:pic>
        <p:nvPicPr>
          <p:cNvPr id="25" name="Picture 24">
            <a:extLst>
              <a:ext uri="{FF2B5EF4-FFF2-40B4-BE49-F238E27FC236}">
                <a16:creationId xmlns:a16="http://schemas.microsoft.com/office/drawing/2014/main" id="{E3516288-269F-1805-7D90-DB4DA780F38C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16586" y="5107729"/>
            <a:ext cx="4344368" cy="2738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4097993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BC940E-60AD-7E34-7C05-D7837F8C41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Direct mapped cache example operation</a:t>
            </a:r>
          </a:p>
        </p:txBody>
      </p: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90F0CC87-CBE8-53B6-D141-FC6F00200BD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856" b="4856"/>
          <a:stretch/>
        </p:blipFill>
        <p:spPr>
          <a:xfrm>
            <a:off x="94575" y="1478457"/>
            <a:ext cx="4779087" cy="408384"/>
          </a:xfr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30A38E3-40FA-9928-1F9D-B949D36B11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B13859-67C5-4393-B6C2-556CF3F770C0}" type="datetime3">
              <a:rPr lang="en-US" smtClean="0"/>
              <a:t>25 March 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C9116C8-0A78-13D8-AC8A-8C830C98D6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ELL305: Computer Architecture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AAF8867-1590-BD7C-FBA3-9256098B88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C3541-01C1-4CA5-B68F-FEE868C7D1AF}" type="slidenum">
              <a:rPr lang="en-US" smtClean="0"/>
              <a:t>46</a:t>
            </a:fld>
            <a:endParaRPr lang="en-US"/>
          </a:p>
        </p:txBody>
      </p:sp>
      <p:pic>
        <p:nvPicPr>
          <p:cNvPr id="13" name="Content Placeholder 7">
            <a:extLst>
              <a:ext uri="{FF2B5EF4-FFF2-40B4-BE49-F238E27FC236}">
                <a16:creationId xmlns:a16="http://schemas.microsoft.com/office/drawing/2014/main" id="{187DEAA9-9967-C91B-BC31-F9460A15BBF3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6" r="840"/>
          <a:stretch/>
        </p:blipFill>
        <p:spPr>
          <a:xfrm>
            <a:off x="-11916" y="2126999"/>
            <a:ext cx="2237269" cy="1095844"/>
          </a:xfrm>
          <a:prstGeom prst="rect">
            <a:avLst/>
          </a:prstGeom>
        </p:spPr>
      </p:pic>
      <p:pic>
        <p:nvPicPr>
          <p:cNvPr id="14" name="Content Placeholder 7">
            <a:extLst>
              <a:ext uri="{FF2B5EF4-FFF2-40B4-BE49-F238E27FC236}">
                <a16:creationId xmlns:a16="http://schemas.microsoft.com/office/drawing/2014/main" id="{19A4756E-CFA7-7D7F-E991-159B325E1B3A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611" t="-374" r="-654" b="374"/>
          <a:stretch/>
        </p:blipFill>
        <p:spPr>
          <a:xfrm>
            <a:off x="2229828" y="2144803"/>
            <a:ext cx="2237269" cy="1129718"/>
          </a:xfrm>
          <a:prstGeom prst="rect">
            <a:avLst/>
          </a:prstGeom>
        </p:spPr>
      </p:pic>
      <p:pic>
        <p:nvPicPr>
          <p:cNvPr id="15" name="Content Placeholder 7">
            <a:extLst>
              <a:ext uri="{FF2B5EF4-FFF2-40B4-BE49-F238E27FC236}">
                <a16:creationId xmlns:a16="http://schemas.microsoft.com/office/drawing/2014/main" id="{3142C54B-A446-19D0-5E90-3B649F8AAE0D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" r="386"/>
          <a:stretch/>
        </p:blipFill>
        <p:spPr>
          <a:xfrm>
            <a:off x="4435787" y="2179994"/>
            <a:ext cx="2310044" cy="1142603"/>
          </a:xfrm>
          <a:prstGeom prst="rect">
            <a:avLst/>
          </a:prstGeom>
        </p:spPr>
      </p:pic>
      <p:pic>
        <p:nvPicPr>
          <p:cNvPr id="16" name="Content Placeholder 7">
            <a:extLst>
              <a:ext uri="{FF2B5EF4-FFF2-40B4-BE49-F238E27FC236}">
                <a16:creationId xmlns:a16="http://schemas.microsoft.com/office/drawing/2014/main" id="{82118B88-FBA9-BD0A-14AE-3C4809D9537D}"/>
              </a:ext>
            </a:extLst>
          </p:cNvPr>
          <p:cNvPicPr>
            <a:picLocks noChangeAspect="1"/>
          </p:cNvPicPr>
          <p:nvPr/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1237" r="-606"/>
          <a:stretch/>
        </p:blipFill>
        <p:spPr>
          <a:xfrm>
            <a:off x="6673057" y="2187496"/>
            <a:ext cx="2278526" cy="1129718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255E318E-4C5C-4A49-29C1-75ABA8A69BAE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71950" y="3383581"/>
            <a:ext cx="2209523" cy="1129191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29B0ECD8-6740-225E-B7F9-A7D65A7FC187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265104" y="3363364"/>
            <a:ext cx="2237269" cy="1145918"/>
          </a:xfrm>
          <a:prstGeom prst="rect">
            <a:avLst/>
          </a:prstGeom>
        </p:spPr>
      </p:pic>
      <p:pic>
        <p:nvPicPr>
          <p:cNvPr id="22" name="Picture 21">
            <a:extLst>
              <a:ext uri="{FF2B5EF4-FFF2-40B4-BE49-F238E27FC236}">
                <a16:creationId xmlns:a16="http://schemas.microsoft.com/office/drawing/2014/main" id="{6117A9CD-4E17-BD07-85D1-905C25B98366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470929" y="3463755"/>
            <a:ext cx="2225865" cy="1088322"/>
          </a:xfrm>
          <a:prstGeom prst="rect">
            <a:avLst/>
          </a:prstGeom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B19CB034-A71F-73B9-8FF4-82AF261B5471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723273" y="3440826"/>
            <a:ext cx="2259950" cy="1107488"/>
          </a:xfrm>
          <a:prstGeom prst="rect">
            <a:avLst/>
          </a:prstGeom>
        </p:spPr>
      </p:pic>
      <p:pic>
        <p:nvPicPr>
          <p:cNvPr id="26" name="Picture 25">
            <a:extLst>
              <a:ext uri="{FF2B5EF4-FFF2-40B4-BE49-F238E27FC236}">
                <a16:creationId xmlns:a16="http://schemas.microsoft.com/office/drawing/2014/main" id="{E8B54CBC-4FF7-C5A5-F604-98C55802ACA7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94575" y="5138333"/>
            <a:ext cx="3863683" cy="2085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317610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BC940E-60AD-7E34-7C05-D7837F8C41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Set-associative cache example operation</a:t>
            </a:r>
          </a:p>
        </p:txBody>
      </p: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90F0CC87-CBE8-53B6-D141-FC6F00200BD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856" b="4856"/>
          <a:stretch/>
        </p:blipFill>
        <p:spPr>
          <a:xfrm>
            <a:off x="94575" y="1478457"/>
            <a:ext cx="4779087" cy="408384"/>
          </a:xfr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30A38E3-40FA-9928-1F9D-B949D36B11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B13859-67C5-4393-B6C2-556CF3F770C0}" type="datetime3">
              <a:rPr lang="en-US" smtClean="0"/>
              <a:t>25 March 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C9116C8-0A78-13D8-AC8A-8C830C98D6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ELL305: Computer Architecture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AAF8867-1590-BD7C-FBA3-9256098B88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C3541-01C1-4CA5-B68F-FEE868C7D1AF}" type="slidenum">
              <a:rPr lang="en-US" smtClean="0"/>
              <a:t>47</a:t>
            </a:fld>
            <a:endParaRPr lang="en-US"/>
          </a:p>
        </p:txBody>
      </p:sp>
      <p:pic>
        <p:nvPicPr>
          <p:cNvPr id="13" name="Content Placeholder 7">
            <a:extLst>
              <a:ext uri="{FF2B5EF4-FFF2-40B4-BE49-F238E27FC236}">
                <a16:creationId xmlns:a16="http://schemas.microsoft.com/office/drawing/2014/main" id="{187DEAA9-9967-C91B-BC31-F9460A15BBF3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485" b="1485"/>
          <a:stretch/>
        </p:blipFill>
        <p:spPr>
          <a:xfrm>
            <a:off x="-11916" y="2126999"/>
            <a:ext cx="2237269" cy="1095844"/>
          </a:xfrm>
          <a:prstGeom prst="rect">
            <a:avLst/>
          </a:prstGeom>
        </p:spPr>
      </p:pic>
      <p:pic>
        <p:nvPicPr>
          <p:cNvPr id="14" name="Content Placeholder 7">
            <a:extLst>
              <a:ext uri="{FF2B5EF4-FFF2-40B4-BE49-F238E27FC236}">
                <a16:creationId xmlns:a16="http://schemas.microsoft.com/office/drawing/2014/main" id="{19A4756E-CFA7-7D7F-E991-159B325E1B3A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03" b="103"/>
          <a:stretch/>
        </p:blipFill>
        <p:spPr>
          <a:xfrm>
            <a:off x="2229828" y="2144803"/>
            <a:ext cx="2237269" cy="1129718"/>
          </a:xfrm>
          <a:prstGeom prst="rect">
            <a:avLst/>
          </a:prstGeom>
        </p:spPr>
      </p:pic>
      <p:pic>
        <p:nvPicPr>
          <p:cNvPr id="15" name="Content Placeholder 7">
            <a:extLst>
              <a:ext uri="{FF2B5EF4-FFF2-40B4-BE49-F238E27FC236}">
                <a16:creationId xmlns:a16="http://schemas.microsoft.com/office/drawing/2014/main" id="{3142C54B-A446-19D0-5E90-3B649F8AAE0D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79" r="-142"/>
          <a:stretch/>
        </p:blipFill>
        <p:spPr>
          <a:xfrm>
            <a:off x="4435787" y="2179995"/>
            <a:ext cx="2287485" cy="1097509"/>
          </a:xfrm>
          <a:prstGeom prst="rect">
            <a:avLst/>
          </a:prstGeom>
        </p:spPr>
      </p:pic>
      <p:pic>
        <p:nvPicPr>
          <p:cNvPr id="16" name="Content Placeholder 7">
            <a:extLst>
              <a:ext uri="{FF2B5EF4-FFF2-40B4-BE49-F238E27FC236}">
                <a16:creationId xmlns:a16="http://schemas.microsoft.com/office/drawing/2014/main" id="{82118B88-FBA9-BD0A-14AE-3C4809D9537D}"/>
              </a:ext>
            </a:extLst>
          </p:cNvPr>
          <p:cNvPicPr>
            <a:picLocks noChangeAspect="1"/>
          </p:cNvPicPr>
          <p:nvPr/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770" r="430"/>
          <a:stretch/>
        </p:blipFill>
        <p:spPr>
          <a:xfrm>
            <a:off x="6673056" y="2187497"/>
            <a:ext cx="2237269" cy="1094069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255E318E-4C5C-4A49-29C1-75ABA8A69BAE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71950" y="3418315"/>
            <a:ext cx="2209523" cy="1059723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29B0ECD8-6740-225E-B7F9-A7D65A7FC187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265104" y="3430148"/>
            <a:ext cx="2209524" cy="1093983"/>
          </a:xfrm>
          <a:prstGeom prst="rect">
            <a:avLst/>
          </a:prstGeom>
        </p:spPr>
      </p:pic>
      <p:pic>
        <p:nvPicPr>
          <p:cNvPr id="22" name="Picture 21">
            <a:extLst>
              <a:ext uri="{FF2B5EF4-FFF2-40B4-BE49-F238E27FC236}">
                <a16:creationId xmlns:a16="http://schemas.microsoft.com/office/drawing/2014/main" id="{6117A9CD-4E17-BD07-85D1-905C25B98366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470929" y="3470087"/>
            <a:ext cx="2225865" cy="1075658"/>
          </a:xfrm>
          <a:prstGeom prst="rect">
            <a:avLst/>
          </a:prstGeom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B19CB034-A71F-73B9-8FF4-82AF261B5471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748410" y="3440826"/>
            <a:ext cx="2209676" cy="1107488"/>
          </a:xfrm>
          <a:prstGeom prst="rect">
            <a:avLst/>
          </a:prstGeom>
        </p:spPr>
      </p:pic>
      <p:pic>
        <p:nvPicPr>
          <p:cNvPr id="26" name="Picture 25">
            <a:extLst>
              <a:ext uri="{FF2B5EF4-FFF2-40B4-BE49-F238E27FC236}">
                <a16:creationId xmlns:a16="http://schemas.microsoft.com/office/drawing/2014/main" id="{E8B54CBC-4FF7-C5A5-F604-98C55802ACA7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51116" y="5170965"/>
            <a:ext cx="1499992" cy="2085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00428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299E62-7FD2-6D5D-FCC3-F76130CE97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Cache terminology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3B52166-D87D-4EC8-1F43-4E30A8B19A5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solidFill>
                  <a:schemeClr val="accent4"/>
                </a:solidFill>
              </a:rPr>
              <a:t>Cache hit</a:t>
            </a:r>
            <a:r>
              <a:rPr lang="en-US" dirty="0"/>
              <a:t>: Cache contains valid copy of the block, so return the data</a:t>
            </a:r>
          </a:p>
          <a:p>
            <a:r>
              <a:rPr lang="en-US" dirty="0">
                <a:solidFill>
                  <a:schemeClr val="accent4"/>
                </a:solidFill>
              </a:rPr>
              <a:t>Cache miss</a:t>
            </a:r>
            <a:r>
              <a:rPr lang="en-US" dirty="0"/>
              <a:t>: Cache does not contain the desired data, so copy it over from main memory into an empty slot</a:t>
            </a:r>
          </a:p>
          <a:p>
            <a:pPr lvl="1"/>
            <a:r>
              <a:rPr lang="en-US" dirty="0"/>
              <a:t>Replace a slot if all slots are full</a:t>
            </a:r>
          </a:p>
          <a:p>
            <a:pPr marL="0" indent="0">
              <a:buNone/>
            </a:pPr>
            <a:r>
              <a:rPr lang="en-US" dirty="0"/>
              <a:t>How effective is the cache?</a:t>
            </a:r>
          </a:p>
          <a:p>
            <a:r>
              <a:rPr lang="en-US" dirty="0">
                <a:solidFill>
                  <a:schemeClr val="accent4"/>
                </a:solidFill>
              </a:rPr>
              <a:t>Hit rate (HR)</a:t>
            </a:r>
            <a:r>
              <a:rPr lang="en-US" dirty="0"/>
              <a:t>: percentage of memory accesses (of a program) that result in hit</a:t>
            </a:r>
          </a:p>
          <a:p>
            <a:r>
              <a:rPr lang="en-US" dirty="0">
                <a:solidFill>
                  <a:schemeClr val="accent4"/>
                </a:solidFill>
              </a:rPr>
              <a:t>Miss rate (MR)</a:t>
            </a:r>
            <a:r>
              <a:rPr lang="en-US" dirty="0"/>
              <a:t>: percentage that result in miss</a:t>
            </a:r>
          </a:p>
          <a:p>
            <a:pPr marL="0" indent="0">
              <a:buNone/>
            </a:pPr>
            <a:br>
              <a:rPr lang="en-US" dirty="0"/>
            </a:br>
            <a:r>
              <a:rPr lang="en-US" dirty="0"/>
              <a:t>					MR = 1 – HR</a:t>
            </a:r>
          </a:p>
          <a:p>
            <a:pPr marL="0" indent="0">
              <a:buNone/>
            </a:pPr>
            <a:r>
              <a:rPr lang="en-US" dirty="0"/>
              <a:t>How fast is the cache?</a:t>
            </a:r>
          </a:p>
          <a:p>
            <a:r>
              <a:rPr lang="en-US" dirty="0">
                <a:solidFill>
                  <a:schemeClr val="accent4"/>
                </a:solidFill>
              </a:rPr>
              <a:t>Hit time (HT)</a:t>
            </a:r>
            <a:r>
              <a:rPr lang="en-US" dirty="0"/>
              <a:t>: Time to access cache (including all operations like matching the tag)</a:t>
            </a:r>
          </a:p>
          <a:p>
            <a:r>
              <a:rPr lang="en-US" dirty="0">
                <a:solidFill>
                  <a:schemeClr val="accent4"/>
                </a:solidFill>
              </a:rPr>
              <a:t>Miss penalty (MP)</a:t>
            </a:r>
            <a:r>
              <a:rPr lang="en-US" dirty="0"/>
              <a:t>: Time to replace a cache block from a lower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E395117-5F27-1914-36E0-468CD3EE6F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B13859-67C5-4393-B6C2-556CF3F770C0}" type="datetime3">
              <a:rPr lang="en-US" smtClean="0"/>
              <a:t>25 March 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3D3249E-AF86-4001-365C-EAE0C8657E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ELL305: Computer Architecture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0E55983-B009-3087-157F-0701B7B95A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C3541-01C1-4CA5-B68F-FEE868C7D1AF}" type="slidenum">
              <a:rPr lang="en-US" smtClean="0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56668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1AFB96F1-C9E4-F28F-9979-E3AD303035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Access time for memory with caches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A71E095-9F3C-0F83-3AA4-1B36FECD97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E0464C-7207-4298-A27C-0CEAF85D3DD1}" type="datetime3">
              <a:rPr lang="en-US" smtClean="0"/>
              <a:t>25 March 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E9D4336-4233-F226-08D8-DF2E240271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ELL305: Computer Architecture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5AB781F-C586-50EC-85BA-2F6FC7D620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C3541-01C1-4CA5-B68F-FEE868C7D1AF}" type="slidenum">
              <a:rPr lang="en-US" smtClean="0"/>
              <a:t>49</a:t>
            </a:fld>
            <a:endParaRPr lang="en-US"/>
          </a:p>
        </p:txBody>
      </p:sp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D84F3329-0DF0-9E81-359F-334475CD8F2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4576" y="1609809"/>
            <a:ext cx="8972549" cy="3963076"/>
          </a:xfrm>
        </p:spPr>
        <p:txBody>
          <a:bodyPr/>
          <a:lstStyle/>
          <a:p>
            <a:r>
              <a:rPr lang="en-US" dirty="0"/>
              <a:t>In a machine without caches, what is the memory access time?</a:t>
            </a:r>
          </a:p>
          <a:p>
            <a:r>
              <a:rPr lang="en-US" dirty="0"/>
              <a:t>Fixed number of cycles (say 1000)</a:t>
            </a:r>
          </a:p>
          <a:p>
            <a:endParaRPr lang="en-US" dirty="0"/>
          </a:p>
          <a:p>
            <a:r>
              <a:rPr lang="en-US" dirty="0"/>
              <a:t>How does access time change with the introduction of caches?</a:t>
            </a:r>
          </a:p>
          <a:p>
            <a:r>
              <a:rPr lang="en-US" dirty="0"/>
              <a:t>If hit – hit time</a:t>
            </a:r>
          </a:p>
          <a:p>
            <a:r>
              <a:rPr lang="en-US" dirty="0"/>
              <a:t>If miss – miss penalty</a:t>
            </a:r>
          </a:p>
          <a:p>
            <a:r>
              <a:rPr lang="en-US" dirty="0"/>
              <a:t>Variable access time</a:t>
            </a:r>
          </a:p>
          <a:p>
            <a:r>
              <a:rPr lang="en-US" dirty="0"/>
              <a:t>We can talk about an average access time</a:t>
            </a:r>
          </a:p>
        </p:txBody>
      </p:sp>
    </p:spTree>
    <p:extLst>
      <p:ext uri="{BB962C8B-B14F-4D97-AF65-F5344CB8AC3E}">
        <p14:creationId xmlns:p14="http://schemas.microsoft.com/office/powerpoint/2010/main" val="32220628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build="p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2EE85D-AC0B-EC8E-1A37-ABBBBE748C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Average Memory Access Time (AMAT)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233DB0C-7107-9808-47D9-14BD0435393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Consider a 2-level hierarchy which has a cache and main memory:</a:t>
            </a:r>
            <a:endParaRPr lang="en-US" dirty="0">
              <a:solidFill>
                <a:schemeClr val="accent4"/>
              </a:solidFill>
            </a:endParaRPr>
          </a:p>
          <a:p>
            <a:pPr marL="0" indent="0">
              <a:buNone/>
            </a:pPr>
            <a:endParaRPr lang="en-US" dirty="0">
              <a:solidFill>
                <a:schemeClr val="accent4"/>
              </a:solidFill>
            </a:endParaRPr>
          </a:p>
          <a:p>
            <a:pPr marL="0" indent="0">
              <a:buNone/>
            </a:pPr>
            <a:r>
              <a:rPr lang="en-US" dirty="0"/>
              <a:t>AMAT = (Hit rate * Time to go to cache) + (Miss rate * Time to go to memory)</a:t>
            </a:r>
          </a:p>
          <a:p>
            <a:pPr marL="0" indent="0">
              <a:buNone/>
            </a:pPr>
            <a:r>
              <a:rPr lang="en-US" dirty="0"/>
              <a:t>	= (Hit rate * Hit time) + (Miss rate * (Miss penalty + Hit time))</a:t>
            </a:r>
          </a:p>
          <a:p>
            <a:pPr marL="0" indent="0">
              <a:buNone/>
            </a:pPr>
            <a:r>
              <a:rPr lang="en-US" dirty="0"/>
              <a:t>	= (Hit rate * Hit time) + (Miss rate * Hit time) + (Miss rate * Hit penalty)</a:t>
            </a:r>
          </a:p>
          <a:p>
            <a:pPr marL="0" indent="0">
              <a:buNone/>
            </a:pPr>
            <a:r>
              <a:rPr lang="en-US" dirty="0"/>
              <a:t>	= Hit time + Miss rate × Miss penalty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>
                <a:solidFill>
                  <a:schemeClr val="accent4"/>
                </a:solidFill>
              </a:rPr>
              <a:t>AMAT = Hit time + Miss rate × Miss penalty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How do the different cache parameters affect AMAT?</a:t>
            </a:r>
            <a:endParaRPr lang="en-US" dirty="0">
              <a:solidFill>
                <a:schemeClr val="accent4"/>
              </a:solidFill>
            </a:endParaRP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90B6E1F-664A-D44F-4CAA-753711C59F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B13859-67C5-4393-B6C2-556CF3F770C0}" type="datetime3">
              <a:rPr lang="en-US" smtClean="0"/>
              <a:t>25 March 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DCB1A57-E663-638B-1575-2F7772C0D1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ELL305: Computer Architecture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F5BA639-3733-8BAD-72E1-92B3E903FD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C3541-01C1-4CA5-B68F-FEE868C7D1AF}" type="slidenum">
              <a:rPr lang="en-US" smtClean="0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3335613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DA46BA-DF6D-CBEB-2B1C-C5C180AD12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Optimizing AMAT </a:t>
            </a:r>
            <a:r>
              <a:rPr lang="en-US" dirty="0">
                <a:solidFill>
                  <a:schemeClr val="accent4"/>
                </a:solidFill>
              </a:rPr>
              <a:t>= Hit time + Miss rate × Miss penalty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D1C5C71-6FF9-84B0-2E41-9B6A0F9358F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4575" y="1368028"/>
            <a:ext cx="3480158" cy="2712068"/>
          </a:xfrm>
        </p:spPr>
        <p:txBody>
          <a:bodyPr/>
          <a:lstStyle/>
          <a:p>
            <a:pPr marL="0" indent="0">
              <a:buNone/>
            </a:pPr>
            <a:r>
              <a:rPr lang="en-US" dirty="0">
                <a:solidFill>
                  <a:schemeClr val="accent4"/>
                </a:solidFill>
              </a:rPr>
              <a:t>Hit time</a:t>
            </a:r>
          </a:p>
          <a:p>
            <a:r>
              <a:rPr lang="en-US" dirty="0"/>
              <a:t>How many comparisons you need to do</a:t>
            </a:r>
          </a:p>
          <a:p>
            <a:r>
              <a:rPr lang="en-US" dirty="0"/>
              <a:t>Cache size</a:t>
            </a:r>
          </a:p>
          <a:p>
            <a:pPr lvl="1"/>
            <a:r>
              <a:rPr lang="en-US" dirty="0"/>
              <a:t>Smaller is better</a:t>
            </a:r>
          </a:p>
          <a:p>
            <a:pPr lvl="1"/>
            <a:endParaRPr lang="en-US" dirty="0"/>
          </a:p>
          <a:p>
            <a:r>
              <a:rPr lang="en-US" dirty="0"/>
              <a:t>Associativity</a:t>
            </a:r>
          </a:p>
          <a:p>
            <a:pPr lvl="1"/>
            <a:r>
              <a:rPr lang="en-US" dirty="0"/>
              <a:t>Lower is better</a:t>
            </a:r>
          </a:p>
          <a:p>
            <a:pPr marL="0" indent="0">
              <a:buNone/>
            </a:pP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98EA988-6812-985C-4538-5BE5C1BC68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B13859-67C5-4393-B6C2-556CF3F770C0}" type="datetime3">
              <a:rPr lang="en-US" smtClean="0"/>
              <a:t>25 March 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54D6E61-FF54-5934-99A6-3B90DAD645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ELL305: Computer Architecture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D29B4D5-A9F8-5192-FBF3-9502B16873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C3541-01C1-4CA5-B68F-FEE868C7D1AF}" type="slidenum">
              <a:rPr lang="en-US" smtClean="0"/>
              <a:t>51</a:t>
            </a:fld>
            <a:endParaRPr lang="en-US"/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EED2B34E-9BA6-89D9-BDAD-EC9DD535B4FF}"/>
              </a:ext>
            </a:extLst>
          </p:cNvPr>
          <p:cNvSpPr txBox="1">
            <a:spLocks/>
          </p:cNvSpPr>
          <p:nvPr/>
        </p:nvSpPr>
        <p:spPr>
          <a:xfrm>
            <a:off x="3745628" y="1368029"/>
            <a:ext cx="5303797" cy="4176630"/>
          </a:xfrm>
          <a:prstGeom prst="rect">
            <a:avLst/>
          </a:prstGeom>
        </p:spPr>
        <p:txBody>
          <a:bodyPr vert="horz" lIns="68580" tIns="34290" rIns="68580" bIns="34290" rtlCol="0">
            <a:normAutofit fontScale="92500"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800" dirty="0">
                <a:solidFill>
                  <a:schemeClr val="accent4"/>
                </a:solidFill>
              </a:rPr>
              <a:t>Miss rate</a:t>
            </a:r>
          </a:p>
          <a:p>
            <a:r>
              <a:rPr lang="en-US" sz="1800" dirty="0"/>
              <a:t>Access pattern of your program</a:t>
            </a:r>
          </a:p>
          <a:p>
            <a:pPr lvl="1"/>
            <a:r>
              <a:rPr lang="en-US" sz="1500" dirty="0"/>
              <a:t>Example: apply f(x) to all values in an array</a:t>
            </a:r>
          </a:p>
          <a:p>
            <a:pPr lvl="1"/>
            <a:r>
              <a:rPr lang="en-US" sz="1500" dirty="0"/>
              <a:t>Apply to blocks of array at a time: good</a:t>
            </a:r>
          </a:p>
          <a:p>
            <a:pPr lvl="1"/>
            <a:r>
              <a:rPr lang="en-US" sz="1500" dirty="0"/>
              <a:t>Apply to elements picked at random / out-of-order: bad</a:t>
            </a:r>
          </a:p>
          <a:p>
            <a:endParaRPr lang="en-US" sz="1800" dirty="0"/>
          </a:p>
          <a:p>
            <a:r>
              <a:rPr lang="en-US" sz="1800" dirty="0"/>
              <a:t>Block size</a:t>
            </a:r>
          </a:p>
          <a:p>
            <a:pPr lvl="1"/>
            <a:r>
              <a:rPr lang="en-US" sz="1500" dirty="0"/>
              <a:t>Bigger is better</a:t>
            </a:r>
          </a:p>
          <a:p>
            <a:endParaRPr lang="en-US" sz="1800" dirty="0"/>
          </a:p>
          <a:p>
            <a:r>
              <a:rPr lang="en-US" sz="1800" dirty="0"/>
              <a:t>Cache size</a:t>
            </a:r>
          </a:p>
          <a:p>
            <a:pPr lvl="1"/>
            <a:r>
              <a:rPr lang="en-US" sz="1500" dirty="0"/>
              <a:t>Bigger is better</a:t>
            </a:r>
          </a:p>
          <a:p>
            <a:endParaRPr lang="en-US" sz="1800" dirty="0"/>
          </a:p>
          <a:p>
            <a:r>
              <a:rPr lang="en-US" sz="1800" dirty="0"/>
              <a:t>Associativity</a:t>
            </a:r>
          </a:p>
          <a:p>
            <a:pPr lvl="1"/>
            <a:r>
              <a:rPr lang="en-US" sz="1500" dirty="0"/>
              <a:t>Higher is better (keeps the data in cache longer)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96F6BAB0-7F80-ACED-5912-8A30484048D8}"/>
              </a:ext>
            </a:extLst>
          </p:cNvPr>
          <p:cNvSpPr txBox="1">
            <a:spLocks/>
          </p:cNvSpPr>
          <p:nvPr/>
        </p:nvSpPr>
        <p:spPr>
          <a:xfrm>
            <a:off x="103426" y="3926206"/>
            <a:ext cx="3480158" cy="1972151"/>
          </a:xfrm>
          <a:prstGeom prst="rect">
            <a:avLst/>
          </a:prstGeom>
        </p:spPr>
        <p:txBody>
          <a:bodyPr vert="horz" lIns="68580" tIns="34290" rIns="68580" bIns="3429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800" dirty="0">
                <a:solidFill>
                  <a:schemeClr val="accent4"/>
                </a:solidFill>
              </a:rPr>
              <a:t>Miss penalty</a:t>
            </a:r>
          </a:p>
          <a:p>
            <a:r>
              <a:rPr lang="en-US" sz="1800" dirty="0"/>
              <a:t>Hierarchy depth</a:t>
            </a:r>
          </a:p>
          <a:p>
            <a:pPr lvl="1"/>
            <a:r>
              <a:rPr lang="en-US" sz="1500" dirty="0"/>
              <a:t>Lower is better</a:t>
            </a:r>
          </a:p>
          <a:p>
            <a:endParaRPr lang="en-US" sz="100" dirty="0"/>
          </a:p>
          <a:p>
            <a:r>
              <a:rPr lang="en-US" sz="1800" dirty="0"/>
              <a:t>Block size</a:t>
            </a:r>
          </a:p>
          <a:p>
            <a:pPr lvl="1"/>
            <a:r>
              <a:rPr lang="en-US" sz="1500" dirty="0"/>
              <a:t>Lower is better</a:t>
            </a:r>
          </a:p>
        </p:txBody>
      </p:sp>
    </p:spTree>
    <p:extLst>
      <p:ext uri="{BB962C8B-B14F-4D97-AF65-F5344CB8AC3E}">
        <p14:creationId xmlns:p14="http://schemas.microsoft.com/office/powerpoint/2010/main" val="25328121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indefinite"/>
                      </p:stCondLst>
                      <p:childTnLst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7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5" fill="hold">
                      <p:stCondLst>
                        <p:cond delay="indefinite"/>
                      </p:stCondLst>
                      <p:childTnLst>
                        <p:par>
                          <p:cTn id="76" fill="hold">
                            <p:stCondLst>
                              <p:cond delay="0"/>
                            </p:stCondLst>
                            <p:childTnLst>
                              <p:par>
                                <p:cTn id="7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9" fill="hold">
                      <p:stCondLst>
                        <p:cond delay="indefinite"/>
                      </p:stCondLst>
                      <p:childTnLst>
                        <p:par>
                          <p:cTn id="80" fill="hold">
                            <p:stCondLst>
                              <p:cond delay="0"/>
                            </p:stCondLst>
                            <p:childTnLst>
                              <p:par>
                                <p:cTn id="8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7" fill="hold">
                      <p:stCondLst>
                        <p:cond delay="indefinite"/>
                      </p:stCondLst>
                      <p:childTnLst>
                        <p:par>
                          <p:cTn id="88" fill="hold">
                            <p:stCondLst>
                              <p:cond delay="0"/>
                            </p:stCondLst>
                            <p:childTnLst>
                              <p:par>
                                <p:cTn id="8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7" grpId="0" uiExpand="1" build="p"/>
      <p:bldP spid="8" grpId="0" uiExpand="1" build="p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3E7DE4-B2AE-872C-0D7A-AD0A07AB98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Sources of cache misses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888F58C-BE94-5B64-6D8A-36C5EA828D1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B13859-67C5-4393-B6C2-556CF3F770C0}" type="datetime3">
              <a:rPr lang="en-US" smtClean="0"/>
              <a:t>25 March 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64B5869-6972-D5A3-6E3E-183A5AD862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ELL305: Computer Architecture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A84DA93-2286-373B-5F2D-36172DEF6A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C3541-01C1-4CA5-B68F-FEE868C7D1AF}" type="slidenum">
              <a:rPr lang="en-US" smtClean="0"/>
              <a:t>52</a:t>
            </a:fld>
            <a:endParaRPr lang="en-US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FA7E823-971C-D09B-2A88-FFEFD2287CE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55000" lnSpcReduction="20000"/>
          </a:bodyPr>
          <a:lstStyle/>
          <a:p>
            <a:r>
              <a:rPr lang="en-US" dirty="0">
                <a:solidFill>
                  <a:schemeClr val="accent4"/>
                </a:solidFill>
              </a:rPr>
              <a:t>Compulsory</a:t>
            </a:r>
            <a:r>
              <a:rPr lang="en-US" dirty="0"/>
              <a:t>: (Many names: cold start, process migration (switching processes), 1</a:t>
            </a:r>
            <a:r>
              <a:rPr lang="en-US" baseline="30000" dirty="0"/>
              <a:t>st</a:t>
            </a:r>
            <a:r>
              <a:rPr lang="en-US" dirty="0"/>
              <a:t> reference)</a:t>
            </a:r>
          </a:p>
          <a:p>
            <a:r>
              <a:rPr lang="en-US" dirty="0"/>
              <a:t>First access to block impossible to avoid; Effect is small for long running programs</a:t>
            </a:r>
          </a:p>
          <a:p>
            <a:r>
              <a:rPr lang="en-US" dirty="0">
                <a:solidFill>
                  <a:schemeClr val="accent2"/>
                </a:solidFill>
              </a:rPr>
              <a:t>Increase block size</a:t>
            </a:r>
          </a:p>
          <a:p>
            <a:r>
              <a:rPr lang="en-US" dirty="0">
                <a:solidFill>
                  <a:srgbClr val="FF0000"/>
                </a:solidFill>
              </a:rPr>
              <a:t>But this increases MP; very large blocks could increase MR</a:t>
            </a:r>
          </a:p>
          <a:p>
            <a:endParaRPr lang="en-US" dirty="0"/>
          </a:p>
          <a:p>
            <a:r>
              <a:rPr lang="en-US" dirty="0">
                <a:solidFill>
                  <a:schemeClr val="accent4"/>
                </a:solidFill>
              </a:rPr>
              <a:t>Capacity</a:t>
            </a:r>
            <a:r>
              <a:rPr lang="en-US" dirty="0"/>
              <a:t>:</a:t>
            </a:r>
          </a:p>
          <a:p>
            <a:r>
              <a:rPr lang="en-US" dirty="0"/>
              <a:t>Cache cannot contain all blocks accessed by the program, so full associativity won’t hold all blocks</a:t>
            </a:r>
          </a:p>
          <a:p>
            <a:r>
              <a:rPr lang="en-US" dirty="0">
                <a:solidFill>
                  <a:schemeClr val="accent2"/>
                </a:solidFill>
              </a:rPr>
              <a:t>Increase cache size</a:t>
            </a:r>
          </a:p>
          <a:p>
            <a:r>
              <a:rPr lang="en-US" dirty="0">
                <a:solidFill>
                  <a:srgbClr val="FF0000"/>
                </a:solidFill>
              </a:rPr>
              <a:t>But may increase HT</a:t>
            </a:r>
          </a:p>
          <a:p>
            <a:endParaRPr lang="en-US" dirty="0"/>
          </a:p>
          <a:p>
            <a:r>
              <a:rPr lang="en-US" dirty="0">
                <a:solidFill>
                  <a:schemeClr val="accent4"/>
                </a:solidFill>
              </a:rPr>
              <a:t>Conflict</a:t>
            </a:r>
            <a:r>
              <a:rPr lang="en-US" dirty="0"/>
              <a:t>: (collision)</a:t>
            </a:r>
          </a:p>
          <a:p>
            <a:r>
              <a:rPr lang="en-US" dirty="0"/>
              <a:t>Multiple memory locations mapped to the same cache location, so there is a lack of associativity</a:t>
            </a:r>
          </a:p>
          <a:p>
            <a:r>
              <a:rPr lang="en-US" dirty="0">
                <a:solidFill>
                  <a:schemeClr val="accent2"/>
                </a:solidFill>
              </a:rPr>
              <a:t>Increase associativity</a:t>
            </a:r>
          </a:p>
          <a:p>
            <a:r>
              <a:rPr lang="en-US" dirty="0">
                <a:solidFill>
                  <a:srgbClr val="FF0000"/>
                </a:solidFill>
              </a:rPr>
              <a:t>But may increase HT</a:t>
            </a:r>
          </a:p>
        </p:txBody>
      </p:sp>
    </p:spTree>
    <p:extLst>
      <p:ext uri="{BB962C8B-B14F-4D97-AF65-F5344CB8AC3E}">
        <p14:creationId xmlns:p14="http://schemas.microsoft.com/office/powerpoint/2010/main" val="42398916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uiExpand="1" build="p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4E520F-9D98-103F-5674-89BF0FFDF1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Identifying the three types of misses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C441B4D-00B5-31D6-A0A2-F6C97BA0507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B13859-67C5-4393-B6C2-556CF3F770C0}" type="datetime3">
              <a:rPr lang="en-US" smtClean="0"/>
              <a:t>25 March 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E66249D-0AF2-AB91-40A0-BC7CCF530A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ELL305: Computer Architecture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A41D568-37AE-E5AC-C706-BA59374859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C3541-01C1-4CA5-B68F-FEE868C7D1AF}" type="slidenum">
              <a:rPr lang="en-US" smtClean="0"/>
              <a:t>53</a:t>
            </a:fld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8AADA26A-15A5-A6BE-07D2-078DA58DD41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46279" y="1917886"/>
            <a:ext cx="5451442" cy="30222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73431695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2E309C-B98B-F9DB-0C32-B534D212DE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AMAT Example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E28AB1C-67C9-8DD1-2690-6746FDD5F63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Processor specs: 200 </a:t>
            </a:r>
            <a:r>
              <a:rPr lang="en-US" dirty="0" err="1"/>
              <a:t>ps</a:t>
            </a:r>
            <a:r>
              <a:rPr lang="en-US" dirty="0"/>
              <a:t> clock, miss penalty of 50 clock cycles, miss rate of 0.02 misses/instruction, and hit time of 1 clock cycle.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Which of the following improvements will decrease (better) our AMAT the most?</a:t>
            </a:r>
          </a:p>
          <a:p>
            <a:pPr marL="0" indent="0" algn="ctr">
              <a:buNone/>
            </a:pPr>
            <a:r>
              <a:rPr lang="en-US" dirty="0">
                <a:solidFill>
                  <a:schemeClr val="accent4"/>
                </a:solidFill>
              </a:rPr>
              <a:t>AMAT = 1 + 0.02 * 50 = 2 cycles = 400 </a:t>
            </a:r>
            <a:r>
              <a:rPr lang="en-US" dirty="0" err="1">
                <a:solidFill>
                  <a:schemeClr val="accent4"/>
                </a:solidFill>
              </a:rPr>
              <a:t>ps</a:t>
            </a:r>
            <a:endParaRPr lang="en-US" dirty="0">
              <a:solidFill>
                <a:schemeClr val="accent4"/>
              </a:solidFill>
            </a:endParaRPr>
          </a:p>
          <a:p>
            <a:pPr>
              <a:buAutoNum type="alphaUcParenR"/>
            </a:pPr>
            <a:r>
              <a:rPr lang="en-US" dirty="0"/>
              <a:t>190 </a:t>
            </a:r>
            <a:r>
              <a:rPr lang="en-US" dirty="0" err="1"/>
              <a:t>ps</a:t>
            </a:r>
            <a:r>
              <a:rPr lang="en-US" dirty="0"/>
              <a:t> clock</a:t>
            </a:r>
          </a:p>
          <a:p>
            <a:pPr marL="342900" lvl="1" indent="0">
              <a:buNone/>
            </a:pPr>
            <a:r>
              <a:rPr lang="en-US" dirty="0">
                <a:solidFill>
                  <a:schemeClr val="accent4"/>
                </a:solidFill>
              </a:rPr>
              <a:t>2 cycles = 380 </a:t>
            </a:r>
            <a:r>
              <a:rPr lang="en-US" dirty="0" err="1">
                <a:solidFill>
                  <a:schemeClr val="accent4"/>
                </a:solidFill>
              </a:rPr>
              <a:t>ps</a:t>
            </a:r>
            <a:endParaRPr lang="en-US" dirty="0">
              <a:solidFill>
                <a:schemeClr val="accent4"/>
              </a:solidFill>
            </a:endParaRPr>
          </a:p>
          <a:p>
            <a:pPr>
              <a:buAutoNum type="alphaUcParenR"/>
            </a:pPr>
            <a:r>
              <a:rPr lang="en-US" dirty="0"/>
              <a:t>Change miss penalty to 40 cycles</a:t>
            </a:r>
          </a:p>
          <a:p>
            <a:pPr marL="342900" lvl="1" indent="0">
              <a:buNone/>
            </a:pPr>
            <a:r>
              <a:rPr lang="en-US" dirty="0">
                <a:solidFill>
                  <a:schemeClr val="accent4"/>
                </a:solidFill>
              </a:rPr>
              <a:t>1 + 0.02 * 40 = 360</a:t>
            </a:r>
          </a:p>
          <a:p>
            <a:pPr>
              <a:buAutoNum type="alphaUcParenR"/>
            </a:pPr>
            <a:r>
              <a:rPr lang="en-US" dirty="0"/>
              <a:t>Change miss rate to 0.015 per instruction</a:t>
            </a:r>
          </a:p>
          <a:p>
            <a:pPr marL="342900" lvl="1" indent="0">
              <a:buNone/>
            </a:pPr>
            <a:r>
              <a:rPr lang="en-US" dirty="0">
                <a:solidFill>
                  <a:schemeClr val="accent4"/>
                </a:solidFill>
              </a:rPr>
              <a:t>1 + .015 * 50 = 350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0B4A8D0-FFBD-E232-B0D3-3FD499D27E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B13859-67C5-4393-B6C2-556CF3F770C0}" type="datetime3">
              <a:rPr lang="en-US" smtClean="0"/>
              <a:t>25 March 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0D59D66-DEE8-C476-951F-C7EF18C4F6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ELL305: Computer Architecture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99DA120-3BA6-1830-9BB7-71C9F62B20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C3541-01C1-4CA5-B68F-FEE868C7D1AF}" type="slidenum">
              <a:rPr lang="en-US" smtClean="0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767826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EE9366-18EC-E576-9DB4-7DB6A9D263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Summarizing parameter trade-offs in cache design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A720A68-622E-92A0-E48C-DC6F2FC7990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To make AMAT small, we want to have a small hit time, low miss rate, and/or small miss penalty</a:t>
            </a:r>
          </a:p>
          <a:p>
            <a:r>
              <a:rPr lang="en-US" dirty="0"/>
              <a:t>It is hard to do all these at once!</a:t>
            </a:r>
          </a:p>
          <a:p>
            <a:pPr lvl="1"/>
            <a:r>
              <a:rPr lang="en-US" dirty="0"/>
              <a:t>Direct mapped caches have small hit time</a:t>
            </a:r>
          </a:p>
          <a:p>
            <a:pPr lvl="1"/>
            <a:r>
              <a:rPr lang="en-US" dirty="0"/>
              <a:t>Fully-Associative caches have a low miss rate</a:t>
            </a:r>
          </a:p>
          <a:p>
            <a:pPr lvl="1"/>
            <a:r>
              <a:rPr lang="en-US" dirty="0"/>
              <a:t>Small blocks help with lowering miss penalty, so do many opportunities to store data</a:t>
            </a:r>
          </a:p>
          <a:p>
            <a:r>
              <a:rPr lang="en-US" dirty="0"/>
              <a:t>Can we combine all these things into one structure to achieve our goal?</a:t>
            </a:r>
          </a:p>
          <a:p>
            <a:r>
              <a:rPr lang="en-US" dirty="0"/>
              <a:t>Multi-level caches!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8542B1-DFA1-95BF-7653-29C3FB3229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B13859-67C5-4393-B6C2-556CF3F770C0}" type="datetime3">
              <a:rPr lang="en-US" smtClean="0"/>
              <a:t>25 March 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DBC3FBE-67D1-7869-32CB-614B2102D9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ELL305: Computer Architecture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BB2F95C-1309-D46B-F380-A282876EC3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C3541-01C1-4CA5-B68F-FEE868C7D1AF}" type="slidenum">
              <a:rPr lang="en-US" smtClean="0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620640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DC38E4-75E4-268B-A90C-5CE9520B58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Multi-level cache design</a:t>
            </a:r>
          </a:p>
        </p:txBody>
      </p: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F8A1F3B4-27C4-8DDD-B0C6-CCFCFD930FE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621083" y="2009868"/>
            <a:ext cx="5446043" cy="3020990"/>
          </a:xfr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DAC0D59-1443-BF5D-47A0-9601B547D4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B13859-67C5-4393-B6C2-556CF3F770C0}" type="datetime3">
              <a:rPr lang="en-US" smtClean="0"/>
              <a:t>25 March 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7EA1BAA-085A-AF21-0AE1-13F4F07701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ELL305: Computer Architecture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A186E8A-8E85-C30E-AFB8-53D1EEB34A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C3541-01C1-4CA5-B68F-FEE868C7D1AF}" type="slidenum">
              <a:rPr lang="en-US" smtClean="0"/>
              <a:t>56</a:t>
            </a:fld>
            <a:endParaRPr lang="en-US"/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6FFF0CCB-A86E-12EE-A292-6456D4ADEFFA}"/>
              </a:ext>
            </a:extLst>
          </p:cNvPr>
          <p:cNvSpPr txBox="1">
            <a:spLocks/>
          </p:cNvSpPr>
          <p:nvPr/>
        </p:nvSpPr>
        <p:spPr>
          <a:xfrm>
            <a:off x="94576" y="2009868"/>
            <a:ext cx="3491105" cy="3563017"/>
          </a:xfrm>
          <a:prstGeom prst="rect">
            <a:avLst/>
          </a:prstGeom>
        </p:spPr>
        <p:txBody>
          <a:bodyPr vert="horz" lIns="68580" tIns="34290" rIns="68580" bIns="3429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800" dirty="0"/>
              <a:t>L1$ focus on low hit time</a:t>
            </a:r>
          </a:p>
          <a:p>
            <a:pPr lvl="1"/>
            <a:r>
              <a:rPr lang="en-US" sz="1500" dirty="0"/>
              <a:t>Small size (less comparisons)</a:t>
            </a:r>
          </a:p>
          <a:p>
            <a:pPr lvl="1"/>
            <a:r>
              <a:rPr lang="en-US" sz="1500" dirty="0"/>
              <a:t>Low associativity (less comparisons)</a:t>
            </a:r>
          </a:p>
          <a:p>
            <a:pPr lvl="1"/>
            <a:r>
              <a:rPr lang="en-US" sz="1500" dirty="0"/>
              <a:t>OK to have a higher miss rate because there is L2$...</a:t>
            </a:r>
          </a:p>
          <a:p>
            <a:r>
              <a:rPr lang="en-US" sz="1800" dirty="0"/>
              <a:t>L2$, L3$ focus on low miss rate</a:t>
            </a:r>
          </a:p>
          <a:p>
            <a:pPr lvl="1"/>
            <a:r>
              <a:rPr lang="en-US" sz="1500" dirty="0"/>
              <a:t>Larger cache</a:t>
            </a:r>
          </a:p>
          <a:p>
            <a:pPr lvl="1"/>
            <a:r>
              <a:rPr lang="en-US" sz="1500" dirty="0"/>
              <a:t>Larger blocks</a:t>
            </a:r>
          </a:p>
          <a:p>
            <a:pPr lvl="1"/>
            <a:r>
              <a:rPr lang="en-US" sz="1500" dirty="0"/>
              <a:t>Larger associativity</a:t>
            </a:r>
          </a:p>
        </p:txBody>
      </p:sp>
    </p:spTree>
    <p:extLst>
      <p:ext uri="{BB962C8B-B14F-4D97-AF65-F5344CB8AC3E}">
        <p14:creationId xmlns:p14="http://schemas.microsoft.com/office/powerpoint/2010/main" val="3985178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uiExpand="1" build="p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0EE7DF-A56A-50C5-FF3C-A31675F29B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Multi-level cache AMAT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8A72D1E-D7B8-953D-FE8D-6FC776D1A6A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AMAT = L1 HT + L1 MR × L1 MP</a:t>
            </a:r>
          </a:p>
          <a:p>
            <a:r>
              <a:rPr lang="en-US" dirty="0"/>
              <a:t>Now L1 MP depends on other cache levels</a:t>
            </a:r>
          </a:p>
          <a:p>
            <a:r>
              <a:rPr lang="en-US" dirty="0"/>
              <a:t>Must trace ENTIRE path to memory</a:t>
            </a:r>
          </a:p>
          <a:p>
            <a:endParaRPr lang="en-US" dirty="0"/>
          </a:p>
          <a:p>
            <a:pPr marL="0" indent="0">
              <a:buNone/>
            </a:pPr>
            <a:r>
              <a:rPr lang="en-US" dirty="0"/>
              <a:t>L1 MP = L2 HT + L2 MR × L2 MP</a:t>
            </a:r>
          </a:p>
          <a:p>
            <a:r>
              <a:rPr lang="en-US" dirty="0"/>
              <a:t>If more levels, then continue this chain (i.e. </a:t>
            </a:r>
            <a:r>
              <a:rPr lang="en-US" dirty="0" err="1"/>
              <a:t>MPi</a:t>
            </a:r>
            <a:r>
              <a:rPr lang="en-US" dirty="0"/>
              <a:t> = HTi+1 + MRi+1 × MPi+1)</a:t>
            </a:r>
          </a:p>
          <a:p>
            <a:r>
              <a:rPr lang="en-US" dirty="0"/>
              <a:t>Final MP is main memory access time</a:t>
            </a:r>
          </a:p>
          <a:p>
            <a:endParaRPr lang="en-US" dirty="0"/>
          </a:p>
          <a:p>
            <a:pPr marL="0" indent="0">
              <a:buNone/>
            </a:pPr>
            <a:r>
              <a:rPr lang="en-US" dirty="0"/>
              <a:t>For two levels: </a:t>
            </a:r>
            <a:r>
              <a:rPr lang="en-US" dirty="0">
                <a:solidFill>
                  <a:schemeClr val="accent4"/>
                </a:solidFill>
              </a:rPr>
              <a:t>AMAT = L1 HT + L1 MR × (L2 HT + L2 MR × L2 MP)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DFB305F-50E0-9516-4C67-F6A061E738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B13859-67C5-4393-B6C2-556CF3F770C0}" type="datetime3">
              <a:rPr lang="en-US" smtClean="0"/>
              <a:t>25 March 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2F93DCC-1998-7DFA-5CC2-F597A711C3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ELL305: Computer Architecture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7E11C5D-8A14-308A-BBE4-01134D6190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C3541-01C1-4CA5-B68F-FEE868C7D1AF}" type="slidenum">
              <a:rPr lang="en-US" smtClean="0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9992923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7BDF0E-5A92-5019-5C56-DF3A67EDAA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AMAT Example 2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F17758D-D4CF-D78B-D004-AF66119A48F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Processor specs:</a:t>
            </a:r>
          </a:p>
          <a:p>
            <a:pPr marL="0" indent="0">
              <a:buNone/>
            </a:pPr>
            <a:r>
              <a:rPr lang="en-US" dirty="0"/>
              <a:t>1 cycle L1 HT, 2% L1 MR,</a:t>
            </a:r>
          </a:p>
          <a:p>
            <a:pPr marL="0" indent="0">
              <a:buNone/>
            </a:pPr>
            <a:r>
              <a:rPr lang="en-US" dirty="0"/>
              <a:t>5 cycle L2 HT, 5% L2 MR,</a:t>
            </a:r>
          </a:p>
          <a:p>
            <a:pPr marL="0" indent="0">
              <a:buNone/>
            </a:pPr>
            <a:r>
              <a:rPr lang="en-US" dirty="0"/>
              <a:t>100 cycle main memory HT</a:t>
            </a:r>
          </a:p>
          <a:p>
            <a:pPr marL="0" indent="0">
              <a:buNone/>
            </a:pPr>
            <a:r>
              <a:rPr lang="en-US" dirty="0"/>
              <a:t>Calculate AMAT:</a:t>
            </a:r>
          </a:p>
          <a:p>
            <a:pPr marL="0" indent="0">
              <a:buNone/>
            </a:pPr>
            <a:r>
              <a:rPr lang="en-US" dirty="0"/>
              <a:t>	without $L2,	 with $L2</a:t>
            </a:r>
          </a:p>
          <a:p>
            <a:pPr>
              <a:buAutoNum type="alphaUcParenR"/>
            </a:pPr>
            <a:r>
              <a:rPr lang="en-US" dirty="0"/>
              <a:t>                3		      1.3</a:t>
            </a:r>
          </a:p>
          <a:p>
            <a:pPr>
              <a:buAutoNum type="alphaUcParenR"/>
            </a:pPr>
            <a:r>
              <a:rPr lang="en-US" dirty="0"/>
              <a:t>                2		      1.2</a:t>
            </a:r>
          </a:p>
          <a:p>
            <a:pPr>
              <a:buAutoNum type="alphaUcParenR"/>
            </a:pPr>
            <a:r>
              <a:rPr lang="en-US" dirty="0"/>
              <a:t>                2		      1.1</a:t>
            </a:r>
          </a:p>
          <a:p>
            <a:pPr>
              <a:buAutoNum type="alphaUcParenR"/>
            </a:pPr>
            <a:r>
              <a:rPr lang="en-US" dirty="0"/>
              <a:t>                3		      1.2 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EF0D620-1382-1D37-B727-DB95D171C4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B13859-67C5-4393-B6C2-556CF3F770C0}" type="datetime3">
              <a:rPr lang="en-US" smtClean="0"/>
              <a:t>25 March 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43C64D3-2381-F3B2-52DE-1EC9D0CF33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ELL305: Computer Architecture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5D419E0-FC50-B632-F709-B4FE7BBF90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C3541-01C1-4CA5-B68F-FEE868C7D1AF}" type="slidenum">
              <a:rPr lang="en-US" smtClean="0"/>
              <a:t>58</a:t>
            </a:fld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4433E95-FCE5-805F-44DD-DCD4CA28289B}"/>
              </a:ext>
            </a:extLst>
          </p:cNvPr>
          <p:cNvSpPr txBox="1"/>
          <p:nvPr/>
        </p:nvSpPr>
        <p:spPr>
          <a:xfrm>
            <a:off x="4616014" y="3290501"/>
            <a:ext cx="2376011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/>
              <a:t>AMAT1 = 1 + 0.02 × 100 = 3</a:t>
            </a:r>
            <a:endParaRPr lang="en-US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AC065D8-8DD2-BB62-A870-D4BC74C703BD}"/>
              </a:ext>
            </a:extLst>
          </p:cNvPr>
          <p:cNvSpPr txBox="1"/>
          <p:nvPr/>
        </p:nvSpPr>
        <p:spPr>
          <a:xfrm>
            <a:off x="4616014" y="3626975"/>
            <a:ext cx="3219251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AMAT2 = 1 + 0.02 × (5 + 0.05 × 100) = 1.2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CFE8752B-AE47-0CF4-61E0-B4ABF19D33D4}"/>
              </a:ext>
            </a:extLst>
          </p:cNvPr>
          <p:cNvSpPr/>
          <p:nvPr/>
        </p:nvSpPr>
        <p:spPr>
          <a:xfrm>
            <a:off x="94575" y="4706303"/>
            <a:ext cx="2820075" cy="274320"/>
          </a:xfrm>
          <a:prstGeom prst="rect">
            <a:avLst/>
          </a:prstGeom>
          <a:noFill/>
          <a:ln w="57150"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094357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0" grpId="0"/>
      <p:bldP spid="11" grpId="0" animBg="1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A6C409-E689-2208-8804-96BDE69CBE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Effect of block and cache sizes, associativity on Miss Rate</a:t>
            </a:r>
          </a:p>
        </p:txBody>
      </p: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20DD3FF3-9AD0-F661-86DD-2845DE5159F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94575" y="1975579"/>
            <a:ext cx="4685464" cy="2858835"/>
          </a:xfr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D5D29E5-D6CD-E5FA-C263-BAAD8984ED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B13859-67C5-4393-B6C2-556CF3F770C0}" type="datetime3">
              <a:rPr lang="en-US" smtClean="0"/>
              <a:t>25 March 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CA9745B-86A1-260D-94D1-9FBAEFAB02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ELL305: Computer Architecture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466568E-3FCF-DEAD-02A5-803F10E395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C3541-01C1-4CA5-B68F-FEE868C7D1AF}" type="slidenum">
              <a:rPr lang="en-US" smtClean="0"/>
              <a:t>59</a:t>
            </a:fld>
            <a:endParaRPr lang="en-US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F1813AD3-1CFC-C353-35C6-8C3BDD5FFF7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72050" y="1989297"/>
            <a:ext cx="4171950" cy="29110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4578664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4EF311-323D-632A-8A8A-4EE852DD13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 cache configurations</a:t>
            </a:r>
          </a:p>
        </p:txBody>
      </p: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C133262A-4937-9E70-6EF2-05A8B70D6AB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0" y="1447204"/>
            <a:ext cx="5438552" cy="4225493"/>
          </a:xfr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C177D40-8A6A-D3C8-A78E-5AAD8B7E49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B13859-67C5-4393-B6C2-556CF3F770C0}" type="datetime3">
              <a:rPr lang="en-US" smtClean="0"/>
              <a:t>25 March 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33C3F3F-BEE7-FC7F-E789-7F433B72C4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ELL305: Computer Architecture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22440EB-4245-F3A4-86B7-EDC69C0A67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C3541-01C1-4CA5-B68F-FEE868C7D1AF}" type="slidenum">
              <a:rPr lang="en-US" smtClean="0"/>
              <a:t>60</a:t>
            </a:fld>
            <a:endParaRPr lang="en-US"/>
          </a:p>
        </p:txBody>
      </p:sp>
      <p:pic>
        <p:nvPicPr>
          <p:cNvPr id="1028" name="Picture 4" descr="Why software developers should care about CPU caches | by EventHelix |  Software Design | Medium">
            <a:extLst>
              <a:ext uri="{FF2B5EF4-FFF2-40B4-BE49-F238E27FC236}">
                <a16:creationId xmlns:a16="http://schemas.microsoft.com/office/drawing/2014/main" id="{ED088E10-29DC-E31D-A4E8-FB95414AC79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00662" y="3243822"/>
            <a:ext cx="3843338" cy="24288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930EF6DD-6A84-D2B6-F5E4-A192297AE957}"/>
              </a:ext>
            </a:extLst>
          </p:cNvPr>
          <p:cNvSpPr txBox="1"/>
          <p:nvPr/>
        </p:nvSpPr>
        <p:spPr>
          <a:xfrm>
            <a:off x="5512118" y="1525430"/>
            <a:ext cx="3555008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Why software developers should care about caches: </a:t>
            </a:r>
            <a:r>
              <a:rPr lang="en-US" dirty="0">
                <a:hlinkClick r:id="rId4"/>
              </a:rPr>
              <a:t>https://medium.com/software-design/why-software-developers-should-care-about-cpu-caches-8da04355bb8a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25282248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434571-13B7-CF82-C7AD-8C74E7B174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Questions on cache</a:t>
            </a:r>
          </a:p>
        </p:txBody>
      </p: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6B05FA30-4055-4A38-062D-9D967065BA3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739522" y="2102634"/>
            <a:ext cx="7681626" cy="2977773"/>
          </a:xfr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CFA7395-5B54-1008-C934-44686C0A8A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B13859-67C5-4393-B6C2-556CF3F770C0}" type="datetime3">
              <a:rPr lang="en-US" smtClean="0"/>
              <a:t>25 March 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6837D15-F66C-ED6B-FAE5-7AA2F02643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ELL305: Computer Architecture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069C4CF-307A-8424-0399-79399AA056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C3541-01C1-4CA5-B68F-FEE868C7D1AF}" type="slidenum">
              <a:rPr lang="en-US" smtClean="0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15294539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03BF8BC-035A-5272-DAA6-76660DECAE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B13859-67C5-4393-B6C2-556CF3F770C0}" type="datetime3">
              <a:rPr lang="en-US" smtClean="0"/>
              <a:t>25 March 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3D4F6E9-DA52-0118-5F4B-7B52370AA3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ELL305: Computer Architecture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3F7E768-2746-AD9A-AF05-C06232C78F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C3541-01C1-4CA5-B68F-FEE868C7D1AF}" type="slidenum">
              <a:rPr lang="en-US" smtClean="0"/>
              <a:t>62</a:t>
            </a:fld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577DF40C-95F3-508C-A11B-B7251D4CA4B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9693" y="1262827"/>
            <a:ext cx="8304615" cy="43323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44100752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9B56BBF-7AB3-7745-C49C-41406CF02B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5ED5B51-AD87-4A59-8C03-C1CE4A48CC89}" type="datetime3">
              <a:rPr lang="en-US" smtClean="0"/>
              <a:t>25 March 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A4C0188-2FE5-80D5-0524-048A67D95F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ELL305: Computer Architecture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34597EF-47AE-EB5D-0E0D-276BC75BE1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C3541-01C1-4CA5-B68F-FEE868C7D1AF}" type="slidenum">
              <a:rPr lang="en-US" smtClean="0"/>
              <a:t>63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0AA48AE1-4117-29DC-1105-0A538F6AF7D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4087" y="1205672"/>
            <a:ext cx="7275826" cy="44466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05019086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38340C7-B747-73A3-4806-E39ED27398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5ED5B51-AD87-4A59-8C03-C1CE4A48CC89}" type="datetime3">
              <a:rPr lang="en-US" smtClean="0"/>
              <a:t>25 March 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29652E2-C946-3257-1AF7-A198F576E4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ELL305: Computer Architecture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F7CB95E-47C0-9FBE-6D2B-0ACF716DDD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C3541-01C1-4CA5-B68F-FEE868C7D1AF}" type="slidenum">
              <a:rPr lang="en-US" smtClean="0"/>
              <a:t>64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A19089F7-2FDF-845E-1F4D-CCEDDE23529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9760" y="1468585"/>
            <a:ext cx="7664480" cy="39208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78836106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E630792-EE2A-F577-9D98-25AF59A3E9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5ED5B51-AD87-4A59-8C03-C1CE4A48CC89}" type="datetime3">
              <a:rPr lang="en-US" smtClean="0"/>
              <a:t>25 March 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B71CF139-DE86-1CA7-E92A-54194BEE19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ELL305: Computer Architecture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9A9CD10-D6DC-61E7-BC73-1A9FFAC65A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C3541-01C1-4CA5-B68F-FEE868C7D1AF}" type="slidenum">
              <a:rPr lang="en-US" smtClean="0"/>
              <a:t>65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5BD83A74-F078-9CEC-DCD4-1C6955D2D07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8304" y="1591468"/>
            <a:ext cx="7927392" cy="36750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8231666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066E932-AF8C-1DF9-1975-EAC2F360E9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5ED5B51-AD87-4A59-8C03-C1CE4A48CC89}" type="datetime3">
              <a:rPr lang="en-US" smtClean="0"/>
              <a:t>25 March 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D60E98E-FD4E-3878-37E8-E29039463B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ELL305: Computer Architecture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6DECBBE-B293-7BED-3BD5-FCE29871F7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C3541-01C1-4CA5-B68F-FEE868C7D1AF}" type="slidenum">
              <a:rPr lang="en-US" smtClean="0"/>
              <a:t>66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93A8DE38-5C3A-E64B-866D-339B265E3B9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8515" y="1240837"/>
            <a:ext cx="7106970" cy="39613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50351831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066E932-AF8C-1DF9-1975-EAC2F360E9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5ED5B51-AD87-4A59-8C03-C1CE4A48CC89}" type="datetime3">
              <a:rPr lang="en-US" smtClean="0"/>
              <a:t>25 March 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D60E98E-FD4E-3878-37E8-E29039463B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ELL305: Computer Architecture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6DECBBE-B293-7BED-3BD5-FCE29871F7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C3541-01C1-4CA5-B68F-FEE868C7D1AF}" type="slidenum">
              <a:rPr lang="en-US" smtClean="0"/>
              <a:t>67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93A8DE38-5C3A-E64B-866D-339B265E3B9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018515" y="1283480"/>
            <a:ext cx="7106970" cy="38760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45149848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066E932-AF8C-1DF9-1975-EAC2F360E9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5ED5B51-AD87-4A59-8C03-C1CE4A48CC89}" type="datetime3">
              <a:rPr lang="en-US" smtClean="0"/>
              <a:t>25 March 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D60E98E-FD4E-3878-37E8-E29039463B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ELL305: Computer Architecture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6DECBBE-B293-7BED-3BD5-FCE29871F7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C3541-01C1-4CA5-B68F-FEE868C7D1AF}" type="slidenum">
              <a:rPr lang="en-US" smtClean="0"/>
              <a:t>68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93A8DE38-5C3A-E64B-866D-339B265E3B9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018515" y="1499019"/>
            <a:ext cx="7106970" cy="34449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21931052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9746F64-BC21-6819-C58C-436CDA14E2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5ED5B51-AD87-4A59-8C03-C1CE4A48CC89}" type="datetime3">
              <a:rPr lang="en-US" smtClean="0"/>
              <a:t>25 March 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C5C6DCF-50FD-E4A9-2536-AEF2BF95EA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ELL305: Computer Architecture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EF6541D-7737-FA55-BC31-3ED0CBD05C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C3541-01C1-4CA5-B68F-FEE868C7D1AF}" type="slidenum">
              <a:rPr lang="en-US" smtClean="0"/>
              <a:t>69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8FCA2E41-3BD1-7A0E-925A-1A585FA5D89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2669" y="1757218"/>
            <a:ext cx="7178662" cy="33435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49839578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E2BE73F-4924-508A-BB01-0F00A8CB5F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5ED5B51-AD87-4A59-8C03-C1CE4A48CC89}" type="datetime3">
              <a:rPr lang="en-US" smtClean="0"/>
              <a:t>25 March 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9FFFDC5-CFAE-2D8C-5B20-4C7D647D33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ELL305: Computer Architecture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FFC2A16-0AAE-B2C6-D2E7-D7D4B7AED9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C3541-01C1-4CA5-B68F-FEE868C7D1AF}" type="slidenum">
              <a:rPr lang="en-US" smtClean="0"/>
              <a:t>70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A19BCE96-2882-D371-B052-189BA715B37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9773" y="1731498"/>
            <a:ext cx="7544454" cy="3395004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19E22E34-2C34-972E-B937-F1E4245DBA90}"/>
              </a:ext>
            </a:extLst>
          </p:cNvPr>
          <p:cNvSpPr txBox="1"/>
          <p:nvPr/>
        </p:nvSpPr>
        <p:spPr>
          <a:xfrm>
            <a:off x="799773" y="1185303"/>
            <a:ext cx="457313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/>
              <a:t>C</a:t>
            </a:r>
            <a:r>
              <a:rPr lang="en-US" dirty="0"/>
              <a:t>: cache size; </a:t>
            </a:r>
            <a:r>
              <a:rPr lang="en-US" b="1" dirty="0"/>
              <a:t>K</a:t>
            </a:r>
            <a:r>
              <a:rPr lang="en-US" dirty="0"/>
              <a:t>: block size; </a:t>
            </a:r>
            <a:r>
              <a:rPr lang="en-US" b="1" dirty="0"/>
              <a:t>N</a:t>
            </a:r>
            <a:r>
              <a:rPr lang="en-US" dirty="0"/>
              <a:t>: set size</a:t>
            </a:r>
          </a:p>
        </p:txBody>
      </p:sp>
    </p:spTree>
    <p:extLst>
      <p:ext uri="{BB962C8B-B14F-4D97-AF65-F5344CB8AC3E}">
        <p14:creationId xmlns:p14="http://schemas.microsoft.com/office/powerpoint/2010/main" val="3146457188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DEE9D1C-0CE3-7239-13EB-5AE9A3D45B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5ED5B51-AD87-4A59-8C03-C1CE4A48CC89}" type="datetime3">
              <a:rPr lang="en-US" smtClean="0"/>
              <a:t>25 March 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48A652E-3D34-D81D-1973-50384B98D0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ELL305: Computer Architecture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E7823B8-646D-525C-B8A3-FAB7010AF1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C3541-01C1-4CA5-B68F-FEE868C7D1AF}" type="slidenum">
              <a:rPr lang="en-US" smtClean="0"/>
              <a:t>71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9D2330CC-2963-DB6F-4D4D-518454E739C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6861" y="1375756"/>
            <a:ext cx="8070279" cy="300635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9E3B45E5-DC7D-D9C4-39B3-3CF900E91BD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85866" y="4564446"/>
            <a:ext cx="3972269" cy="4629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736383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DEE9D1C-0CE3-7239-13EB-5AE9A3D45B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5ED5B51-AD87-4A59-8C03-C1CE4A48CC89}" type="datetime3">
              <a:rPr lang="en-US" smtClean="0"/>
              <a:t>25 March 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48A652E-3D34-D81D-1973-50384B98D0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ELL305: Computer Architecture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E7823B8-646D-525C-B8A3-FAB7010AF1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C3541-01C1-4CA5-B68F-FEE868C7D1AF}" type="slidenum">
              <a:rPr lang="en-US" smtClean="0"/>
              <a:t>72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9D2330CC-2963-DB6F-4D4D-518454E739CE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6172"/>
          <a:stretch/>
        </p:blipFill>
        <p:spPr>
          <a:xfrm>
            <a:off x="748013" y="1332556"/>
            <a:ext cx="7607736" cy="36462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58398109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DEE9D1C-0CE3-7239-13EB-5AE9A3D45B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5ED5B51-AD87-4A59-8C03-C1CE4A48CC89}" type="datetime3">
              <a:rPr lang="en-US" smtClean="0"/>
              <a:t>25 March 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48A652E-3D34-D81D-1973-50384B98D0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ELL305: Computer Architecture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E7823B8-646D-525C-B8A3-FAB7010AF1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C3541-01C1-4CA5-B68F-FEE868C7D1AF}" type="slidenum">
              <a:rPr lang="en-US" smtClean="0"/>
              <a:t>73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9D2330CC-2963-DB6F-4D4D-518454E739CE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9" r="133"/>
          <a:stretch/>
        </p:blipFill>
        <p:spPr>
          <a:xfrm>
            <a:off x="617899" y="1332556"/>
            <a:ext cx="7862935" cy="36462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62556053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DEE9D1C-0CE3-7239-13EB-5AE9A3D45B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5ED5B51-AD87-4A59-8C03-C1CE4A48CC89}" type="datetime3">
              <a:rPr lang="en-US" smtClean="0"/>
              <a:t>25 March 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48A652E-3D34-D81D-1973-50384B98D0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ELL305: Computer Architecture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E7823B8-646D-525C-B8A3-FAB7010AF1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C3541-01C1-4CA5-B68F-FEE868C7D1AF}" type="slidenum">
              <a:rPr lang="en-US" smtClean="0"/>
              <a:t>74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9D2330CC-2963-DB6F-4D4D-518454E739CE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1" r="123"/>
          <a:stretch/>
        </p:blipFill>
        <p:spPr>
          <a:xfrm>
            <a:off x="468517" y="1332556"/>
            <a:ext cx="8154909" cy="36462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05288560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DEE9D1C-0CE3-7239-13EB-5AE9A3D45B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5ED5B51-AD87-4A59-8C03-C1CE4A48CC89}" type="datetime3">
              <a:rPr lang="en-US" smtClean="0"/>
              <a:t>25 March 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48A652E-3D34-D81D-1973-50384B98D0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ELL305: Computer Architecture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E7823B8-646D-525C-B8A3-FAB7010AF1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C3541-01C1-4CA5-B68F-FEE868C7D1AF}" type="slidenum">
              <a:rPr lang="en-US" smtClean="0"/>
              <a:t>75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9D2330CC-2963-DB6F-4D4D-518454E739CE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4" r="231"/>
          <a:stretch/>
        </p:blipFill>
        <p:spPr>
          <a:xfrm>
            <a:off x="475308" y="1332556"/>
            <a:ext cx="8134538" cy="36462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02369505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DEE9D1C-0CE3-7239-13EB-5AE9A3D45B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5ED5B51-AD87-4A59-8C03-C1CE4A48CC89}" type="datetime3">
              <a:rPr lang="en-US" smtClean="0"/>
              <a:t>25 March 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48A652E-3D34-D81D-1973-50384B98D0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ELL305: Computer Architecture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E7823B8-646D-525C-B8A3-FAB7010AF1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C3541-01C1-4CA5-B68F-FEE868C7D1AF}" type="slidenum">
              <a:rPr lang="en-US" smtClean="0"/>
              <a:t>76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9D2330CC-2963-DB6F-4D4D-518454E739CE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4" t="-4108" r="-251" b="-4442"/>
          <a:stretch/>
        </p:blipFill>
        <p:spPr>
          <a:xfrm>
            <a:off x="475308" y="1332556"/>
            <a:ext cx="8134538" cy="36462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11894145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DEE9D1C-0CE3-7239-13EB-5AE9A3D45B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5ED5B51-AD87-4A59-8C03-C1CE4A48CC89}" type="datetime3">
              <a:rPr lang="en-US" smtClean="0"/>
              <a:t>25 March 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48A652E-3D34-D81D-1973-50384B98D0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ELL305: Computer Architecture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E7823B8-646D-525C-B8A3-FAB7010AF1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C3541-01C1-4CA5-B68F-FEE868C7D1AF}" type="slidenum">
              <a:rPr lang="en-US" smtClean="0"/>
              <a:t>77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9D2330CC-2963-DB6F-4D4D-518454E739CE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25" r="225"/>
          <a:stretch/>
        </p:blipFill>
        <p:spPr>
          <a:xfrm>
            <a:off x="475308" y="1332556"/>
            <a:ext cx="8134538" cy="36462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18937024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DEE9D1C-0CE3-7239-13EB-5AE9A3D45B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5ED5B51-AD87-4A59-8C03-C1CE4A48CC89}" type="datetime3">
              <a:rPr lang="en-US" smtClean="0"/>
              <a:t>25 March 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48A652E-3D34-D81D-1973-50384B98D0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ELL305: Computer Architecture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E7823B8-646D-525C-B8A3-FAB7010AF1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C3541-01C1-4CA5-B68F-FEE868C7D1AF}" type="slidenum">
              <a:rPr lang="en-US" smtClean="0"/>
              <a:t>78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9D2330CC-2963-DB6F-4D4D-518454E739CE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335" t="1" r="126" b="-2874"/>
          <a:stretch/>
        </p:blipFill>
        <p:spPr>
          <a:xfrm>
            <a:off x="475308" y="1332556"/>
            <a:ext cx="8134538" cy="36462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06173543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DEE9D1C-0CE3-7239-13EB-5AE9A3D45B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5ED5B51-AD87-4A59-8C03-C1CE4A48CC89}" type="datetime3">
              <a:rPr lang="en-US" smtClean="0"/>
              <a:t>25 March 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48A652E-3D34-D81D-1973-50384B98D0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ELL305: Computer Architecture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E7823B8-646D-525C-B8A3-FAB7010AF1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C3541-01C1-4CA5-B68F-FEE868C7D1AF}" type="slidenum">
              <a:rPr lang="en-US" smtClean="0"/>
              <a:t>79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9D2330CC-2963-DB6F-4D4D-518454E739CE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42" b="742"/>
          <a:stretch/>
        </p:blipFill>
        <p:spPr>
          <a:xfrm>
            <a:off x="475308" y="1332556"/>
            <a:ext cx="8134538" cy="36462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23107534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9BE0BAA-21CB-B908-88D7-BCC4ABA43B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5ED5B51-AD87-4A59-8C03-C1CE4A48CC89}" type="datetime3">
              <a:rPr lang="en-US" smtClean="0"/>
              <a:t>25 March 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55BFBAD-7648-C6F5-C1E9-401583F517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ELL305: Computer Architecture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C524F3F-EBE6-97C2-83B5-CACAA110F5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C3541-01C1-4CA5-B68F-FEE868C7D1AF}" type="slidenum">
              <a:rPr lang="en-US" smtClean="0"/>
              <a:t>80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0DD65450-1FD5-88C9-9467-CAD977FB4B8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381832" y="1534820"/>
            <a:ext cx="4380336" cy="32315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61943739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9BE0BAA-21CB-B908-88D7-BCC4ABA43B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5ED5B51-AD87-4A59-8C03-C1CE4A48CC89}" type="datetime3">
              <a:rPr lang="en-US" smtClean="0"/>
              <a:t>25 March 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55BFBAD-7648-C6F5-C1E9-401583F517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ELL305: Computer Architecture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C524F3F-EBE6-97C2-83B5-CACAA110F5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C3541-01C1-4CA5-B68F-FEE868C7D1AF}" type="slidenum">
              <a:rPr lang="en-US" smtClean="0"/>
              <a:t>81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0DD65450-1FD5-88C9-9467-CAD977FB4B8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072490" y="1985966"/>
            <a:ext cx="4999020" cy="23292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00190868"/>
      </p:ext>
    </p:extLst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9BE0BAA-21CB-B908-88D7-BCC4ABA43B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5ED5B51-AD87-4A59-8C03-C1CE4A48CC89}" type="datetime3">
              <a:rPr lang="en-US" smtClean="0"/>
              <a:t>25 March 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55BFBAD-7648-C6F5-C1E9-401583F517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ELL305: Computer Architecture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C524F3F-EBE6-97C2-83B5-CACAA110F5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C3541-01C1-4CA5-B68F-FEE868C7D1AF}" type="slidenum">
              <a:rPr lang="en-US" smtClean="0"/>
              <a:t>82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0DD65450-1FD5-88C9-9467-CAD977FB4B8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849060" y="1973303"/>
            <a:ext cx="5445881" cy="29113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8724039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pptA48A.tmp</Template>
  <TotalTime>19410</TotalTime>
  <Words>3908</Words>
  <Application>Microsoft Office PowerPoint</Application>
  <PresentationFormat>On-screen Show (4:3)</PresentationFormat>
  <Paragraphs>706</Paragraphs>
  <Slides>82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10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82</vt:i4>
      </vt:variant>
    </vt:vector>
  </HeadingPairs>
  <TitlesOfParts>
    <vt:vector size="93" baseType="lpstr">
      <vt:lpstr>Arial</vt:lpstr>
      <vt:lpstr>Calibri</vt:lpstr>
      <vt:lpstr>Comic Sans MS</vt:lpstr>
      <vt:lpstr>Geneva</vt:lpstr>
      <vt:lpstr>Harlow Solid Italic</vt:lpstr>
      <vt:lpstr>Symbol</vt:lpstr>
      <vt:lpstr>Times New Roman</vt:lpstr>
      <vt:lpstr>Trebuchet MS</vt:lpstr>
      <vt:lpstr>Verdana</vt:lpstr>
      <vt:lpstr>Wingdings</vt:lpstr>
      <vt:lpstr>Office Theme</vt:lpstr>
      <vt:lpstr>Computer Architecture</vt:lpstr>
      <vt:lpstr>Memory Technology: 1950s</vt:lpstr>
      <vt:lpstr>Memory Technology Today: DRAM</vt:lpstr>
      <vt:lpstr>DRAM Capacity Growth</vt:lpstr>
      <vt:lpstr>Processor-DRAM Performance Gap</vt:lpstr>
      <vt:lpstr>Faster Memory Technology: SRAM</vt:lpstr>
      <vt:lpstr>Slow Memory Technology: Magnetic Disk</vt:lpstr>
      <vt:lpstr>Quality vs Quantity</vt:lpstr>
      <vt:lpstr>Just how slow is the school bus?</vt:lpstr>
      <vt:lpstr>Tradeoffs across a variety of memory technologies</vt:lpstr>
      <vt:lpstr>Best of Both Worlds</vt:lpstr>
      <vt:lpstr>Writing reports before the age of internet – an analogy</vt:lpstr>
      <vt:lpstr>The stack of books on your desk is called a cache</vt:lpstr>
      <vt:lpstr>The principle of locality</vt:lpstr>
      <vt:lpstr>Working Set: Definition</vt:lpstr>
      <vt:lpstr>Two Aspects of Memory Access</vt:lpstr>
      <vt:lpstr>What is a cache?</vt:lpstr>
      <vt:lpstr>Memory hierarchy</vt:lpstr>
      <vt:lpstr>Memory transfer in the hierarchy</vt:lpstr>
      <vt:lpstr>Cache management – four important questions to resolve</vt:lpstr>
      <vt:lpstr>Question 1: Where to put the data?</vt:lpstr>
      <vt:lpstr>Question 1: Where to put the data?</vt:lpstr>
      <vt:lpstr>Question 1: Where to put the data?</vt:lpstr>
      <vt:lpstr>Question 2: How to find the data?</vt:lpstr>
      <vt:lpstr>Question 2: How to find the data?</vt:lpstr>
      <vt:lpstr>Question 2: How to find the data?</vt:lpstr>
      <vt:lpstr>Taking advantage of spatial locality</vt:lpstr>
      <vt:lpstr>Locating a byte within the cache block – block offsets</vt:lpstr>
      <vt:lpstr>A circuit to implement direct-addressed cache</vt:lpstr>
      <vt:lpstr>A circuit to implement direct-addressed cache</vt:lpstr>
      <vt:lpstr>Disadvantage of direct mapped cache</vt:lpstr>
      <vt:lpstr>Fully associative caches</vt:lpstr>
      <vt:lpstr>Set associative caches</vt:lpstr>
      <vt:lpstr>Question 1: Where to put the data (set associative caches)</vt:lpstr>
      <vt:lpstr>Question 2: How to find the data?</vt:lpstr>
      <vt:lpstr>Implementation of a set-associative cache</vt:lpstr>
      <vt:lpstr>Set associative caches are a general idea</vt:lpstr>
      <vt:lpstr>Review of different types of caches</vt:lpstr>
      <vt:lpstr>Question 3: How to remove data to make space for new data?</vt:lpstr>
      <vt:lpstr>Example of LRU</vt:lpstr>
      <vt:lpstr>How to write data?</vt:lpstr>
      <vt:lpstr>A picture of the cache</vt:lpstr>
      <vt:lpstr>Fully associative cache example operation</vt:lpstr>
      <vt:lpstr>Fully associative cache example operation</vt:lpstr>
      <vt:lpstr>Fully associative cache example operation</vt:lpstr>
      <vt:lpstr>Direct mapped cache example operation</vt:lpstr>
      <vt:lpstr>Set-associative cache example operation</vt:lpstr>
      <vt:lpstr>Cache terminology</vt:lpstr>
      <vt:lpstr>Access time for memory with caches</vt:lpstr>
      <vt:lpstr>Average Memory Access Time (AMAT)</vt:lpstr>
      <vt:lpstr>Optimizing AMAT = Hit time + Miss rate × Miss penalty</vt:lpstr>
      <vt:lpstr>Sources of cache misses</vt:lpstr>
      <vt:lpstr>Identifying the three types of misses</vt:lpstr>
      <vt:lpstr>AMAT Example</vt:lpstr>
      <vt:lpstr>Summarizing parameter trade-offs in cache design</vt:lpstr>
      <vt:lpstr>Multi-level cache design</vt:lpstr>
      <vt:lpstr>Multi-level cache AMAT</vt:lpstr>
      <vt:lpstr>AMAT Example 2</vt:lpstr>
      <vt:lpstr>Effect of block and cache sizes, associativity on Miss Rate</vt:lpstr>
      <vt:lpstr>Example cache configurations</vt:lpstr>
      <vt:lpstr>Questions on cache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bits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Real Time Systems</dc:title>
  <dc:creator>a</dc:creator>
  <cp:lastModifiedBy>Saurabh Gandhi</cp:lastModifiedBy>
  <cp:revision>747</cp:revision>
  <dcterms:created xsi:type="dcterms:W3CDTF">2010-01-15T20:22:21Z</dcterms:created>
  <dcterms:modified xsi:type="dcterms:W3CDTF">2026-03-25T07:51:06Z</dcterms:modified>
</cp:coreProperties>
</file>