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337" r:id="rId2"/>
    <p:sldId id="360" r:id="rId3"/>
    <p:sldId id="361" r:id="rId4"/>
    <p:sldId id="362" r:id="rId5"/>
    <p:sldId id="363" r:id="rId6"/>
    <p:sldId id="364" r:id="rId7"/>
    <p:sldId id="365" r:id="rId8"/>
    <p:sldId id="366" r:id="rId9"/>
    <p:sldId id="359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72C3E8"/>
    <a:srgbClr val="EA3F26"/>
    <a:srgbClr val="FCD5B5"/>
    <a:srgbClr val="8EB4E3"/>
    <a:srgbClr val="D7E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8316" autoAdjust="0"/>
  </p:normalViewPr>
  <p:slideViewPr>
    <p:cSldViewPr>
      <p:cViewPr varScale="1">
        <p:scale>
          <a:sx n="103" d="100"/>
          <a:sy n="103" d="100"/>
        </p:scale>
        <p:origin x="68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3/18/2026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1" descr="Picture 7.png">
            <a:extLst>
              <a:ext uri="{FF2B5EF4-FFF2-40B4-BE49-F238E27FC236}">
                <a16:creationId xmlns:a16="http://schemas.microsoft.com/office/drawing/2014/main" id="{69F4A35B-A00F-8EED-48E9-204F141569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C3E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44" r:id="rId2"/>
    <p:sldLayoutId id="2147484834" r:id="rId3"/>
    <p:sldLayoutId id="2147484835" r:id="rId4"/>
    <p:sldLayoutId id="2147484836" r:id="rId5"/>
    <p:sldLayoutId id="2147484837" r:id="rId6"/>
    <p:sldLayoutId id="2147484838" r:id="rId7"/>
    <p:sldLayoutId id="2147484839" r:id="rId8"/>
    <p:sldLayoutId id="2147484840" r:id="rId9"/>
    <p:sldLayoutId id="2147484841" r:id="rId10"/>
    <p:sldLayoutId id="2147484842" r:id="rId11"/>
    <p:sldLayoutId id="2147484843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72C3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Computer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07A0-3833-2C72-0319-4EE631EE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computer we have built so far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7ACB7-2333-0EE2-307D-F64BCD604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03B21-4E16-83E5-272B-069DDD45F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CA3C0-7BC3-8AD5-8F6D-5E7F7353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3698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0886-B829-50A3-AAC0-5633FF58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if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1D98F-6FB1-2FBF-D8DA-6472BE8DC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garbage instruction gets into the pipeline?</a:t>
            </a:r>
          </a:p>
          <a:p>
            <a:r>
              <a:rPr lang="en-US" dirty="0"/>
              <a:t>An instruction misbehaves (divide by zero, or arithmetic overflow)?</a:t>
            </a:r>
          </a:p>
          <a:p>
            <a:r>
              <a:rPr lang="en-US" dirty="0"/>
              <a:t>An interrupt occurs</a:t>
            </a:r>
          </a:p>
          <a:p>
            <a:endParaRPr lang="en-US" dirty="0"/>
          </a:p>
          <a:p>
            <a:r>
              <a:rPr lang="en-US" dirty="0"/>
              <a:t>The ongoing instruction flow needs to be altered to handle the event</a:t>
            </a:r>
          </a:p>
          <a:p>
            <a:r>
              <a:rPr lang="en-US" dirty="0">
                <a:solidFill>
                  <a:srgbClr val="FFC000"/>
                </a:solidFill>
              </a:rPr>
              <a:t>Exceptions, interrupts and traps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3B501-2D95-AA13-7E3D-AE8D29B9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D7362-046A-E62F-F318-B6421CD8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735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2188-7DAF-EDE4-6A9F-ABC034851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Exceptions, interrupts and traps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8E890-B142-38CA-F6B0-E4C63DE75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Exception: An unscheduled event that arises inside the CPU</a:t>
            </a:r>
          </a:p>
          <a:p>
            <a:pPr lvl="1"/>
            <a:r>
              <a:rPr lang="en-US" dirty="0"/>
              <a:t>Overflow, illegal instruction, or divide by zero</a:t>
            </a:r>
          </a:p>
          <a:p>
            <a:pPr lvl="1"/>
            <a:r>
              <a:rPr lang="en-US" dirty="0"/>
              <a:t>Synchronous (</a:t>
            </a:r>
            <a:r>
              <a:rPr lang="en-US" dirty="0" err="1"/>
              <a:t>ie</a:t>
            </a:r>
            <a:r>
              <a:rPr lang="en-US" dirty="0"/>
              <a:t> happen at times aligned to the flow of current instruction in the pipeline)</a:t>
            </a:r>
          </a:p>
          <a:p>
            <a:r>
              <a:rPr lang="en-IN" dirty="0"/>
              <a:t>Interrupt: Events that are external to the processor, typically hardware driven</a:t>
            </a:r>
          </a:p>
          <a:p>
            <a:pPr lvl="1"/>
            <a:r>
              <a:rPr lang="en-IN" dirty="0"/>
              <a:t>Asynchronous, </a:t>
            </a:r>
            <a:r>
              <a:rPr lang="en-IN" dirty="0" err="1"/>
              <a:t>ie</a:t>
            </a:r>
            <a:r>
              <a:rPr lang="en-IN" dirty="0"/>
              <a:t> they can happen any time, not related to the instruction flow</a:t>
            </a:r>
          </a:p>
          <a:p>
            <a:r>
              <a:rPr lang="en-IN" dirty="0">
                <a:solidFill>
                  <a:srgbClr val="FF0000"/>
                </a:solidFill>
              </a:rPr>
              <a:t>Trap: An ‘interrupt’ generated by software</a:t>
            </a:r>
          </a:p>
          <a:p>
            <a:pPr lvl="1"/>
            <a:r>
              <a:rPr lang="en-IN" dirty="0"/>
              <a:t>Asynchronous</a:t>
            </a:r>
          </a:p>
          <a:p>
            <a:r>
              <a:rPr lang="en-IN" dirty="0">
                <a:solidFill>
                  <a:srgbClr val="FFC000"/>
                </a:solidFill>
              </a:rPr>
              <a:t>The terminology is hazy!!!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4D7CC-07BC-8277-5BB3-6FB36C196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E14C2-909F-F9DE-A5D7-E1522278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006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C2BE-410A-DCA4-412D-FB83416F7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What should you do when any of these happen?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4C0DC-C4DB-8B5C-837E-C6C16E309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5302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Not: crash, ignore or do wrong things</a:t>
            </a:r>
          </a:p>
          <a:p>
            <a:r>
              <a:rPr lang="en-US" dirty="0"/>
              <a:t>Run some code that can address the contingency</a:t>
            </a:r>
          </a:p>
          <a:p>
            <a:r>
              <a:rPr lang="en-US" dirty="0"/>
              <a:t>How would you do that?</a:t>
            </a:r>
          </a:p>
          <a:p>
            <a:pPr lvl="1"/>
            <a:r>
              <a:rPr lang="en-US" dirty="0"/>
              <a:t>Save current PC (to return to normal execution if required)</a:t>
            </a:r>
          </a:p>
          <a:p>
            <a:pPr lvl="1"/>
            <a:r>
              <a:rPr lang="en-US" dirty="0"/>
              <a:t>Record the cause of the contingency</a:t>
            </a:r>
          </a:p>
          <a:p>
            <a:pPr lvl="1"/>
            <a:r>
              <a:rPr lang="en-US" dirty="0"/>
              <a:t>Flush incomplete pipeline instructions (basically doing a jump…)</a:t>
            </a:r>
          </a:p>
          <a:p>
            <a:pPr lvl="1"/>
            <a:r>
              <a:rPr lang="en-US" dirty="0"/>
              <a:t>Jump to the contingency handler</a:t>
            </a:r>
          </a:p>
          <a:p>
            <a:pPr lvl="1"/>
            <a:r>
              <a:rPr lang="en-IN" dirty="0"/>
              <a:t>Resume after handling contingency</a:t>
            </a:r>
          </a:p>
          <a:p>
            <a:r>
              <a:rPr lang="en-IN" dirty="0"/>
              <a:t>How to store the PC?</a:t>
            </a:r>
          </a:p>
          <a:p>
            <a:pPr lvl="1"/>
            <a:r>
              <a:rPr lang="en-IN" dirty="0"/>
              <a:t>New register: EPC (Exception PC)</a:t>
            </a:r>
          </a:p>
          <a:p>
            <a:r>
              <a:rPr lang="en-IN" dirty="0"/>
              <a:t>How to record the cause?</a:t>
            </a:r>
          </a:p>
          <a:p>
            <a:pPr lvl="1"/>
            <a:r>
              <a:rPr lang="en-IN" dirty="0"/>
              <a:t>New register: </a:t>
            </a:r>
            <a:r>
              <a:rPr lang="en-IN" dirty="0" err="1"/>
              <a:t>m_cause</a:t>
            </a:r>
            <a:endParaRPr lang="en-IN" dirty="0"/>
          </a:p>
          <a:p>
            <a:r>
              <a:rPr lang="en-IN" dirty="0"/>
              <a:t>How to jump to the new code?</a:t>
            </a:r>
          </a:p>
          <a:p>
            <a:pPr lvl="1"/>
            <a:r>
              <a:rPr lang="en-IN" dirty="0"/>
              <a:t>New register: </a:t>
            </a:r>
            <a:r>
              <a:rPr lang="en-IN" dirty="0" err="1"/>
              <a:t>mtvec</a:t>
            </a:r>
            <a:r>
              <a:rPr lang="en-IN" dirty="0"/>
              <a:t> (details to follow)</a:t>
            </a:r>
          </a:p>
          <a:p>
            <a:r>
              <a:rPr lang="en-IN" dirty="0">
                <a:solidFill>
                  <a:srgbClr val="FFC000"/>
                </a:solidFill>
              </a:rPr>
              <a:t>‘Control and Status Registers (CSRs)’</a:t>
            </a:r>
          </a:p>
          <a:p>
            <a:r>
              <a:rPr lang="en-IN" dirty="0"/>
              <a:t>The ‘m’ is for ‘machine mode’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03A5C-70BD-3A28-DA43-DD0A64E69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50DF2A-DA2C-64C3-F4E9-F787B0066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779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CBED5-7F99-766D-4EE4-0F30B8C67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Jumping to the handler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F635C-B541-AB95-2BA0-94B421261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8839200" cy="979726"/>
          </a:xfrm>
        </p:spPr>
        <p:txBody>
          <a:bodyPr>
            <a:normAutofit/>
          </a:bodyPr>
          <a:lstStyle/>
          <a:p>
            <a:r>
              <a:rPr lang="en-US" sz="1800" dirty="0"/>
              <a:t>The </a:t>
            </a:r>
            <a:r>
              <a:rPr lang="en-US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mtvec</a:t>
            </a:r>
            <a:r>
              <a:rPr lang="en-US" sz="1800" dirty="0"/>
              <a:t> register has two fields:</a:t>
            </a:r>
          </a:p>
          <a:p>
            <a:pPr lvl="1"/>
            <a:r>
              <a:rPr lang="en-US" sz="1600" dirty="0"/>
              <a:t>Base [31:2]: 30 MSBs of the handler address</a:t>
            </a:r>
          </a:p>
          <a:p>
            <a:pPr lvl="1"/>
            <a:r>
              <a:rPr lang="en-US" sz="1600" dirty="0"/>
              <a:t>Mode [1:0]: Determines how table behaves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ACB7A-79C2-60F4-39FC-811A2C6B7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D9257-EE73-5702-4321-660A42B5F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9CEBA6-CC53-7951-AB1F-BE184B91F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359722"/>
              </p:ext>
            </p:extLst>
          </p:nvPr>
        </p:nvGraphicFramePr>
        <p:xfrm>
          <a:off x="228599" y="2407920"/>
          <a:ext cx="6781801" cy="1554480"/>
        </p:xfrm>
        <a:graphic>
          <a:graphicData uri="http://schemas.openxmlformats.org/drawingml/2006/table">
            <a:tbl>
              <a:tblPr/>
              <a:tblGrid>
                <a:gridCol w="838201">
                  <a:extLst>
                    <a:ext uri="{9D8B030D-6E8A-4147-A177-3AD203B41FA5}">
                      <a16:colId xmlns:a16="http://schemas.microsoft.com/office/drawing/2014/main" val="51228054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184977766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893527546"/>
                    </a:ext>
                  </a:extLst>
                </a:gridCol>
              </a:tblGrid>
              <a:tr h="24254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Mode</a:t>
                      </a:r>
                      <a:endParaRPr lang="en-IN" sz="1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Name</a:t>
                      </a:r>
                      <a:endParaRPr lang="en-IN" sz="18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IN" sz="1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525498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00</a:t>
                      </a:r>
                      <a:endParaRPr lang="en-IN" sz="18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Direct</a:t>
                      </a:r>
                      <a:endParaRPr lang="en-IN" sz="18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All traps (exceptions and interrupts) jump to </a:t>
                      </a:r>
                      <a:r>
                        <a:rPr lang="en-US" sz="18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BASE</a:t>
                      </a:r>
                      <a:endParaRPr lang="en-US" sz="1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804757"/>
                  </a:ext>
                </a:extLst>
              </a:tr>
              <a:tr h="55438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01</a:t>
                      </a:r>
                      <a:endParaRPr lang="en-IN" sz="18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Vectored</a:t>
                      </a:r>
                      <a:endParaRPr lang="en-IN" sz="1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Exceptions go to </a:t>
                      </a:r>
                      <a:r>
                        <a:rPr lang="en-US" sz="18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BASE</a:t>
                      </a:r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, but Interrupts jump to </a:t>
                      </a:r>
                      <a:r>
                        <a:rPr lang="en-US" sz="18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BASE + (4 x cause)</a:t>
                      </a:r>
                      <a:endParaRPr lang="en-US" sz="1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17707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DF4554-ECA0-85C5-A836-B7BE6E832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718253"/>
              </p:ext>
            </p:extLst>
          </p:nvPr>
        </p:nvGraphicFramePr>
        <p:xfrm>
          <a:off x="416787" y="4066415"/>
          <a:ext cx="8310425" cy="2334385"/>
        </p:xfrm>
        <a:graphic>
          <a:graphicData uri="http://schemas.openxmlformats.org/drawingml/2006/table">
            <a:tbl>
              <a:tblPr/>
              <a:tblGrid>
                <a:gridCol w="1980049">
                  <a:extLst>
                    <a:ext uri="{9D8B030D-6E8A-4147-A177-3AD203B41FA5}">
                      <a16:colId xmlns:a16="http://schemas.microsoft.com/office/drawing/2014/main" val="1979803961"/>
                    </a:ext>
                  </a:extLst>
                </a:gridCol>
                <a:gridCol w="1980049">
                  <a:extLst>
                    <a:ext uri="{9D8B030D-6E8A-4147-A177-3AD203B41FA5}">
                      <a16:colId xmlns:a16="http://schemas.microsoft.com/office/drawing/2014/main" val="833053935"/>
                    </a:ext>
                  </a:extLst>
                </a:gridCol>
                <a:gridCol w="1980049">
                  <a:extLst>
                    <a:ext uri="{9D8B030D-6E8A-4147-A177-3AD203B41FA5}">
                      <a16:colId xmlns:a16="http://schemas.microsoft.com/office/drawing/2014/main" val="2220648526"/>
                    </a:ext>
                  </a:extLst>
                </a:gridCol>
                <a:gridCol w="2370278">
                  <a:extLst>
                    <a:ext uri="{9D8B030D-6E8A-4147-A177-3AD203B41FA5}">
                      <a16:colId xmlns:a16="http://schemas.microsoft.com/office/drawing/2014/main" val="3305506292"/>
                    </a:ext>
                  </a:extLst>
                </a:gridCol>
              </a:tblGrid>
              <a:tr h="1801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Offset from BASE</a:t>
                      </a:r>
                      <a:endParaRPr lang="en-IN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Cause Code</a:t>
                      </a:r>
                      <a:endParaRPr lang="en-IN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Event Type</a:t>
                      </a:r>
                      <a:endParaRPr lang="en-IN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IN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913545"/>
                  </a:ext>
                </a:extLst>
              </a:tr>
              <a:tr h="4122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+ 0</a:t>
                      </a:r>
                      <a:endParaRPr lang="en-IN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Exception</a:t>
                      </a:r>
                      <a:endParaRPr lang="en-IN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All synchronous exceptions (Illegal Instr, etc.)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425315"/>
                  </a:ext>
                </a:extLst>
              </a:tr>
              <a:tr h="2961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+ 4</a:t>
                      </a:r>
                      <a:endParaRPr lang="en-IN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Interrupt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Supervisor Software Interrupt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671760"/>
                  </a:ext>
                </a:extLst>
              </a:tr>
              <a:tr h="2961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+ 12</a:t>
                      </a:r>
                      <a:endParaRPr lang="en-IN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Interrupt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Machine Software Interrupt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276127"/>
                  </a:ext>
                </a:extLst>
              </a:tr>
              <a:tr h="2961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+ 20</a:t>
                      </a:r>
                      <a:endParaRPr lang="en-IN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Interrupt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Supervisor Timer Interrupt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237370"/>
                  </a:ext>
                </a:extLst>
              </a:tr>
              <a:tr h="1801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+ 28</a:t>
                      </a:r>
                      <a:endParaRPr lang="en-IN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7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Interrupt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Machine Timer Interrupt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539976"/>
                  </a:ext>
                </a:extLst>
              </a:tr>
              <a:tr h="2961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+ 36</a:t>
                      </a:r>
                      <a:endParaRPr lang="en-IN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Interrupt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Supervisor External Interrupt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191122"/>
                  </a:ext>
                </a:extLst>
              </a:tr>
              <a:tr h="2961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+ 44</a:t>
                      </a:r>
                      <a:endParaRPr lang="en-IN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11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Interrupt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Machine External Interrupt</a:t>
                      </a:r>
                    </a:p>
                  </a:txBody>
                  <a:tcPr marL="0" marR="0" marT="0" marB="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87903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BF33BDA-8805-D39F-D049-1E9CB36130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857"/>
          <a:stretch>
            <a:fillRect/>
          </a:stretch>
        </p:blipFill>
        <p:spPr>
          <a:xfrm>
            <a:off x="7146837" y="901937"/>
            <a:ext cx="180122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95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CCF1-E43E-A5E8-565B-BCF097D5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can exceptions occur?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8CF3938-A6B5-8FF6-0FD9-706EE82562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272398"/>
              </p:ext>
            </p:extLst>
          </p:nvPr>
        </p:nvGraphicFramePr>
        <p:xfrm>
          <a:off x="2667000" y="1447800"/>
          <a:ext cx="3810000" cy="2194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103123117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942703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44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instruction fetch 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670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illegal instruction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697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arithmetic overflow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574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page 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45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WB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(rare)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83637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9EAC4-455B-EEAE-6CD5-EC752AC88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B691D-7966-932F-D024-36F176F3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C1EA470-6E84-D71F-04AA-D7314109C3A2}"/>
              </a:ext>
            </a:extLst>
          </p:cNvPr>
          <p:cNvSpPr txBox="1">
            <a:spLocks/>
          </p:cNvSpPr>
          <p:nvPr/>
        </p:nvSpPr>
        <p:spPr bwMode="auto">
          <a:xfrm>
            <a:off x="152400" y="3581400"/>
            <a:ext cx="88392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Other sources:</a:t>
            </a:r>
          </a:p>
          <a:p>
            <a:pPr>
              <a:buFontTx/>
              <a:buChar char="-"/>
            </a:pPr>
            <a:r>
              <a:rPr lang="en-US" sz="2400" dirty="0"/>
              <a:t>System calls (intentional traps)</a:t>
            </a:r>
            <a:br>
              <a:rPr lang="en-US" sz="2000" dirty="0"/>
            </a:br>
            <a:r>
              <a:rPr lang="en-US" sz="2000" dirty="0"/>
              <a:t>Used for giving control to OS, asking OS to perform certain operation etc.</a:t>
            </a:r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r>
              <a:rPr lang="en-US" sz="2000" dirty="0"/>
              <a:t>Examples</a:t>
            </a:r>
          </a:p>
          <a:p>
            <a:pPr lvl="1">
              <a:buFontTx/>
              <a:buChar char="-"/>
            </a:pPr>
            <a:r>
              <a:rPr lang="en-US" sz="2000" dirty="0"/>
              <a:t>Exit program, file read / write / open / close, </a:t>
            </a:r>
            <a:r>
              <a:rPr lang="en-US" sz="2000" dirty="0" err="1"/>
              <a:t>get_time</a:t>
            </a:r>
            <a:r>
              <a:rPr lang="en-US" sz="2000" dirty="0"/>
              <a:t> etc.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7E45F1-3D4A-B89B-1821-B392C28E7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45" y="4894234"/>
            <a:ext cx="6716062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5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5433-4FEF-9CF5-985B-1D2CA4B93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Precise vs imprecise exceptions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E5BDA-642F-56EC-A964-94CC00670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Precise:</a:t>
            </a:r>
          </a:p>
          <a:p>
            <a:pPr lvl="1"/>
            <a:r>
              <a:rPr lang="en-US" dirty="0"/>
              <a:t>All earlier instructions complete execution</a:t>
            </a:r>
          </a:p>
          <a:p>
            <a:pPr lvl="1"/>
            <a:r>
              <a:rPr lang="en-US" dirty="0"/>
              <a:t>Faulty instruction identified</a:t>
            </a:r>
          </a:p>
          <a:p>
            <a:pPr lvl="1"/>
            <a:r>
              <a:rPr lang="en-US" dirty="0"/>
              <a:t>All later instructions flushed</a:t>
            </a:r>
          </a:p>
          <a:p>
            <a:pPr lvl="1"/>
            <a:r>
              <a:rPr lang="en-US" dirty="0"/>
              <a:t>System is in well-defined state</a:t>
            </a:r>
          </a:p>
          <a:p>
            <a:r>
              <a:rPr lang="en-US" dirty="0"/>
              <a:t>Imprecise:</a:t>
            </a:r>
          </a:p>
          <a:p>
            <a:pPr lvl="1"/>
            <a:r>
              <a:rPr lang="en-US" dirty="0"/>
              <a:t>Some earlier instructions may not have completed</a:t>
            </a:r>
          </a:p>
          <a:p>
            <a:pPr lvl="1"/>
            <a:r>
              <a:rPr lang="en-US" dirty="0"/>
              <a:t>Some later instructions may complete instead of flushing</a:t>
            </a:r>
          </a:p>
          <a:p>
            <a:pPr lvl="1"/>
            <a:r>
              <a:rPr lang="en-US" dirty="0"/>
              <a:t>System state is inconsistent and undefined</a:t>
            </a:r>
          </a:p>
          <a:p>
            <a:pPr lvl="1"/>
            <a:r>
              <a:rPr lang="en-IN" dirty="0"/>
              <a:t>Often a result of out-of-order execution architectures</a:t>
            </a:r>
          </a:p>
          <a:p>
            <a:pPr lvl="1"/>
            <a:r>
              <a:rPr lang="en-IN" dirty="0"/>
              <a:t>Architectures that use separate units, such as FPUs, that complete at a different time than rest of the instruction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104C4-0CAD-3917-6908-E596530A8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3AED2-6777-2534-CD27-088C645F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298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89538-9E43-3C55-D9F8-0A60ACC84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18 March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40B51-E8A7-3290-CFC8-A80E5B0E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14D1D-02B9-1551-DD0A-1D522240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F9BD40-F573-44C9-115C-5F880AFCF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962" y="1178405"/>
            <a:ext cx="6766076" cy="450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914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19257</TotalTime>
  <Words>562</Words>
  <Application>Microsoft Office PowerPoint</Application>
  <PresentationFormat>On-screen Show (4:3)</PresentationFormat>
  <Paragraphs>130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Cascadia Code</vt:lpstr>
      <vt:lpstr>Google Sans Text</vt:lpstr>
      <vt:lpstr>Office Theme</vt:lpstr>
      <vt:lpstr>Computer Architecture</vt:lpstr>
      <vt:lpstr>The computer we have built so far</vt:lpstr>
      <vt:lpstr>What happens if</vt:lpstr>
      <vt:lpstr>Exceptions, interrupts and traps</vt:lpstr>
      <vt:lpstr>What should you do when any of these happen?</vt:lpstr>
      <vt:lpstr>Jumping to the handler</vt:lpstr>
      <vt:lpstr>Where can exceptions occur?</vt:lpstr>
      <vt:lpstr>Precise vs imprecise exceptions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745</cp:revision>
  <dcterms:created xsi:type="dcterms:W3CDTF">2010-01-15T20:22:21Z</dcterms:created>
  <dcterms:modified xsi:type="dcterms:W3CDTF">2026-03-18T08:28:12Z</dcterms:modified>
</cp:coreProperties>
</file>