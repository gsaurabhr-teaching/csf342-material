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337" r:id="rId2"/>
    <p:sldId id="361" r:id="rId3"/>
    <p:sldId id="362" r:id="rId4"/>
    <p:sldId id="363" r:id="rId5"/>
    <p:sldId id="364" r:id="rId6"/>
    <p:sldId id="365" r:id="rId7"/>
    <p:sldId id="366" r:id="rId8"/>
    <p:sldId id="368" r:id="rId9"/>
    <p:sldId id="367" r:id="rId10"/>
    <p:sldId id="369" r:id="rId11"/>
    <p:sldId id="370" r:id="rId12"/>
    <p:sldId id="372" r:id="rId13"/>
    <p:sldId id="373" r:id="rId14"/>
    <p:sldId id="371" r:id="rId15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72C3E8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8316" autoAdjust="0"/>
  </p:normalViewPr>
  <p:slideViewPr>
    <p:cSldViewPr>
      <p:cViewPr varScale="1">
        <p:scale>
          <a:sx n="88" d="100"/>
          <a:sy n="88" d="100"/>
        </p:scale>
        <p:origin x="462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3/20/2026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3.xml"/><Relationship Id="rId1" Type="http://schemas.openxmlformats.org/officeDocument/2006/relationships/video" Target="https://www.youtube.com/embed/EzEKGlO9w4Y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60886-B829-50A3-AAC0-5633FF587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happens if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1D98F-6FB1-2FBF-D8DA-6472BE8DC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garbage instruction gets into the pipeline?</a:t>
            </a:r>
          </a:p>
          <a:p>
            <a:r>
              <a:rPr lang="en-US" dirty="0"/>
              <a:t>An instruction misbehaves (divide by zero, or arithmetic overflow)?</a:t>
            </a:r>
          </a:p>
          <a:p>
            <a:r>
              <a:rPr lang="en-US" dirty="0"/>
              <a:t>An interrupt occurs</a:t>
            </a:r>
          </a:p>
          <a:p>
            <a:endParaRPr lang="en-US" dirty="0"/>
          </a:p>
          <a:p>
            <a:r>
              <a:rPr lang="en-US" dirty="0"/>
              <a:t>The ongoing instruction flow needs to be altered to handle the event</a:t>
            </a:r>
          </a:p>
          <a:p>
            <a:r>
              <a:rPr lang="en-US" dirty="0">
                <a:solidFill>
                  <a:srgbClr val="FFC000"/>
                </a:solidFill>
              </a:rPr>
              <a:t>Exceptions, interrupts and traps</a:t>
            </a:r>
            <a:endParaRPr lang="en-IN" dirty="0">
              <a:solidFill>
                <a:srgbClr val="FFC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3B501-2D95-AA13-7E3D-AE8D29B93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1D7362-046A-E62F-F318-B6421CD86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67354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A2188-7DAF-EDE4-6A9F-ABC034851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Exceptions, interrupts and traps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8E890-B142-38CA-F6B0-E4C63DE75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Exception: An unscheduled event that arises inside the CPU</a:t>
            </a:r>
          </a:p>
          <a:p>
            <a:pPr lvl="1"/>
            <a:r>
              <a:rPr lang="en-US" dirty="0"/>
              <a:t>Overflow, illegal instruction, or divide by zero</a:t>
            </a:r>
          </a:p>
          <a:p>
            <a:pPr lvl="1"/>
            <a:r>
              <a:rPr lang="en-US" dirty="0"/>
              <a:t>Synchronous (</a:t>
            </a:r>
            <a:r>
              <a:rPr lang="en-US" dirty="0" err="1"/>
              <a:t>ie</a:t>
            </a:r>
            <a:r>
              <a:rPr lang="en-US" dirty="0"/>
              <a:t> happen at times aligned to the flow of current instruction in the pipeline)</a:t>
            </a:r>
          </a:p>
          <a:p>
            <a:r>
              <a:rPr lang="en-IN" dirty="0"/>
              <a:t>Interrupt: Events that are external to the processor, typically hardware driven</a:t>
            </a:r>
          </a:p>
          <a:p>
            <a:pPr lvl="1"/>
            <a:r>
              <a:rPr lang="en-IN" dirty="0"/>
              <a:t>Asynchronous, </a:t>
            </a:r>
            <a:r>
              <a:rPr lang="en-IN" dirty="0" err="1"/>
              <a:t>ie</a:t>
            </a:r>
            <a:r>
              <a:rPr lang="en-IN" dirty="0"/>
              <a:t> they can happen any time, not related to the instruction flow</a:t>
            </a:r>
          </a:p>
          <a:p>
            <a:r>
              <a:rPr lang="en-IN" dirty="0">
                <a:solidFill>
                  <a:srgbClr val="FF0000"/>
                </a:solidFill>
              </a:rPr>
              <a:t>Trap: An ‘interrupt’ generated by software</a:t>
            </a:r>
          </a:p>
          <a:p>
            <a:pPr lvl="1"/>
            <a:r>
              <a:rPr lang="en-IN" dirty="0"/>
              <a:t>Asynchronous</a:t>
            </a:r>
          </a:p>
          <a:p>
            <a:r>
              <a:rPr lang="en-IN" dirty="0">
                <a:solidFill>
                  <a:srgbClr val="FFC000"/>
                </a:solidFill>
              </a:rPr>
              <a:t>The terminology is hazy!!!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4D7CC-07BC-8277-5BB3-6FB36C196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9E14C2-909F-F9DE-A5D7-E15222784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006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6C2BE-410A-DCA4-412D-FB83416F7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What should you do when any of these happen?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4C0DC-C4DB-8B5C-837E-C6C16E309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15302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Not: crash, ignore or do wrong things</a:t>
            </a:r>
          </a:p>
          <a:p>
            <a:r>
              <a:rPr lang="en-US" dirty="0"/>
              <a:t>Run some code that can address the contingency</a:t>
            </a:r>
          </a:p>
          <a:p>
            <a:r>
              <a:rPr lang="en-US" dirty="0"/>
              <a:t>How would you do that?</a:t>
            </a:r>
          </a:p>
          <a:p>
            <a:pPr lvl="1"/>
            <a:r>
              <a:rPr lang="en-US" dirty="0"/>
              <a:t>Save current PC (to return to normal execution if required)</a:t>
            </a:r>
          </a:p>
          <a:p>
            <a:pPr lvl="1"/>
            <a:r>
              <a:rPr lang="en-US" dirty="0"/>
              <a:t>Record the cause of the contingency</a:t>
            </a:r>
          </a:p>
          <a:p>
            <a:pPr lvl="1"/>
            <a:r>
              <a:rPr lang="en-US" dirty="0"/>
              <a:t>Flush incomplete pipeline instructions (basically doing a jump…)</a:t>
            </a:r>
          </a:p>
          <a:p>
            <a:pPr lvl="1"/>
            <a:r>
              <a:rPr lang="en-US" dirty="0"/>
              <a:t>Jump to the contingency handler</a:t>
            </a:r>
          </a:p>
          <a:p>
            <a:pPr lvl="1"/>
            <a:r>
              <a:rPr lang="en-IN" dirty="0"/>
              <a:t>Resume after handling contingency</a:t>
            </a:r>
          </a:p>
          <a:p>
            <a:r>
              <a:rPr lang="en-IN" dirty="0"/>
              <a:t>How to store the PC?</a:t>
            </a:r>
          </a:p>
          <a:p>
            <a:pPr lvl="1"/>
            <a:r>
              <a:rPr lang="en-IN" dirty="0"/>
              <a:t>New register: EPC (Exception PC)</a:t>
            </a:r>
          </a:p>
          <a:p>
            <a:r>
              <a:rPr lang="en-IN" dirty="0"/>
              <a:t>How to record the cause?</a:t>
            </a:r>
          </a:p>
          <a:p>
            <a:pPr lvl="1"/>
            <a:r>
              <a:rPr lang="en-IN" dirty="0"/>
              <a:t>New register: </a:t>
            </a:r>
            <a:r>
              <a:rPr lang="en-IN" dirty="0" err="1"/>
              <a:t>m_cause</a:t>
            </a:r>
            <a:endParaRPr lang="en-IN" dirty="0"/>
          </a:p>
          <a:p>
            <a:r>
              <a:rPr lang="en-IN" dirty="0"/>
              <a:t>How to jump to the new code?</a:t>
            </a:r>
          </a:p>
          <a:p>
            <a:pPr lvl="1"/>
            <a:r>
              <a:rPr lang="en-IN" dirty="0"/>
              <a:t>New register: </a:t>
            </a:r>
            <a:r>
              <a:rPr lang="en-IN" dirty="0" err="1"/>
              <a:t>mtvec</a:t>
            </a:r>
            <a:r>
              <a:rPr lang="en-IN" dirty="0"/>
              <a:t> (details to follow)</a:t>
            </a:r>
          </a:p>
          <a:p>
            <a:r>
              <a:rPr lang="en-IN" dirty="0">
                <a:solidFill>
                  <a:srgbClr val="FFC000"/>
                </a:solidFill>
              </a:rPr>
              <a:t>‘Control and Status Registers (CSRs)’</a:t>
            </a:r>
          </a:p>
          <a:p>
            <a:r>
              <a:rPr lang="en-IN" dirty="0"/>
              <a:t>The ‘m’ is for ‘machine mode’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903A5C-70BD-3A28-DA43-DD0A64E6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0DF2A-DA2C-64C3-F4E9-F787B0066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7798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CBED5-7F99-766D-4EE4-0F30B8C67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Jumping to the handler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F635C-B541-AB95-2BA0-94B421261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979726"/>
          </a:xfrm>
        </p:spPr>
        <p:txBody>
          <a:bodyPr>
            <a:normAutofit/>
          </a:bodyPr>
          <a:lstStyle/>
          <a:p>
            <a:r>
              <a:rPr lang="en-US" sz="1800" dirty="0"/>
              <a:t>The </a:t>
            </a:r>
            <a:r>
              <a:rPr lang="en-US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mtvec</a:t>
            </a:r>
            <a:r>
              <a:rPr lang="en-US" sz="1800" dirty="0"/>
              <a:t> register has two fields:</a:t>
            </a:r>
          </a:p>
          <a:p>
            <a:pPr lvl="1"/>
            <a:r>
              <a:rPr lang="en-US" sz="1600" dirty="0"/>
              <a:t>Base [31:2]: 30 MSBs of the handler address</a:t>
            </a:r>
          </a:p>
          <a:p>
            <a:pPr lvl="1"/>
            <a:r>
              <a:rPr lang="en-US" sz="1600" dirty="0"/>
              <a:t>Mode [1:0]: Determines how table behaves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ACB7A-79C2-60F4-39FC-811A2C6B7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D9257-EE73-5702-4321-660A42B5F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9CEBA6-CC53-7951-AB1F-BE184B91F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359722"/>
              </p:ext>
            </p:extLst>
          </p:nvPr>
        </p:nvGraphicFramePr>
        <p:xfrm>
          <a:off x="228599" y="2407920"/>
          <a:ext cx="6781801" cy="1554480"/>
        </p:xfrm>
        <a:graphic>
          <a:graphicData uri="http://schemas.openxmlformats.org/drawingml/2006/table">
            <a:tbl>
              <a:tblPr/>
              <a:tblGrid>
                <a:gridCol w="838201">
                  <a:extLst>
                    <a:ext uri="{9D8B030D-6E8A-4147-A177-3AD203B41FA5}">
                      <a16:colId xmlns:a16="http://schemas.microsoft.com/office/drawing/2014/main" val="51228054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4184977766"/>
                    </a:ext>
                  </a:extLst>
                </a:gridCol>
                <a:gridCol w="4876800">
                  <a:extLst>
                    <a:ext uri="{9D8B030D-6E8A-4147-A177-3AD203B41FA5}">
                      <a16:colId xmlns:a16="http://schemas.microsoft.com/office/drawing/2014/main" val="2893527546"/>
                    </a:ext>
                  </a:extLst>
                </a:gridCol>
              </a:tblGrid>
              <a:tr h="24254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Mode</a:t>
                      </a:r>
                      <a:endParaRPr lang="en-IN" sz="18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Name</a:t>
                      </a:r>
                      <a:endParaRPr lang="en-IN" sz="18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Description</a:t>
                      </a:r>
                      <a:endParaRPr lang="en-IN" sz="18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0525498"/>
                  </a:ext>
                </a:extLst>
              </a:tr>
              <a:tr h="39846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00</a:t>
                      </a:r>
                      <a:endParaRPr lang="en-IN" sz="18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Direct</a:t>
                      </a:r>
                      <a:endParaRPr lang="en-IN" sz="18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All traps (exceptions and interrupts) jump to </a:t>
                      </a:r>
                      <a:r>
                        <a:rPr lang="en-US" sz="18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BASE</a:t>
                      </a:r>
                      <a:endParaRPr lang="en-US" sz="18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7804757"/>
                  </a:ext>
                </a:extLst>
              </a:tr>
              <a:tr h="55438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01</a:t>
                      </a:r>
                      <a:endParaRPr lang="en-IN" sz="18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Vectored</a:t>
                      </a:r>
                      <a:endParaRPr lang="en-IN" sz="18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Exceptions go to </a:t>
                      </a:r>
                      <a:r>
                        <a:rPr lang="en-US" sz="18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BASE</a:t>
                      </a:r>
                      <a:r>
                        <a:rPr lang="en-US" sz="18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, but Interrupts jump to </a:t>
                      </a:r>
                      <a:r>
                        <a:rPr lang="en-US" sz="18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BASE + (4 x cause)</a:t>
                      </a:r>
                      <a:endParaRPr lang="en-US" sz="18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17707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DF4554-ECA0-85C5-A836-B7BE6E832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718253"/>
              </p:ext>
            </p:extLst>
          </p:nvPr>
        </p:nvGraphicFramePr>
        <p:xfrm>
          <a:off x="416787" y="4066415"/>
          <a:ext cx="8310425" cy="2334385"/>
        </p:xfrm>
        <a:graphic>
          <a:graphicData uri="http://schemas.openxmlformats.org/drawingml/2006/table">
            <a:tbl>
              <a:tblPr/>
              <a:tblGrid>
                <a:gridCol w="1980049">
                  <a:extLst>
                    <a:ext uri="{9D8B030D-6E8A-4147-A177-3AD203B41FA5}">
                      <a16:colId xmlns:a16="http://schemas.microsoft.com/office/drawing/2014/main" val="1979803961"/>
                    </a:ext>
                  </a:extLst>
                </a:gridCol>
                <a:gridCol w="1980049">
                  <a:extLst>
                    <a:ext uri="{9D8B030D-6E8A-4147-A177-3AD203B41FA5}">
                      <a16:colId xmlns:a16="http://schemas.microsoft.com/office/drawing/2014/main" val="833053935"/>
                    </a:ext>
                  </a:extLst>
                </a:gridCol>
                <a:gridCol w="1980049">
                  <a:extLst>
                    <a:ext uri="{9D8B030D-6E8A-4147-A177-3AD203B41FA5}">
                      <a16:colId xmlns:a16="http://schemas.microsoft.com/office/drawing/2014/main" val="2220648526"/>
                    </a:ext>
                  </a:extLst>
                </a:gridCol>
                <a:gridCol w="2370278">
                  <a:extLst>
                    <a:ext uri="{9D8B030D-6E8A-4147-A177-3AD203B41FA5}">
                      <a16:colId xmlns:a16="http://schemas.microsoft.com/office/drawing/2014/main" val="3305506292"/>
                    </a:ext>
                  </a:extLst>
                </a:gridCol>
              </a:tblGrid>
              <a:tr h="18017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Offset from BASE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Cause Code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Event Type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Description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4913545"/>
                  </a:ext>
                </a:extLst>
              </a:tr>
              <a:tr h="41220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+ 0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0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Exception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All synchronous exceptions (Illegal Instr, etc.)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8425315"/>
                  </a:ext>
                </a:extLst>
              </a:tr>
              <a:tr h="2961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+ 4</a:t>
                      </a:r>
                      <a:endParaRPr lang="en-IN" sz="14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1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Supervisor Software 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671760"/>
                  </a:ext>
                </a:extLst>
              </a:tr>
              <a:tr h="2961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+ 12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3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Machine Software 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276127"/>
                  </a:ext>
                </a:extLst>
              </a:tr>
              <a:tr h="2961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+ 20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5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Supervisor Timer 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0237370"/>
                  </a:ext>
                </a:extLst>
              </a:tr>
              <a:tr h="18017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+ 28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7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Machine Timer 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6539976"/>
                  </a:ext>
                </a:extLst>
              </a:tr>
              <a:tr h="2961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+ 36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9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Supervisor External 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191122"/>
                  </a:ext>
                </a:extLst>
              </a:tr>
              <a:tr h="2961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+ 44</a:t>
                      </a:r>
                      <a:endParaRPr lang="en-IN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11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Machine External Interrupt</a:t>
                      </a:r>
                    </a:p>
                  </a:txBody>
                  <a:tcPr marL="0" marR="0" marT="0" marB="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487903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EBF33BDA-8805-D39F-D049-1E9CB36130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857"/>
          <a:stretch>
            <a:fillRect/>
          </a:stretch>
        </p:blipFill>
        <p:spPr>
          <a:xfrm>
            <a:off x="7146837" y="901937"/>
            <a:ext cx="180122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95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CCF1-E43E-A5E8-565B-BCF097D5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can exceptions occur?</a:t>
            </a:r>
            <a:endParaRPr lang="en-IN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8CF3938-A6B5-8FF6-0FD9-706EE82562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8272398"/>
              </p:ext>
            </p:extLst>
          </p:nvPr>
        </p:nvGraphicFramePr>
        <p:xfrm>
          <a:off x="2667000" y="1447800"/>
          <a:ext cx="3810000" cy="21945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103123117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942703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Stage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44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IF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instruction fetch fault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3670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illegal instruction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4697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arithmetic overflow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5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MEM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page fault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450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WB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(rare)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183637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9EAC4-455B-EEAE-6CD5-EC752AC88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B691D-7966-932F-D024-36F176F36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C1EA470-6E84-D71F-04AA-D7314109C3A2}"/>
              </a:ext>
            </a:extLst>
          </p:cNvPr>
          <p:cNvSpPr txBox="1">
            <a:spLocks/>
          </p:cNvSpPr>
          <p:nvPr/>
        </p:nvSpPr>
        <p:spPr bwMode="auto">
          <a:xfrm>
            <a:off x="152400" y="3581400"/>
            <a:ext cx="88392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Other sources:</a:t>
            </a:r>
          </a:p>
          <a:p>
            <a:pPr>
              <a:buFontTx/>
              <a:buChar char="-"/>
            </a:pPr>
            <a:r>
              <a:rPr lang="en-US" sz="2400" dirty="0"/>
              <a:t>System calls (intentional traps)</a:t>
            </a:r>
            <a:br>
              <a:rPr lang="en-US" sz="2000" dirty="0"/>
            </a:br>
            <a:r>
              <a:rPr lang="en-US" sz="2000" dirty="0"/>
              <a:t>Used for giving control to OS, asking OS to perform certain operation etc.</a:t>
            </a:r>
          </a:p>
          <a:p>
            <a:pPr>
              <a:buFontTx/>
              <a:buChar char="-"/>
            </a:pPr>
            <a:endParaRPr lang="en-US" sz="2000" dirty="0"/>
          </a:p>
          <a:p>
            <a:pPr>
              <a:buFontTx/>
              <a:buChar char="-"/>
            </a:pPr>
            <a:endParaRPr lang="en-US" sz="2000" dirty="0"/>
          </a:p>
          <a:p>
            <a:pPr>
              <a:buFontTx/>
              <a:buChar char="-"/>
            </a:pPr>
            <a:r>
              <a:rPr lang="en-US" sz="2000" dirty="0"/>
              <a:t>Examples</a:t>
            </a:r>
          </a:p>
          <a:p>
            <a:pPr lvl="1">
              <a:buFontTx/>
              <a:buChar char="-"/>
            </a:pPr>
            <a:r>
              <a:rPr lang="en-US" sz="2000" dirty="0"/>
              <a:t>Exit program, file read / write / open / close, </a:t>
            </a:r>
            <a:r>
              <a:rPr lang="en-US" sz="2000" dirty="0" err="1"/>
              <a:t>get_time</a:t>
            </a:r>
            <a:r>
              <a:rPr lang="en-US" sz="2000" dirty="0"/>
              <a:t> etc.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7E45F1-3D4A-B89B-1821-B392C28E7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645" y="4894234"/>
            <a:ext cx="6716062" cy="43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35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5433-4FEF-9CF5-985B-1D2CA4B93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Precise vs imprecise exceptions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E5BDA-642F-56EC-A964-94CC00670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Precise:</a:t>
            </a:r>
          </a:p>
          <a:p>
            <a:pPr lvl="1"/>
            <a:r>
              <a:rPr lang="en-US" dirty="0"/>
              <a:t>All earlier instructions complete execution</a:t>
            </a:r>
          </a:p>
          <a:p>
            <a:pPr lvl="1"/>
            <a:r>
              <a:rPr lang="en-US" dirty="0"/>
              <a:t>Faulty instruction identified</a:t>
            </a:r>
          </a:p>
          <a:p>
            <a:pPr lvl="1"/>
            <a:r>
              <a:rPr lang="en-US" dirty="0"/>
              <a:t>All later instructions flushed</a:t>
            </a:r>
          </a:p>
          <a:p>
            <a:pPr lvl="1"/>
            <a:r>
              <a:rPr lang="en-US" dirty="0"/>
              <a:t>System is in well-defined state</a:t>
            </a:r>
          </a:p>
          <a:p>
            <a:r>
              <a:rPr lang="en-US" dirty="0"/>
              <a:t>Imprecise:</a:t>
            </a:r>
          </a:p>
          <a:p>
            <a:pPr lvl="1"/>
            <a:r>
              <a:rPr lang="en-US" dirty="0"/>
              <a:t>Some earlier instructions may not have completed</a:t>
            </a:r>
          </a:p>
          <a:p>
            <a:pPr lvl="1"/>
            <a:r>
              <a:rPr lang="en-US" dirty="0"/>
              <a:t>Some later instructions may complete instead of flushing</a:t>
            </a:r>
          </a:p>
          <a:p>
            <a:pPr lvl="1"/>
            <a:r>
              <a:rPr lang="en-US" dirty="0"/>
              <a:t>System state is inconsistent and undefined</a:t>
            </a:r>
          </a:p>
          <a:p>
            <a:pPr lvl="1"/>
            <a:r>
              <a:rPr lang="en-IN" dirty="0"/>
              <a:t>Often a result of out-of-order execution architectures</a:t>
            </a:r>
          </a:p>
          <a:p>
            <a:pPr lvl="1"/>
            <a:r>
              <a:rPr lang="en-IN" dirty="0"/>
              <a:t>Architectures that use separate units, such as FPUs, that complete at a different time than rest of the instruction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104C4-0CAD-3917-6908-E596530A8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13AED2-6777-2534-CD27-088C645F7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0298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D3003-10BB-CA85-87E4-4F3F1A10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 Level Parallelism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067078-6B5A-1831-264E-20F57363F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293E4-1C1C-23A9-C1C9-7750DE58F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1FEBBD-DAD7-CF44-8562-1E0CDE17C4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we increase speed by executing multiple instructions parallelly?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IN" dirty="0"/>
              <a:t>Instructions Per Cycle (IPC) &gt; 1:</a:t>
            </a:r>
            <a:br>
              <a:rPr lang="en-IN" dirty="0"/>
            </a:br>
            <a:r>
              <a:rPr lang="en-IN" dirty="0"/>
              <a:t>superscalar architectures</a:t>
            </a:r>
          </a:p>
        </p:txBody>
      </p:sp>
    </p:spTree>
    <p:extLst>
      <p:ext uri="{BB962C8B-B14F-4D97-AF65-F5344CB8AC3E}">
        <p14:creationId xmlns:p14="http://schemas.microsoft.com/office/powerpoint/2010/main" val="1628850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A0DE7-497A-8040-9A02-1791866B2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00800" cy="1195386"/>
          </a:xfrm>
        </p:spPr>
        <p:txBody>
          <a:bodyPr/>
          <a:lstStyle/>
          <a:p>
            <a:r>
              <a:rPr lang="en-US" dirty="0"/>
              <a:t>What we need for parallelization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CA766-77E5-B109-CE83-5A1835935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Multiple hardware units (integer arithmetic units, floating point units)</a:t>
            </a:r>
          </a:p>
          <a:p>
            <a:r>
              <a:rPr lang="en-US" dirty="0"/>
              <a:t>Multiple </a:t>
            </a:r>
            <a:r>
              <a:rPr lang="en-US" dirty="0" err="1"/>
              <a:t>RegFile</a:t>
            </a:r>
            <a:r>
              <a:rPr lang="en-US" dirty="0"/>
              <a:t> read and write ports</a:t>
            </a:r>
          </a:p>
          <a:p>
            <a:r>
              <a:rPr lang="en-IN" dirty="0"/>
              <a:t>Memory: parallelism via</a:t>
            </a:r>
          </a:p>
          <a:p>
            <a:pPr lvl="1"/>
            <a:r>
              <a:rPr lang="en-IN" dirty="0"/>
              <a:t>hierarchy (next few classes)</a:t>
            </a:r>
          </a:p>
          <a:p>
            <a:pPr lvl="1"/>
            <a:r>
              <a:rPr lang="en-IN" dirty="0"/>
              <a:t>scheduling (issue multiple load instructions simultaneously)</a:t>
            </a:r>
          </a:p>
          <a:p>
            <a:pPr lvl="1"/>
            <a:r>
              <a:rPr lang="en-IN" dirty="0"/>
              <a:t>banking (even and odd addresses fetched simultaneously)</a:t>
            </a:r>
          </a:p>
          <a:p>
            <a:r>
              <a:rPr lang="en-IN" dirty="0"/>
              <a:t>Multiple instruction fetches (similar to memory^)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EA7B22-A5D9-1544-00F3-87D01BF60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F8B219-A715-AD7D-D619-CDB892729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6481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5A8B5-4DC2-FEA0-3212-9CD85424D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happen in parallel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A2646-68D1-0614-91AA-949A3CBF7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independent instructions can be executed in parallel</a:t>
            </a:r>
          </a:p>
          <a:p>
            <a:r>
              <a:rPr lang="en-US" dirty="0"/>
              <a:t>What if there are independent instructions, but not one after the other?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Parallel pipeline would stall at 2, but can execute 3 instead</a:t>
            </a:r>
          </a:p>
          <a:p>
            <a:r>
              <a:rPr lang="en-US" dirty="0"/>
              <a:t>Out of Order (</a:t>
            </a:r>
            <a:r>
              <a:rPr lang="en-US" dirty="0" err="1"/>
              <a:t>OoO</a:t>
            </a:r>
            <a:r>
              <a:rPr lang="en-US" dirty="0"/>
              <a:t>) execution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2958E-37FB-56DF-BB24-3C6133F80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184956-282C-698D-7E80-7FF4E5B6C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26A415-3A92-AF29-E108-03667963D23F}"/>
              </a:ext>
            </a:extLst>
          </p:cNvPr>
          <p:cNvSpPr txBox="1"/>
          <p:nvPr/>
        </p:nvSpPr>
        <p:spPr>
          <a:xfrm>
            <a:off x="2209800" y="3657600"/>
            <a:ext cx="45883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1: add x1, x2, x3</a:t>
            </a:r>
            <a:br>
              <a:rPr lang="en-US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2: sub x4, x1, x5 ← dependent</a:t>
            </a:r>
            <a:br>
              <a:rPr lang="en-US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3: </a:t>
            </a:r>
            <a:r>
              <a:rPr lang="en-US" b="1" dirty="0" err="1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mul</a:t>
            </a:r>
            <a:r>
              <a:rPr lang="en-US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x6, x7, x8 ← independent</a:t>
            </a:r>
            <a:endParaRPr lang="en-IN" b="1" dirty="0">
              <a:solidFill>
                <a:srgbClr val="FFC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4916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6A964-18EF-DA4C-7AD8-B4E59D925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Order execution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12536-9D64-77AF-0F09-1C462B4052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Execute instructions as soon as operands are ready</a:t>
            </a:r>
          </a:p>
          <a:p>
            <a:pPr lvl="1"/>
            <a:r>
              <a:rPr lang="en-US" dirty="0"/>
              <a:t>Not strictly in program order</a:t>
            </a:r>
          </a:p>
          <a:p>
            <a:r>
              <a:rPr lang="en-US" dirty="0"/>
              <a:t>Results must be committed in correct order</a:t>
            </a:r>
          </a:p>
          <a:p>
            <a:pPr lvl="1"/>
            <a:r>
              <a:rPr lang="en-US" dirty="0"/>
              <a:t>Writeback to </a:t>
            </a:r>
            <a:r>
              <a:rPr lang="en-US" dirty="0" err="1"/>
              <a:t>RegFile</a:t>
            </a:r>
            <a:r>
              <a:rPr lang="en-US" dirty="0"/>
              <a:t>, memory writes must not violate instruction ordering</a:t>
            </a:r>
          </a:p>
          <a:p>
            <a:pPr lvl="1"/>
            <a:r>
              <a:rPr lang="en-IN" dirty="0">
                <a:solidFill>
                  <a:srgbClr val="FF0000"/>
                </a:solidFill>
              </a:rPr>
              <a:t>Is this necessary if instructions are independent?</a:t>
            </a:r>
          </a:p>
          <a:p>
            <a:r>
              <a:rPr lang="en-IN" dirty="0"/>
              <a:t>What can go wrong if commits are not in order?</a:t>
            </a:r>
          </a:p>
          <a:p>
            <a:pPr lvl="1"/>
            <a:r>
              <a:rPr lang="en-IN" dirty="0"/>
              <a:t>Exceptions</a:t>
            </a:r>
          </a:p>
          <a:p>
            <a:pPr lvl="1"/>
            <a:r>
              <a:rPr lang="en-IN" dirty="0"/>
              <a:t>Memory operations (load / store from same location)</a:t>
            </a:r>
          </a:p>
          <a:p>
            <a:pPr lvl="1"/>
            <a:r>
              <a:rPr lang="en-IN" dirty="0" err="1"/>
              <a:t>Syscalls</a:t>
            </a:r>
            <a:r>
              <a:rPr lang="en-IN" dirty="0"/>
              <a:t>, memory mapped I/O, interrupts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3AE59-9E90-7D6E-17B1-012990D0E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33F29-33B7-910C-8BE6-FB96C84F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1471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8F9BD40-F573-44C9-115C-5F880AFCF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0" y="1371599"/>
            <a:ext cx="5377543" cy="35774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990773-F0F7-F027-120C-076E01D6A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works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1FA2-72C2-9E24-BB0D-B926C0BC9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343400" cy="501491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Reservation stations: Hold instructions waiting for execution</a:t>
            </a:r>
          </a:p>
          <a:p>
            <a:r>
              <a:rPr lang="en-US" dirty="0"/>
              <a:t>Reorder buffers: circular buffers that hold completed instruction results</a:t>
            </a:r>
          </a:p>
          <a:p>
            <a:pPr lvl="1"/>
            <a:r>
              <a:rPr lang="en-US" dirty="0"/>
              <a:t>Each new instruction dispatched gets a slot in the tail of the buffer</a:t>
            </a:r>
          </a:p>
          <a:p>
            <a:pPr lvl="1"/>
            <a:r>
              <a:rPr lang="en-US" dirty="0"/>
              <a:t>When the earliest instruction still waiting is complete, it is committed, moving the buffer forward</a:t>
            </a:r>
          </a:p>
          <a:p>
            <a:r>
              <a:rPr lang="en-US" dirty="0"/>
              <a:t>Register renaming</a:t>
            </a:r>
          </a:p>
          <a:p>
            <a:r>
              <a:rPr lang="en-US" dirty="0"/>
              <a:t>Speculative execution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83F96-61CE-FE8E-1AD8-DA9FF4274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41E0-A189-6DD9-7B25-323F61C48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8738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91269-513E-3C49-D907-EAE400635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works…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4563D-156F-4B38-EB4D-B3D179EEB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Register renaming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I1</a:t>
            </a:r>
            <a:r>
              <a:rPr lang="en-US" dirty="0"/>
              <a:t> and </a:t>
            </a:r>
            <a:r>
              <a:rPr lang="en-US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I3</a:t>
            </a:r>
            <a:r>
              <a:rPr lang="en-US" dirty="0"/>
              <a:t> are actually independent; yet share a register name, causing potential WAW and WAR hazards</a:t>
            </a:r>
          </a:p>
          <a:p>
            <a:pPr lvl="1"/>
            <a:r>
              <a:rPr lang="en-US" dirty="0"/>
              <a:t>Translate logical register names (x0 to X31) to physical registers (even hundred are possible to have)</a:t>
            </a:r>
          </a:p>
          <a:p>
            <a:r>
              <a:rPr lang="en-US" dirty="0"/>
              <a:t>Speculative execution</a:t>
            </a:r>
          </a:p>
          <a:p>
            <a:pPr lvl="1"/>
            <a:r>
              <a:rPr lang="en-US" dirty="0"/>
              <a:t>Not just prefetch branches, but execute branches</a:t>
            </a:r>
          </a:p>
          <a:p>
            <a:pPr lvl="1"/>
            <a:r>
              <a:rPr lang="en-US" dirty="0"/>
              <a:t>Keep or discard result depending on branch outcome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8DC53-B1F2-9B21-BB78-F3AA79241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0B22B2-2DCF-8BAB-09F1-2CFA7D581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BB3F9-247A-1ED6-9EF4-5D9C46507E7F}"/>
              </a:ext>
            </a:extLst>
          </p:cNvPr>
          <p:cNvSpPr txBox="1"/>
          <p:nvPr/>
        </p:nvSpPr>
        <p:spPr>
          <a:xfrm>
            <a:off x="2277836" y="2048470"/>
            <a:ext cx="45883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I1: add x1, x2, x3</a:t>
            </a:r>
            <a:br>
              <a:rPr lang="it-IT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it-IT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I2: add x4, x5, x6</a:t>
            </a:r>
            <a:br>
              <a:rPr lang="it-IT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it-IT" b="1" dirty="0">
                <a:solidFill>
                  <a:srgbClr val="FFC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I3: add x1, x7, x8</a:t>
            </a:r>
            <a:endParaRPr lang="en-IN" b="1" dirty="0">
              <a:solidFill>
                <a:srgbClr val="FFC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5761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ED3AE-BDEB-5256-7052-BC4D2AC3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looks like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98116-84F4-6FDE-08B5-68CD21DA1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BA808E-BBAB-F159-5885-A7886165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pic>
        <p:nvPicPr>
          <p:cNvPr id="8" name="Online Media 7" title="Out-of-Order Execution (Tomasulo's Algorithm)">
            <a:hlinkClick r:id="" action="ppaction://media"/>
            <a:extLst>
              <a:ext uri="{FF2B5EF4-FFF2-40B4-BE49-F238E27FC236}">
                <a16:creationId xmlns:a16="http://schemas.microsoft.com/office/drawing/2014/main" id="{428F2D92-3D89-5035-C9A1-A6AD52FB24A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71649"/>
            <a:ext cx="7620000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426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19623</TotalTime>
  <Words>942</Words>
  <Application>Microsoft Office PowerPoint</Application>
  <PresentationFormat>On-screen Show (4:3)</PresentationFormat>
  <Paragraphs>186</Paragraphs>
  <Slides>14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Cascadia Code</vt:lpstr>
      <vt:lpstr>Google Sans Text</vt:lpstr>
      <vt:lpstr>Office Theme</vt:lpstr>
      <vt:lpstr>Computer Architecture</vt:lpstr>
      <vt:lpstr>What happens if</vt:lpstr>
      <vt:lpstr>Exceptions, interrupts and traps</vt:lpstr>
      <vt:lpstr>What should you do when any of these happen?</vt:lpstr>
      <vt:lpstr>Jumping to the handler</vt:lpstr>
      <vt:lpstr>Where can exceptions occur?</vt:lpstr>
      <vt:lpstr>Precise vs imprecise exceptions</vt:lpstr>
      <vt:lpstr>Instruction Level Parallelism</vt:lpstr>
      <vt:lpstr>What we need for parallelization</vt:lpstr>
      <vt:lpstr>What can happen in parallel</vt:lpstr>
      <vt:lpstr>Out of Order execution</vt:lpstr>
      <vt:lpstr>How it works</vt:lpstr>
      <vt:lpstr>How it works…</vt:lpstr>
      <vt:lpstr>How it looks like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750</cp:revision>
  <dcterms:created xsi:type="dcterms:W3CDTF">2010-01-15T20:22:21Z</dcterms:created>
  <dcterms:modified xsi:type="dcterms:W3CDTF">2026-03-20T09:23:10Z</dcterms:modified>
</cp:coreProperties>
</file>